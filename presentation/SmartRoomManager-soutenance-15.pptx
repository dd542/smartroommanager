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1950720"/>
            <a:ext cx="10515600" cy="1600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5400" b="1" dirty="0">
                <a:solidFill>
                  <a:srgbClr val="F5F7FA"/>
                </a:solidFill>
                <a:latin typeface="Inter"/>
              </a:rPr>
              <a:t>SmartRoom Manager</a:t>
            </a:r>
          </a:p>
        </p:txBody>
      </p:sp>
      <p:sp>
        <p:nvSpPr>
          <p:cNvPr id="3" name="sous-titre"/>
          <p:cNvSpPr txBox="1"/>
          <p:nvPr/>
        </p:nvSpPr>
        <p:spPr>
          <a:xfrm>
            <a:off x="838200" y="3520440"/>
            <a:ext cx="10515600" cy="7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2000" b="0" dirty="0">
                <a:solidFill>
                  <a:srgbClr val="4F8CFF"/>
                </a:solidFill>
                <a:latin typeface="Inter"/>
              </a:rPr>
              <a:t>Réservation intelligente des salles</a:t>
            </a:r>
          </a:p>
        </p:txBody>
      </p:sp>
      <p:sp>
        <p:nvSpPr>
          <p:cNvPr id="4" name="auteurs"/>
          <p:cNvSpPr txBox="1"/>
          <p:nvPr/>
        </p:nvSpPr>
        <p:spPr>
          <a:xfrm>
            <a:off x="838200" y="4450080"/>
            <a:ext cx="10515600" cy="1600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F5F7FA"/>
                </a:solidFill>
                <a:latin typeface="Inter"/>
              </a:rPr>
              <a:t>Dylan Menga Wanda · Angédarelle Ngangne Takoudjou · Maeva Nguadjong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1600" b="0" dirty="0">
                <a:solidFill>
                  <a:srgbClr val="8B93A3"/>
                </a:solidFill>
                <a:latin typeface="Inter"/>
              </a:rPr>
              <a:t>ECE Paris — B3 · Sujet n° 2</a:t>
            </a:r>
          </a:p>
        </p:txBody>
      </p:sp>
      <p:sp>
        <p:nvSpPr>
          <p:cNvPr id="5" name="note"/>
          <p:cNvSpPr txBox="1"/>
          <p:nvPr/>
        </p:nvSpPr>
        <p:spPr>
          <a:xfrm>
            <a:off x="838200" y="594360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200" b="0" dirty="0">
                <a:solidFill>
                  <a:srgbClr val="8B93A3"/>
                </a:solidFill>
                <a:latin typeface="Inter"/>
              </a:rPr>
              <a:t>github.com/DD542/SmartRoom-Manager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Réserver une salle, aujourd'hui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La scène que tout le monde a vécue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On demande. On attend.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On se déplace pour vérifier.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Deux personnes, un créneau, un conflit.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La salle réservée reste vide.</a:t>
            </a:r>
          </a:p>
        </p:txBody>
      </p:sp>
      <p:sp>
        <p:nvSpPr>
          <p:cNvPr id="6" name="visuel"/>
          <p:cNvSpPr txBox="1"/>
          <p:nvPr/>
        </p:nvSpPr>
        <p:spPr>
          <a:xfrm>
            <a:off x="838200" y="4520320"/>
            <a:ext cx="10515600" cy="640000"/>
          </a:xfrm>
          <a:prstGeom prst="rect">
            <a:avLst/>
          </a:prstGeom>
          <a:solidFill>
            <a:srgbClr val="1A1D26"/>
          </a:solidFill>
        </p:spPr>
        <p:txBody>
          <a:bodyPr wrap="square"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fr-FR" sz="1150" b="0" dirty="0">
                <a:solidFill>
                  <a:srgbClr val="8B93A3"/>
                </a:solidFill>
                <a:latin typeface="Consolas"/>
              </a:rPr>
              <a:t>[VISUEL — photo ou pictogramme : une porte de salle avec un post-it « réservé ? », plein cadre, sobre]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Ce que le sujet demandait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Le périmètre attendu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Portail avec calendrier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Recherche multicritère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Recommandation de salles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Statistiques d'occupation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838200" y="594360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200" b="0" dirty="0">
                <a:solidFill>
                  <a:srgbClr val="8B93A3"/>
                </a:solidFill>
                <a:latin typeface="Inter"/>
              </a:rPr>
              <a:t>Compétences évaluées : web, contraintes, interfaces, bases relationnelles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Notre réponse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Une promesse, tenue par la base de données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Le conflit n'est pas détecté.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Il est rendu impossible.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Et il débouche sur une alternative.</a:t>
            </a:r>
          </a:p>
        </p:txBody>
      </p:sp>
      <p:sp>
        <p:nvSpPr>
          <p:cNvPr id="6" name="visuel"/>
          <p:cNvSpPr txBox="1"/>
          <p:nvPr/>
        </p:nvSpPr>
        <p:spPr>
          <a:xfrm>
            <a:off x="838200" y="4080320"/>
            <a:ext cx="10515600" cy="640000"/>
          </a:xfrm>
          <a:prstGeom prst="rect">
            <a:avLst/>
          </a:prstGeom>
          <a:solidFill>
            <a:srgbClr val="1A1D26"/>
          </a:solidFill>
        </p:spPr>
        <p:txBody>
          <a:bodyPr wrap="square"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fr-FR" sz="1150" b="0" dirty="0">
                <a:solidFill>
                  <a:srgbClr val="8B93A3"/>
                </a:solidFill>
                <a:latin typeface="Consolas"/>
              </a:rPr>
              <a:t>[SCHÉMA — trois blocs alignés : « Deux demandes » → « PostgreSQL refuse » → « Alternative proposée ». Flèches en accent #4F8CFF]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Les règles vivent en base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Configurables, pas figées dans le code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Durée : 30 minutes à 4 heures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Anticipation : 15 minutes à 60 jours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Quota : 10 réservations actives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Libération après 10 minutes sans check-in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Validation requise au-delà de 20 places</a:t>
            </a:r>
          </a:p>
        </p:txBody>
      </p:sp>
      <p:sp>
        <p:nvSpPr>
          <p:cNvPr id="6" name="visuel"/>
          <p:cNvSpPr txBox="1"/>
          <p:nvPr/>
        </p:nvSpPr>
        <p:spPr>
          <a:xfrm>
            <a:off x="838200" y="4960320"/>
            <a:ext cx="10515600" cy="640000"/>
          </a:xfrm>
          <a:prstGeom prst="rect">
            <a:avLst/>
          </a:prstGeom>
          <a:solidFill>
            <a:srgbClr val="1A1D26"/>
          </a:solidFill>
        </p:spPr>
        <p:txBody>
          <a:bodyPr wrap="square"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fr-FR" sz="1150" b="0" dirty="0">
                <a:solidFill>
                  <a:srgbClr val="8B93A3"/>
                </a:solidFill>
                <a:latin typeface="Consolas"/>
              </a:rPr>
              <a:t>[CAPTURE — écran d'administration « Règles de réservation », sélecteur de portée visible à gauche]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Architecture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Quatre couches, une règle par couche</a:t>
            </a:r>
          </a:p>
        </p:txBody>
      </p:sp>
      <p:sp>
        <p:nvSpPr>
          <p:cNvPr id="5" name="code"/>
          <p:cNvSpPr txBox="1"/>
          <p:nvPr/>
        </p:nvSpPr>
        <p:spPr>
          <a:xfrm>
            <a:off x="838200" y="2560320"/>
            <a:ext cx="10515600" cy="1400000"/>
          </a:xfrm>
          <a:prstGeom prst="rect">
            <a:avLst/>
          </a:prstGeom>
          <a:solidFill>
            <a:srgbClr val="1A1D26"/>
          </a:solidFill>
        </p:spPr>
        <p:txBody>
          <a:bodyPr wrap="square"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domain/     règles pures — ni base, ni HTTP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models/     46 entités et leurs contraintes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services/   ce que l'application fait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api/v1/     160 opérations exposées</a:t>
            </a:r>
          </a:p>
        </p:txBody>
      </p:sp>
      <p:sp>
        <p:nvSpPr>
          <p:cNvPr id="6" name="legende"/>
          <p:cNvSpPr txBox="1"/>
          <p:nvPr/>
        </p:nvSpPr>
        <p:spPr>
          <a:xfrm>
            <a:off x="838200" y="420032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300" b="0" dirty="0">
                <a:solidFill>
                  <a:srgbClr val="4F8CFF"/>
                </a:solidFill>
                <a:latin typeface="Inter"/>
              </a:rPr>
              <a:t>React · FastAPI · PostgreSQL 16 · Docker</a:t>
            </a:r>
          </a:p>
        </p:txBody>
      </p:sp>
      <p:sp>
        <p:nvSpPr>
          <p:cNvPr id="7" name="corps"/>
          <p:cNvSpPr txBox="1"/>
          <p:nvPr/>
        </p:nvSpPr>
        <p:spPr>
          <a:xfrm>
            <a:off x="838200" y="47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Le domaine ne connaît pas le framework.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La double réservation devient impossible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ode"/>
          <p:cNvSpPr txBox="1"/>
          <p:nvPr/>
        </p:nvSpPr>
        <p:spPr>
          <a:xfrm>
            <a:off x="838200" y="2103120"/>
            <a:ext cx="10515600" cy="1950000"/>
          </a:xfrm>
          <a:prstGeom prst="rect">
            <a:avLst/>
          </a:prstGeom>
          <a:solidFill>
            <a:srgbClr val="1A1D26"/>
          </a:solidFill>
        </p:spPr>
        <p:txBody>
          <a:bodyPr wrap="square"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ALTER TABLE bookings ADD CONSTRAINT ex_bookings_no_overlap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  EXCLUDE USING gist (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    room_id    WITH =,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    time_range WITH &amp;&amp;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  )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  WHERE (status &lt;&gt; 'annulee' AND deleted_at IS NULL);</a:t>
            </a:r>
          </a:p>
        </p:txBody>
      </p:sp>
      <p:sp>
        <p:nvSpPr>
          <p:cNvPr id="5" name="legende"/>
          <p:cNvSpPr txBox="1"/>
          <p:nvPr/>
        </p:nvSpPr>
        <p:spPr>
          <a:xfrm>
            <a:off x="838200" y="429312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300" b="0" dirty="0">
                <a:solidFill>
                  <a:srgbClr val="4F8CFF"/>
                </a:solidFill>
                <a:latin typeface="Inter"/>
              </a:rPr>
              <a:t>Garantie au niveau base, pas applicative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Une couche testable sans base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Ce que l'isolation rend possible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Six types de chevauchement couverts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Changement d'heure, créneaux adjacents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1 026 tests API, 455 tests interface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Chaque correction porte son test</a:t>
            </a:r>
          </a:p>
        </p:txBody>
      </p:sp>
      <p:sp>
        <p:nvSpPr>
          <p:cNvPr id="6" name="visuel"/>
          <p:cNvSpPr txBox="1"/>
          <p:nvPr/>
        </p:nvSpPr>
        <p:spPr>
          <a:xfrm>
            <a:off x="838200" y="4520320"/>
            <a:ext cx="10515600" cy="640000"/>
          </a:xfrm>
          <a:prstGeom prst="rect">
            <a:avLst/>
          </a:prstGeom>
          <a:solidFill>
            <a:srgbClr val="1A1D26"/>
          </a:solidFill>
        </p:spPr>
        <p:txBody>
          <a:bodyPr wrap="square"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fr-FR" sz="1150" b="0" dirty="0">
                <a:solidFill>
                  <a:srgbClr val="8B93A3"/>
                </a:solidFill>
                <a:latin typeface="Consolas"/>
              </a:rPr>
              <a:t>[CAPTURE — sortie de pytest : la ligne « 1026 passed », lisible, fond sombre]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Recommander, et l'expliquer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Un score pondéré, jamais un verdict opaque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Capacité, équipements, bâtiment, étage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Occupation et historique du compte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Le score ordonne, il n'élimine pas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Chaque proposition dit pourquoi</a:t>
            </a:r>
          </a:p>
        </p:txBody>
      </p:sp>
      <p:sp>
        <p:nvSpPr>
          <p:cNvPr id="6" name="visuel"/>
          <p:cNvSpPr txBox="1"/>
          <p:nvPr/>
        </p:nvSpPr>
        <p:spPr>
          <a:xfrm>
            <a:off x="838200" y="4520320"/>
            <a:ext cx="10515600" cy="640000"/>
          </a:xfrm>
          <a:prstGeom prst="rect">
            <a:avLst/>
          </a:prstGeom>
          <a:solidFill>
            <a:srgbClr val="1A1D26"/>
          </a:solidFill>
        </p:spPr>
        <p:txBody>
          <a:bodyPr wrap="square"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fr-FR" sz="1150" b="0" dirty="0">
                <a:solidFill>
                  <a:srgbClr val="8B93A3"/>
                </a:solidFill>
                <a:latin typeface="Consolas"/>
              </a:rPr>
              <a:t>[CAPTURE — carte de salle recommandée avec son score et sa justification en toutes lettres]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Démonstration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Deux utilisateurs, un créneau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Réserver en trois gestes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Le conflit — refusé par la base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L'alternative — proposée, acceptée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La trace côté administration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838200" y="594360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200" b="0" dirty="0">
                <a:solidFill>
                  <a:srgbClr val="8B93A3"/>
                </a:solidFill>
                <a:latin typeface="Inter"/>
              </a:rPr>
              <a:t>Écran rendu à l'application — 5 minutes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Ce que les tests ont rattrapé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Trois défauts qu'aucune erreur ne signalait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Matrice de permissions : codes contre identifiants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Journal d'audit : le diff jamais affiché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Filtres de salles : trois sur cinq muets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838200" y="594360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200" b="0" dirty="0">
                <a:solidFill>
                  <a:srgbClr val="8B93A3"/>
                </a:solidFill>
                <a:latin typeface="Inter"/>
              </a:rPr>
              <a:t>Un champ absent d'une réponse JSON ne lève rien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Le projet en chiffres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ode"/>
          <p:cNvSpPr txBox="1"/>
          <p:nvPr/>
        </p:nvSpPr>
        <p:spPr>
          <a:xfrm>
            <a:off x="838200" y="2103120"/>
            <a:ext cx="10515600" cy="1675000"/>
          </a:xfrm>
          <a:prstGeom prst="rect">
            <a:avLst/>
          </a:prstGeom>
          <a:solidFill>
            <a:srgbClr val="1A1D26"/>
          </a:solidFill>
        </p:spPr>
        <p:txBody>
          <a:bodyPr wrap="square"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  48 tables        110 contraintes CHECK / EXCLUDE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 161 index         dont 51 partiels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 160 opérations    d'API en 15 domaines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  52 écrans        33 utilisateur, 19 administration</a:t>
            </a:r>
          </a:p>
          <a:p>
            <a:pPr marL="0" indent="0">
              <a:buNone/>
            </a:pPr>
            <a:r>
              <a:rPr lang="fr-FR" sz="1250" b="0" dirty="0">
                <a:solidFill>
                  <a:srgbClr val="F5F7FA"/>
                </a:solidFill>
                <a:latin typeface="Consolas"/>
              </a:rPr>
              <a:t>1481 tests         1026 API, 455 interface</a:t>
            </a:r>
          </a:p>
        </p:txBody>
      </p:sp>
      <p:sp>
        <p:nvSpPr>
          <p:cNvPr id="5" name="legende"/>
          <p:cNvSpPr txBox="1"/>
          <p:nvPr/>
        </p:nvSpPr>
        <p:spPr>
          <a:xfrm>
            <a:off x="838200" y="401812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300" b="0" dirty="0">
                <a:solidFill>
                  <a:srgbClr val="4F8CFF"/>
                </a:solidFill>
                <a:latin typeface="Inter"/>
              </a:rPr>
              <a:t>Mesuré sur le dépôt, non estimé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Limites assumées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Ce que nous n'avons pas fait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Pas d'authentification ADFS de l'école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Pas d'application mobile installable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Pas de mesure de charge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Assistant local, non confronté aux usages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F5F7FA"/>
                </a:solidFill>
                <a:latin typeface="Inter"/>
              </a:rPr>
              <a:t>Perspectives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4F8C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4F8CFF"/>
                </a:solidFill>
                <a:latin typeface="Inter"/>
              </a:rPr>
              <a:t>La suite, si le projet continuait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28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Campagne de charge sur la concurrence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Notifications poussées sur téléphone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Journal d'audit étendu aux utilisateurs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F5F7FA"/>
                </a:solidFill>
                <a:latin typeface="Inter"/>
              </a:rPr>
              <a:t>Export iCal d'un agenda complet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1950720"/>
            <a:ext cx="10515600" cy="1600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5400" b="1" dirty="0">
                <a:solidFill>
                  <a:srgbClr val="F5F7FA"/>
                </a:solidFill>
                <a:latin typeface="Inter"/>
              </a:rPr>
              <a:t>Merci</a:t>
            </a:r>
          </a:p>
        </p:txBody>
      </p:sp>
      <p:sp>
        <p:nvSpPr>
          <p:cNvPr id="3" name="sous-titre"/>
          <p:cNvSpPr txBox="1"/>
          <p:nvPr/>
        </p:nvSpPr>
        <p:spPr>
          <a:xfrm>
            <a:off x="838200" y="3520440"/>
            <a:ext cx="10515600" cy="7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2000" b="0" dirty="0">
                <a:solidFill>
                  <a:srgbClr val="4F8CFF"/>
                </a:solidFill>
                <a:latin typeface="Inter"/>
              </a:rPr>
              <a:t>Vos questions</a:t>
            </a:r>
          </a:p>
        </p:txBody>
      </p:sp>
      <p:sp>
        <p:nvSpPr>
          <p:cNvPr id="4" name="auteurs"/>
          <p:cNvSpPr txBox="1"/>
          <p:nvPr/>
        </p:nvSpPr>
        <p:spPr>
          <a:xfrm>
            <a:off x="838200" y="4450080"/>
            <a:ext cx="10515600" cy="1600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F5F7FA"/>
                </a:solidFill>
                <a:latin typeface="Inter"/>
              </a:rPr>
              <a:t>github.com/DD542/SmartRoom-Manager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1600" b="0" dirty="0">
                <a:solidFill>
                  <a:srgbClr val="8B93A3"/>
                </a:solidFill>
                <a:latin typeface="Inter"/>
              </a:rPr>
              <a:t>Dylan Menga Wanda · Angédarelle Ngangne Takoudjou · Maeva Nguadjong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martRoom">
  <a:themeElements>
    <a:clrScheme name="SmartRoom">
      <a:dk1>
        <a:srgbClr val="0F1521"/>
      </a:dk1>
      <a:lt1>
        <a:srgbClr val="E8EDF5"/>
      </a:lt1>
      <a:dk2>
        <a:srgbClr val="18202F"/>
      </a:dk2>
      <a:lt2>
        <a:srgbClr val="9AA8BF"/>
      </a:lt2>
      <a:accent1>
        <a:srgbClr val="5B9BFF"/>
      </a:accent1>
      <a:accent2>
        <a:srgbClr val="4ADE80"/>
      </a:accent2>
      <a:accent3>
        <a:srgbClr val="FBBF24"/>
      </a:accent3>
      <a:accent4>
        <a:srgbClr val="FF8080"/>
      </a:accent4>
      <a:accent5>
        <a:srgbClr val="A78BFA"/>
      </a:accent5>
      <a:accent6>
        <a:srgbClr val="22D3EE"/>
      </a:accent6>
      <a:hlink>
        <a:srgbClr val="5B9BFF"/>
      </a:hlink>
      <a:folHlink>
        <a:srgbClr val="9AA8BF"/>
      </a:folHlink>
    </a:clrScheme>
    <a:fontScheme name="SmartRoom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SmartRo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Slides>15</Slides>
  <Application>SmartRoom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SmartRoom Manager — Soutenance</dc:title>
  <dc:creator>Dylan Menga Wanda, Angédarelle Ngangne Takoudjou, Maeva Nguadjong</dc:creator>
  <cp:lastModifiedBy>Dylan Menga Wanda, Angédarelle Ngangne Takoudjou, Maeva Nguadjong</cp:lastModifiedBy>
</cp:coreProperties>
</file>