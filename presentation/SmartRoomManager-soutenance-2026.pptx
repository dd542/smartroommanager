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présenter, annoncer la durée et préciser que la démonstration se fera sur l’application réellement déployée, pas sur une vidéo.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Annoncer les trois temps forts en direct : Figma, l’application, l’assistant. Cela prépare le jury aux bascules et évite l’effet de surprise.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Insister sur le problème C : c’est le moins visible et le plus coûteux, et c’est celui qu’aucune solution gratuite du marché ne traite.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troisième exigence — rester fonctionnel sans IA — est celle qui a le plus structuré l’architecture. Elle explique l’étage C de l’assistant.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jeu de démonstration porte cinq comptes d’administration aux périmètres volontairement différents : sans cela, le cloisonnement ne serait pas démontrable.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deux règles de travail sont le vrai apport méthodologique. La contre-épreuve a invalidé un correctif que nous croyions bon : le raconter si le jury creuse.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BASCULER SUR FIGMA MAINTENANT. Ouvrir le fichier de maquettes préparé, plein écran. Montrer trois choses et pas davantage : (1) la bibliothèque de composants et les jetons de couleur, (2) le tunnel de réservation en quatre étapes, (3) l’écran de validation de présence, en expliquant que la fenêtre de dix minutes est née de cet écran. Compter trois minutes, puis revenir au diaporama.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Insister : la pureté du domaine est ce qui rend le seuil de 100 % atteignable sans monter la moindre base de données.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pas détailler les classes une par une. Dire ce que le diagramme de classes montre de particulier : la composition bâtiment-étage, et les dépendances de la couche service vers le domaine, jamais l’inverse.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deux diagrammes portent les deux mécanismes centraux. Si le jury n’en regarde qu’un, montrer celui de la réservation : le verrou pris avant la vérification y est explicite. Les quatre figurent en pleine page dans le document remis.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le point le plus fort de la soutenance. Si le jury ne retient qu’une chose, c’est que la garantie est portée par la base, donc incontournable — y compris par un INSERT fait à la 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L’explicabilité n’est pas un supplément d’âme : sans justification, l’utilisateur reprend la salle qu’il connaît et le moteur ne sert à rien.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L’étage C n’est pas une panne : c’est un moteur déterministe qui appelle les mêmes outils. La mesure sur les cinq essais est le meilleur argument du projet.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premier exemple est le plus parlant : la question ne partage aucun mot avec l’article qui y répond. C’est exactement ce que le lexical ne peut pas faire.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BASCULER SUR LE NAVIGATEUR. Ouvrir l’onglet déjà chargé et déjà connecté — le service gratuit s’endort après quinze minutes et met environ 50 secondes à se réveiller. Si la connexion tarde malgré tout, commenter la capture de droite et poursuivre. Quatre minutes maximum, puis revenir au diaporama.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contre-épreuve qui a invalidé un correctif est l’anecdote à raconter : le formateur avait replié l’expression sur trois lignes, et le remplacement ne s’appliquait plus.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Choisir un seul incident à raconter en détail selon le temps restant. Celui du cache est le plus parlant pour un jury non technique.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Assumer les quatre limites : elles tiennent au palier gratuit, pas à la conception. La dégradation propre est ce qui les rend supportables.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trois enseignements sont les nôtres, pas des généralités : chacun renvoie à un incident précis que nous pouvons raconter si on nous le demande.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septième — le déploiement — l’est avec des réserves qui tiennent au palier gratuit. Le dire franchement vaut mieux que de le masquer.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probables : pourquoi la contrainte en base plutôt qu’en code ; comment l’assistant évite d’inventer ; ce qui reste à faire ; la répartition réelle du travail dans le groupe. Chacun doit pouvoir justifier son périmètre.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OND">
    <p:bg>
      <p:bgPr>
        <a:solidFill>
          <a:srgbClr val="0F1420"/>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85800" y="1417320"/>
            <a:ext cx="2788920" cy="384048"/>
          </a:xfrm>
          <a:prstGeom prst="roundRect">
            <a:avLst>
              <a:gd name="adj" fmla="val 47619"/>
            </a:avLst>
          </a:prstGeom>
          <a:solidFill>
            <a:srgbClr val="1B3358"/>
          </a:solidFill>
          <a:ln w="12700">
            <a:solidFill>
              <a:srgbClr val="5B9BFF"/>
            </a:solidFill>
            <a:prstDash val="solid"/>
          </a:ln>
        </p:spPr>
      </p:sp>
      <p:sp>
        <p:nvSpPr>
          <p:cNvPr id="3" name="Text 1"/>
          <p:cNvSpPr txBox="1"/>
          <p:nvPr/>
        </p:nvSpPr>
        <p:spPr>
          <a:xfrm>
            <a:off x="685800" y="1417320"/>
            <a:ext cx="2788920" cy="384048"/>
          </a:xfrm>
          <a:prstGeom prst="rect">
            <a:avLst/>
          </a:prstGeom>
          <a:noFill/>
          <a:ln/>
        </p:spPr>
        <p:txBody>
          <a:bodyPr wrap="square" lIns="0" tIns="0" rIns="0" bIns="0" rtlCol="0" anchor="ctr"/>
          <a:lstStyle/>
          <a:p>
            <a:pPr algn="ctr" indent="0" marL="0">
              <a:buNone/>
            </a:pPr>
            <a:r>
              <a:rPr lang="en-US" sz="1200" b="1" dirty="0">
                <a:solidFill>
                  <a:srgbClr val="5B9BFF"/>
                </a:solidFill>
                <a:latin typeface="Calibri" pitchFamily="34" charset="0"/>
                <a:ea typeface="Calibri" pitchFamily="34" charset="-122"/>
                <a:cs typeface="Calibri" pitchFamily="34" charset="-120"/>
              </a:rPr>
              <a:t>Projet de substitution au stage</a:t>
            </a:r>
            <a:endParaRPr lang="en-US" sz="1200" dirty="0"/>
          </a:p>
        </p:txBody>
      </p:sp>
      <p:sp>
        <p:nvSpPr>
          <p:cNvPr id="4" name="Text 2"/>
          <p:cNvSpPr txBox="1"/>
          <p:nvPr/>
        </p:nvSpPr>
        <p:spPr>
          <a:xfrm>
            <a:off x="685800" y="2057400"/>
            <a:ext cx="10058400" cy="1051560"/>
          </a:xfrm>
          <a:prstGeom prst="rect">
            <a:avLst/>
          </a:prstGeom>
          <a:noFill/>
          <a:ln/>
        </p:spPr>
        <p:txBody>
          <a:bodyPr wrap="square" lIns="0" tIns="0" rIns="0" bIns="0" rtlCol="0" anchor="ctr"/>
          <a:lstStyle/>
          <a:p>
            <a:pPr indent="0" marL="0">
              <a:buNone/>
            </a:pPr>
            <a:r>
              <a:rPr lang="en-US" sz="5400" b="1" dirty="0">
                <a:solidFill>
                  <a:srgbClr val="E8EEF7"/>
                </a:solidFill>
                <a:latin typeface="Calibri" pitchFamily="34" charset="0"/>
                <a:ea typeface="Calibri" pitchFamily="34" charset="-122"/>
                <a:cs typeface="Calibri" pitchFamily="34" charset="-120"/>
              </a:rPr>
              <a:t>SmartRoom Manager</a:t>
            </a:r>
            <a:endParaRPr lang="en-US" sz="5400" dirty="0"/>
          </a:p>
        </p:txBody>
      </p:sp>
      <p:sp>
        <p:nvSpPr>
          <p:cNvPr id="5" name="Text 3"/>
          <p:cNvSpPr txBox="1"/>
          <p:nvPr/>
        </p:nvSpPr>
        <p:spPr>
          <a:xfrm>
            <a:off x="685800" y="3154680"/>
            <a:ext cx="8778240" cy="685800"/>
          </a:xfrm>
          <a:prstGeom prst="rect">
            <a:avLst/>
          </a:prstGeom>
          <a:noFill/>
          <a:ln/>
        </p:spPr>
        <p:txBody>
          <a:bodyPr wrap="square" lIns="0" tIns="0" rIns="0" bIns="0" rtlCol="0" anchor="ctr"/>
          <a:lstStyle/>
          <a:p>
            <a:pPr indent="0" marL="0">
              <a:lnSpc>
                <a:spcPts val="2600"/>
              </a:lnSpc>
              <a:buNone/>
            </a:pPr>
            <a:r>
              <a:rPr lang="en-US" sz="1700" dirty="0">
                <a:solidFill>
                  <a:srgbClr val="95A3B8"/>
                </a:solidFill>
                <a:latin typeface="Calibri" pitchFamily="34" charset="0"/>
                <a:ea typeface="Calibri" pitchFamily="34" charset="-122"/>
                <a:cs typeface="Calibri" pitchFamily="34" charset="-120"/>
              </a:rPr>
              <a:t>Réservation intelligente de salles de campus — de l’analyse du besoin à la mise en production.</a:t>
            </a:r>
            <a:endParaRPr lang="en-US" sz="1700" dirty="0"/>
          </a:p>
        </p:txBody>
      </p:sp>
      <p:sp>
        <p:nvSpPr>
          <p:cNvPr id="6" name="Text 4"/>
          <p:cNvSpPr txBox="1"/>
          <p:nvPr/>
        </p:nvSpPr>
        <p:spPr>
          <a:xfrm>
            <a:off x="685800" y="5029200"/>
            <a:ext cx="10515600" cy="320040"/>
          </a:xfrm>
          <a:prstGeom prst="rect">
            <a:avLst/>
          </a:prstGeom>
          <a:noFill/>
          <a:ln/>
        </p:spPr>
        <p:txBody>
          <a:bodyPr wrap="square" lIns="0" tIns="0" rIns="0" bIns="0" rtlCol="0" anchor="ctr"/>
          <a:lstStyle/>
          <a:p>
            <a:pPr indent="0" marL="0">
              <a:buNone/>
            </a:pPr>
            <a:r>
              <a:rPr lang="en-US" sz="1400" b="1" dirty="0">
                <a:solidFill>
                  <a:srgbClr val="E8EEF7"/>
                </a:solidFill>
                <a:latin typeface="Calibri" pitchFamily="34" charset="0"/>
                <a:ea typeface="Calibri" pitchFamily="34" charset="-122"/>
                <a:cs typeface="Calibri" pitchFamily="34" charset="-120"/>
              </a:rPr>
              <a:t>Dylan Menga Wanda   ·   Ngangne Takoudjou Angédarelle   ·   Nguadjong Maeva</a:t>
            </a:r>
            <a:endParaRPr lang="en-US" sz="1400" dirty="0"/>
          </a:p>
        </p:txBody>
      </p:sp>
      <p:sp>
        <p:nvSpPr>
          <p:cNvPr id="7" name="Text 5"/>
          <p:cNvSpPr txBox="1"/>
          <p:nvPr/>
        </p:nvSpPr>
        <p:spPr>
          <a:xfrm>
            <a:off x="685800" y="5376672"/>
            <a:ext cx="10515600" cy="320040"/>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ECE Paris   ·   Bachelor 3 Data &amp; Intelligence Artificielle   ·   Année 2025 – 2026</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85800" y="384048"/>
            <a:ext cx="10820095" cy="237744"/>
          </a:xfrm>
          <a:prstGeom prst="rect">
            <a:avLst/>
          </a:prstGeom>
          <a:noFill/>
          <a:ln/>
        </p:spPr>
        <p:txBody>
          <a:bodyPr wrap="square" lIns="0" tIns="0" rIns="0" bIns="0" rtlCol="0" anchor="ctr"/>
          <a:lstStyle/>
          <a:p>
            <a:pPr indent="0" marL="0">
              <a:buNone/>
            </a:pPr>
            <a:r>
              <a:rPr lang="en-US" sz="1100" b="1" spc="200" kern="0" dirty="0">
                <a:solidFill>
                  <a:srgbClr val="5B9BFF"/>
                </a:solidFill>
                <a:latin typeface="Calibri" pitchFamily="34" charset="0"/>
                <a:ea typeface="Calibri" pitchFamily="34" charset="-122"/>
                <a:cs typeface="Calibri" pitchFamily="34" charset="-120"/>
              </a:rPr>
              <a:t>DÉROULÉ</a:t>
            </a:r>
            <a:endParaRPr lang="en-US" sz="1100" dirty="0"/>
          </a:p>
        </p:txBody>
      </p:sp>
      <p:sp>
        <p:nvSpPr>
          <p:cNvPr id="3" name="Text 1"/>
          <p:cNvSpPr txBox="1"/>
          <p:nvPr/>
        </p:nvSpPr>
        <p:spPr>
          <a:xfrm>
            <a:off x="685800" y="658368"/>
            <a:ext cx="9997135" cy="777240"/>
          </a:xfrm>
          <a:prstGeom prst="rect">
            <a:avLst/>
          </a:prstGeom>
          <a:noFill/>
          <a:ln/>
        </p:spPr>
        <p:txBody>
          <a:bodyPr wrap="square" lIns="0" tIns="0" rIns="0" bIns="0" rtlCol="0" anchor="t"/>
          <a:lstStyle/>
          <a:p>
            <a:pPr indent="0" marL="0">
              <a:buNone/>
            </a:pPr>
            <a:r>
              <a:rPr lang="en-US" sz="3200" b="1" dirty="0">
                <a:solidFill>
                  <a:srgbClr val="E8EEF7"/>
                </a:solidFill>
                <a:latin typeface="Calibri" pitchFamily="34" charset="0"/>
                <a:ea typeface="Calibri" pitchFamily="34" charset="-122"/>
                <a:cs typeface="Calibri" pitchFamily="34" charset="-120"/>
              </a:rPr>
              <a:t>Ce que nous allons montrer</a:t>
            </a:r>
            <a:endParaRPr lang="en-US" sz="3200" dirty="0"/>
          </a:p>
        </p:txBody>
      </p:sp>
      <p:sp>
        <p:nvSpPr>
          <p:cNvPr id="4" name="Shape 2"/>
          <p:cNvSpPr/>
          <p:nvPr/>
        </p:nvSpPr>
        <p:spPr>
          <a:xfrm>
            <a:off x="11292840" y="6144768"/>
            <a:ext cx="365760" cy="365760"/>
          </a:xfrm>
          <a:prstGeom prst="ellipse">
            <a:avLst/>
          </a:prstGeom>
          <a:solidFill>
            <a:srgbClr val="232E42"/>
          </a:solidFill>
          <a:ln w="12700">
            <a:solidFill>
              <a:srgbClr val="232E42"/>
            </a:solidFill>
            <a:prstDash val="solid"/>
          </a:ln>
        </p:spPr>
      </p:sp>
      <p:sp>
        <p:nvSpPr>
          <p:cNvPr id="5" name="Text 3"/>
          <p:cNvSpPr txBox="1"/>
          <p:nvPr/>
        </p:nvSpPr>
        <p:spPr>
          <a:xfrm>
            <a:off x="11292840" y="6144768"/>
            <a:ext cx="365760" cy="365760"/>
          </a:xfrm>
          <a:prstGeom prst="rect">
            <a:avLst/>
          </a:prstGeom>
          <a:noFill/>
          <a:ln/>
        </p:spPr>
        <p:txBody>
          <a:bodyPr wrap="square" lIns="0" tIns="0" rIns="0" bIns="0" rtlCol="0" anchor="ctr"/>
          <a:lstStyle/>
          <a:p>
            <a:pPr algn="ctr" indent="0" marL="0">
              <a:buNone/>
            </a:pPr>
            <a:r>
              <a:rPr lang="en-US" sz="1100" b="1" dirty="0">
                <a:solidFill>
                  <a:srgbClr val="95A3B8"/>
                </a:solidFill>
                <a:latin typeface="Calibri" pitchFamily="34" charset="0"/>
                <a:ea typeface="Calibri" pitchFamily="34" charset="-122"/>
                <a:cs typeface="Calibri" pitchFamily="34" charset="-120"/>
              </a:rPr>
              <a:t>1</a:t>
            </a:r>
            <a:endParaRPr lang="en-US" sz="1100" dirty="0"/>
          </a:p>
        </p:txBody>
      </p:sp>
      <p:sp>
        <p:nvSpPr>
          <p:cNvPr id="7" name="Shape 4"/>
          <p:cNvSpPr/>
          <p:nvPr/>
        </p:nvSpPr>
        <p:spPr>
          <a:xfrm>
            <a:off x="685800" y="1618488"/>
            <a:ext cx="475488" cy="475488"/>
          </a:xfrm>
          <a:prstGeom prst="ellipse">
            <a:avLst/>
          </a:prstGeom>
          <a:solidFill>
            <a:srgbClr val="1B3358"/>
          </a:solidFill>
          <a:ln w="12700">
            <a:solidFill>
              <a:srgbClr val="5B9BFF"/>
            </a:solidFill>
            <a:prstDash val="solid"/>
          </a:ln>
        </p:spPr>
      </p:sp>
      <p:sp>
        <p:nvSpPr>
          <p:cNvPr id="8" name="Text 5"/>
          <p:cNvSpPr txBox="1"/>
          <p:nvPr/>
        </p:nvSpPr>
        <p:spPr>
          <a:xfrm>
            <a:off x="685800" y="1618488"/>
            <a:ext cx="475488" cy="475488"/>
          </a:xfrm>
          <a:prstGeom prst="rect">
            <a:avLst/>
          </a:prstGeom>
          <a:noFill/>
          <a:ln/>
        </p:spPr>
        <p:txBody>
          <a:bodyPr wrap="square" lIns="0" tIns="0" rIns="0" bIns="0" rtlCol="0" anchor="ctr"/>
          <a:lstStyle/>
          <a:p>
            <a:pPr algn="ctr" indent="0" marL="0">
              <a:buNone/>
            </a:pPr>
            <a:r>
              <a:rPr lang="en-US" sz="1200" b="1" dirty="0">
                <a:solidFill>
                  <a:srgbClr val="5B9BFF"/>
                </a:solidFill>
                <a:latin typeface="Calibri" pitchFamily="34" charset="0"/>
                <a:ea typeface="Calibri" pitchFamily="34" charset="-122"/>
                <a:cs typeface="Calibri" pitchFamily="34" charset="-120"/>
              </a:rPr>
              <a:t>01</a:t>
            </a:r>
            <a:endParaRPr lang="en-US" sz="1200" dirty="0"/>
          </a:p>
        </p:txBody>
      </p:sp>
      <p:sp>
        <p:nvSpPr>
          <p:cNvPr id="9" name="Text 6"/>
          <p:cNvSpPr txBox="1"/>
          <p:nvPr/>
        </p:nvSpPr>
        <p:spPr>
          <a:xfrm>
            <a:off x="1399032" y="1591056"/>
            <a:ext cx="4754880" cy="292608"/>
          </a:xfrm>
          <a:prstGeom prst="rect">
            <a:avLst/>
          </a:prstGeom>
          <a:noFill/>
          <a:ln/>
        </p:spPr>
        <p:txBody>
          <a:bodyPr wrap="square" lIns="0" tIns="0" rIns="0" bIns="0" rtlCol="0" anchor="ctr"/>
          <a:lstStyle/>
          <a:p>
            <a:pPr indent="0" marL="0">
              <a:buNone/>
            </a:pPr>
            <a:r>
              <a:rPr lang="en-US" sz="1600" b="1" dirty="0">
                <a:solidFill>
                  <a:srgbClr val="E8EEF7"/>
                </a:solidFill>
                <a:latin typeface="Calibri" pitchFamily="34" charset="0"/>
                <a:ea typeface="Calibri" pitchFamily="34" charset="-122"/>
                <a:cs typeface="Calibri" pitchFamily="34" charset="-120"/>
              </a:rPr>
              <a:t>Le problème et le besoin</a:t>
            </a:r>
            <a:endParaRPr lang="en-US" sz="1600" dirty="0"/>
          </a:p>
        </p:txBody>
      </p:sp>
      <p:sp>
        <p:nvSpPr>
          <p:cNvPr id="10" name="Text 7"/>
          <p:cNvSpPr txBox="1"/>
          <p:nvPr/>
        </p:nvSpPr>
        <p:spPr>
          <a:xfrm>
            <a:off x="1399032" y="1883664"/>
            <a:ext cx="7863840" cy="274320"/>
          </a:xfrm>
          <a:prstGeom prst="rect">
            <a:avLst/>
          </a:prstGeom>
          <a:noFill/>
          <a:ln/>
        </p:spPr>
        <p:txBody>
          <a:bodyPr wrap="square" lIns="0" tIns="0" rIns="0" bIns="0" rtlCol="0" anchor="ctr"/>
          <a:lstStyle/>
          <a:p>
            <a:pPr indent="0" marL="0">
              <a:buNone/>
            </a:pPr>
            <a:r>
              <a:rPr lang="en-US" sz="1250" dirty="0">
                <a:solidFill>
                  <a:srgbClr val="95A3B8"/>
                </a:solidFill>
                <a:latin typeface="Calibri" pitchFamily="34" charset="0"/>
                <a:ea typeface="Calibri" pitchFamily="34" charset="-122"/>
                <a:cs typeface="Calibri" pitchFamily="34" charset="-120"/>
              </a:rPr>
              <a:t>Trois problèmes distincts, dix cas d’usage, étude de l’existant</a:t>
            </a:r>
            <a:endParaRPr lang="en-US" sz="1250" dirty="0"/>
          </a:p>
        </p:txBody>
      </p:sp>
      <p:sp>
        <p:nvSpPr>
          <p:cNvPr id="11" name="Shape 8"/>
          <p:cNvSpPr/>
          <p:nvPr/>
        </p:nvSpPr>
        <p:spPr>
          <a:xfrm>
            <a:off x="685800" y="2395728"/>
            <a:ext cx="475488" cy="475488"/>
          </a:xfrm>
          <a:prstGeom prst="ellipse">
            <a:avLst/>
          </a:prstGeom>
          <a:solidFill>
            <a:srgbClr val="1B3358"/>
          </a:solidFill>
          <a:ln w="12700">
            <a:solidFill>
              <a:srgbClr val="5B9BFF"/>
            </a:solidFill>
            <a:prstDash val="solid"/>
          </a:ln>
        </p:spPr>
      </p:sp>
      <p:sp>
        <p:nvSpPr>
          <p:cNvPr id="12" name="Text 9"/>
          <p:cNvSpPr txBox="1"/>
          <p:nvPr/>
        </p:nvSpPr>
        <p:spPr>
          <a:xfrm>
            <a:off x="685800" y="2395728"/>
            <a:ext cx="475488" cy="475488"/>
          </a:xfrm>
          <a:prstGeom prst="rect">
            <a:avLst/>
          </a:prstGeom>
          <a:noFill/>
          <a:ln/>
        </p:spPr>
        <p:txBody>
          <a:bodyPr wrap="square" lIns="0" tIns="0" rIns="0" bIns="0" rtlCol="0" anchor="ctr"/>
          <a:lstStyle/>
          <a:p>
            <a:pPr algn="ctr" indent="0" marL="0">
              <a:buNone/>
            </a:pPr>
            <a:r>
              <a:rPr lang="en-US" sz="1200" b="1" dirty="0">
                <a:solidFill>
                  <a:srgbClr val="5B9BFF"/>
                </a:solidFill>
                <a:latin typeface="Calibri" pitchFamily="34" charset="0"/>
                <a:ea typeface="Calibri" pitchFamily="34" charset="-122"/>
                <a:cs typeface="Calibri" pitchFamily="34" charset="-120"/>
              </a:rPr>
              <a:t>02</a:t>
            </a:r>
            <a:endParaRPr lang="en-US" sz="1200" dirty="0"/>
          </a:p>
        </p:txBody>
      </p:sp>
      <p:sp>
        <p:nvSpPr>
          <p:cNvPr id="13" name="Text 10"/>
          <p:cNvSpPr txBox="1"/>
          <p:nvPr/>
        </p:nvSpPr>
        <p:spPr>
          <a:xfrm>
            <a:off x="1399032" y="2368296"/>
            <a:ext cx="4754880" cy="292608"/>
          </a:xfrm>
          <a:prstGeom prst="rect">
            <a:avLst/>
          </a:prstGeom>
          <a:noFill/>
          <a:ln/>
        </p:spPr>
        <p:txBody>
          <a:bodyPr wrap="square" lIns="0" tIns="0" rIns="0" bIns="0" rtlCol="0" anchor="ctr"/>
          <a:lstStyle/>
          <a:p>
            <a:pPr indent="0" marL="0">
              <a:buNone/>
            </a:pPr>
            <a:r>
              <a:rPr lang="en-US" sz="1600" b="1" dirty="0">
                <a:solidFill>
                  <a:srgbClr val="E8EEF7"/>
                </a:solidFill>
                <a:latin typeface="Calibri" pitchFamily="34" charset="0"/>
                <a:ea typeface="Calibri" pitchFamily="34" charset="-122"/>
                <a:cs typeface="Calibri" pitchFamily="34" charset="-120"/>
              </a:rPr>
              <a:t>Conception</a:t>
            </a:r>
            <a:endParaRPr lang="en-US" sz="1600" dirty="0"/>
          </a:p>
        </p:txBody>
      </p:sp>
      <p:sp>
        <p:nvSpPr>
          <p:cNvPr id="14" name="Text 11"/>
          <p:cNvSpPr txBox="1"/>
          <p:nvPr/>
        </p:nvSpPr>
        <p:spPr>
          <a:xfrm>
            <a:off x="1399032" y="2660904"/>
            <a:ext cx="7863840" cy="274320"/>
          </a:xfrm>
          <a:prstGeom prst="rect">
            <a:avLst/>
          </a:prstGeom>
          <a:noFill/>
          <a:ln/>
        </p:spPr>
        <p:txBody>
          <a:bodyPr wrap="square" lIns="0" tIns="0" rIns="0" bIns="0" rtlCol="0" anchor="ctr"/>
          <a:lstStyle/>
          <a:p>
            <a:pPr indent="0" marL="0">
              <a:buNone/>
            </a:pPr>
            <a:r>
              <a:rPr lang="en-US" sz="1250" dirty="0">
                <a:solidFill>
                  <a:srgbClr val="95A3B8"/>
                </a:solidFill>
                <a:latin typeface="Calibri" pitchFamily="34" charset="0"/>
                <a:ea typeface="Calibri" pitchFamily="34" charset="-122"/>
                <a:cs typeface="Calibri" pitchFamily="34" charset="-120"/>
              </a:rPr>
              <a:t>Maquettage Figma — présenté en direct</a:t>
            </a:r>
            <a:endParaRPr lang="en-US" sz="1250" dirty="0"/>
          </a:p>
        </p:txBody>
      </p:sp>
      <p:sp>
        <p:nvSpPr>
          <p:cNvPr id="15" name="Shape 12"/>
          <p:cNvSpPr/>
          <p:nvPr/>
        </p:nvSpPr>
        <p:spPr>
          <a:xfrm>
            <a:off x="685800" y="3172968"/>
            <a:ext cx="475488" cy="475488"/>
          </a:xfrm>
          <a:prstGeom prst="ellipse">
            <a:avLst/>
          </a:prstGeom>
          <a:solidFill>
            <a:srgbClr val="1B3358"/>
          </a:solidFill>
          <a:ln w="12700">
            <a:solidFill>
              <a:srgbClr val="5B9BFF"/>
            </a:solidFill>
            <a:prstDash val="solid"/>
          </a:ln>
        </p:spPr>
      </p:sp>
      <p:sp>
        <p:nvSpPr>
          <p:cNvPr id="16" name="Text 13"/>
          <p:cNvSpPr txBox="1"/>
          <p:nvPr/>
        </p:nvSpPr>
        <p:spPr>
          <a:xfrm>
            <a:off x="685800" y="3172968"/>
            <a:ext cx="475488" cy="475488"/>
          </a:xfrm>
          <a:prstGeom prst="rect">
            <a:avLst/>
          </a:prstGeom>
          <a:noFill/>
          <a:ln/>
        </p:spPr>
        <p:txBody>
          <a:bodyPr wrap="square" lIns="0" tIns="0" rIns="0" bIns="0" rtlCol="0" anchor="ctr"/>
          <a:lstStyle/>
          <a:p>
            <a:pPr algn="ctr" indent="0" marL="0">
              <a:buNone/>
            </a:pPr>
            <a:r>
              <a:rPr lang="en-US" sz="1200" b="1" dirty="0">
                <a:solidFill>
                  <a:srgbClr val="5B9BFF"/>
                </a:solidFill>
                <a:latin typeface="Calibri" pitchFamily="34" charset="0"/>
                <a:ea typeface="Calibri" pitchFamily="34" charset="-122"/>
                <a:cs typeface="Calibri" pitchFamily="34" charset="-120"/>
              </a:rPr>
              <a:t>03</a:t>
            </a:r>
            <a:endParaRPr lang="en-US" sz="1200" dirty="0"/>
          </a:p>
        </p:txBody>
      </p:sp>
      <p:sp>
        <p:nvSpPr>
          <p:cNvPr id="17" name="Text 14"/>
          <p:cNvSpPr txBox="1"/>
          <p:nvPr/>
        </p:nvSpPr>
        <p:spPr>
          <a:xfrm>
            <a:off x="1399032" y="3145536"/>
            <a:ext cx="4754880" cy="292608"/>
          </a:xfrm>
          <a:prstGeom prst="rect">
            <a:avLst/>
          </a:prstGeom>
          <a:noFill/>
          <a:ln/>
        </p:spPr>
        <p:txBody>
          <a:bodyPr wrap="square" lIns="0" tIns="0" rIns="0" bIns="0" rtlCol="0" anchor="ctr"/>
          <a:lstStyle/>
          <a:p>
            <a:pPr indent="0" marL="0">
              <a:buNone/>
            </a:pPr>
            <a:r>
              <a:rPr lang="en-US" sz="1600" b="1" dirty="0">
                <a:solidFill>
                  <a:srgbClr val="E8EEF7"/>
                </a:solidFill>
                <a:latin typeface="Calibri" pitchFamily="34" charset="0"/>
                <a:ea typeface="Calibri" pitchFamily="34" charset="-122"/>
                <a:cs typeface="Calibri" pitchFamily="34" charset="-120"/>
              </a:rPr>
              <a:t>Architecture et modélisation</a:t>
            </a:r>
            <a:endParaRPr lang="en-US" sz="1600" dirty="0"/>
          </a:p>
        </p:txBody>
      </p:sp>
      <p:sp>
        <p:nvSpPr>
          <p:cNvPr id="18" name="Text 15"/>
          <p:cNvSpPr txBox="1"/>
          <p:nvPr/>
        </p:nvSpPr>
        <p:spPr>
          <a:xfrm>
            <a:off x="1399032" y="3438144"/>
            <a:ext cx="7863840" cy="274320"/>
          </a:xfrm>
          <a:prstGeom prst="rect">
            <a:avLst/>
          </a:prstGeom>
          <a:noFill/>
          <a:ln/>
        </p:spPr>
        <p:txBody>
          <a:bodyPr wrap="square" lIns="0" tIns="0" rIns="0" bIns="0" rtlCol="0" anchor="ctr"/>
          <a:lstStyle/>
          <a:p>
            <a:pPr indent="0" marL="0">
              <a:buNone/>
            </a:pPr>
            <a:r>
              <a:rPr lang="en-US" sz="1250" dirty="0">
                <a:solidFill>
                  <a:srgbClr val="95A3B8"/>
                </a:solidFill>
                <a:latin typeface="Calibri" pitchFamily="34" charset="0"/>
                <a:ea typeface="Calibri" pitchFamily="34" charset="-122"/>
                <a:cs typeface="Calibri" pitchFamily="34" charset="-120"/>
              </a:rPr>
              <a:t>Quatre couches, diagrammes UML</a:t>
            </a:r>
            <a:endParaRPr lang="en-US" sz="1250" dirty="0"/>
          </a:p>
        </p:txBody>
      </p:sp>
      <p:sp>
        <p:nvSpPr>
          <p:cNvPr id="19" name="Shape 16"/>
          <p:cNvSpPr/>
          <p:nvPr/>
        </p:nvSpPr>
        <p:spPr>
          <a:xfrm>
            <a:off x="685800" y="3950208"/>
            <a:ext cx="475488" cy="475488"/>
          </a:xfrm>
          <a:prstGeom prst="ellipse">
            <a:avLst/>
          </a:prstGeom>
          <a:solidFill>
            <a:srgbClr val="1B3358"/>
          </a:solidFill>
          <a:ln w="12700">
            <a:solidFill>
              <a:srgbClr val="5B9BFF"/>
            </a:solidFill>
            <a:prstDash val="solid"/>
          </a:ln>
        </p:spPr>
      </p:sp>
      <p:sp>
        <p:nvSpPr>
          <p:cNvPr id="20" name="Text 17"/>
          <p:cNvSpPr txBox="1"/>
          <p:nvPr/>
        </p:nvSpPr>
        <p:spPr>
          <a:xfrm>
            <a:off x="685800" y="3950208"/>
            <a:ext cx="475488" cy="475488"/>
          </a:xfrm>
          <a:prstGeom prst="rect">
            <a:avLst/>
          </a:prstGeom>
          <a:noFill/>
          <a:ln/>
        </p:spPr>
        <p:txBody>
          <a:bodyPr wrap="square" lIns="0" tIns="0" rIns="0" bIns="0" rtlCol="0" anchor="ctr"/>
          <a:lstStyle/>
          <a:p>
            <a:pPr algn="ctr" indent="0" marL="0">
              <a:buNone/>
            </a:pPr>
            <a:r>
              <a:rPr lang="en-US" sz="1200" b="1" dirty="0">
                <a:solidFill>
                  <a:srgbClr val="5B9BFF"/>
                </a:solidFill>
                <a:latin typeface="Calibri" pitchFamily="34" charset="0"/>
                <a:ea typeface="Calibri" pitchFamily="34" charset="-122"/>
                <a:cs typeface="Calibri" pitchFamily="34" charset="-120"/>
              </a:rPr>
              <a:t>04</a:t>
            </a:r>
            <a:endParaRPr lang="en-US" sz="1200" dirty="0"/>
          </a:p>
        </p:txBody>
      </p:sp>
      <p:sp>
        <p:nvSpPr>
          <p:cNvPr id="21" name="Text 18"/>
          <p:cNvSpPr txBox="1"/>
          <p:nvPr/>
        </p:nvSpPr>
        <p:spPr>
          <a:xfrm>
            <a:off x="1399032" y="3922776"/>
            <a:ext cx="4754880" cy="292608"/>
          </a:xfrm>
          <a:prstGeom prst="rect">
            <a:avLst/>
          </a:prstGeom>
          <a:noFill/>
          <a:ln/>
        </p:spPr>
        <p:txBody>
          <a:bodyPr wrap="square" lIns="0" tIns="0" rIns="0" bIns="0" rtlCol="0" anchor="ctr"/>
          <a:lstStyle/>
          <a:p>
            <a:pPr indent="0" marL="0">
              <a:buNone/>
            </a:pPr>
            <a:r>
              <a:rPr lang="en-US" sz="1600" b="1" dirty="0">
                <a:solidFill>
                  <a:srgbClr val="E8EEF7"/>
                </a:solidFill>
                <a:latin typeface="Calibri" pitchFamily="34" charset="0"/>
                <a:ea typeface="Calibri" pitchFamily="34" charset="-122"/>
                <a:cs typeface="Calibri" pitchFamily="34" charset="-120"/>
              </a:rPr>
              <a:t>Réalisation et Data / IA</a:t>
            </a:r>
            <a:endParaRPr lang="en-US" sz="1600" dirty="0"/>
          </a:p>
        </p:txBody>
      </p:sp>
      <p:sp>
        <p:nvSpPr>
          <p:cNvPr id="22" name="Text 19"/>
          <p:cNvSpPr txBox="1"/>
          <p:nvPr/>
        </p:nvSpPr>
        <p:spPr>
          <a:xfrm>
            <a:off x="1399032" y="4215384"/>
            <a:ext cx="7863840" cy="274320"/>
          </a:xfrm>
          <a:prstGeom prst="rect">
            <a:avLst/>
          </a:prstGeom>
          <a:noFill/>
          <a:ln/>
        </p:spPr>
        <p:txBody>
          <a:bodyPr wrap="square" lIns="0" tIns="0" rIns="0" bIns="0" rtlCol="0" anchor="ctr"/>
          <a:lstStyle/>
          <a:p>
            <a:pPr indent="0" marL="0">
              <a:buNone/>
            </a:pPr>
            <a:r>
              <a:rPr lang="en-US" sz="1250" dirty="0">
                <a:solidFill>
                  <a:srgbClr val="95A3B8"/>
                </a:solidFill>
                <a:latin typeface="Calibri" pitchFamily="34" charset="0"/>
                <a:ea typeface="Calibri" pitchFamily="34" charset="-122"/>
                <a:cs typeface="Calibri" pitchFamily="34" charset="-120"/>
              </a:rPr>
              <a:t>Intégrité des créneaux, recommandation, assistant outillé</a:t>
            </a:r>
            <a:endParaRPr lang="en-US" sz="1250" dirty="0"/>
          </a:p>
        </p:txBody>
      </p:sp>
      <p:sp>
        <p:nvSpPr>
          <p:cNvPr id="23" name="Shape 20"/>
          <p:cNvSpPr/>
          <p:nvPr/>
        </p:nvSpPr>
        <p:spPr>
          <a:xfrm>
            <a:off x="685800" y="4727448"/>
            <a:ext cx="475488" cy="475488"/>
          </a:xfrm>
          <a:prstGeom prst="ellipse">
            <a:avLst/>
          </a:prstGeom>
          <a:solidFill>
            <a:srgbClr val="1B3358"/>
          </a:solidFill>
          <a:ln w="12700">
            <a:solidFill>
              <a:srgbClr val="5B9BFF"/>
            </a:solidFill>
            <a:prstDash val="solid"/>
          </a:ln>
        </p:spPr>
      </p:sp>
      <p:sp>
        <p:nvSpPr>
          <p:cNvPr id="24" name="Text 21"/>
          <p:cNvSpPr txBox="1"/>
          <p:nvPr/>
        </p:nvSpPr>
        <p:spPr>
          <a:xfrm>
            <a:off x="685800" y="4727448"/>
            <a:ext cx="475488" cy="475488"/>
          </a:xfrm>
          <a:prstGeom prst="rect">
            <a:avLst/>
          </a:prstGeom>
          <a:noFill/>
          <a:ln/>
        </p:spPr>
        <p:txBody>
          <a:bodyPr wrap="square" lIns="0" tIns="0" rIns="0" bIns="0" rtlCol="0" anchor="ctr"/>
          <a:lstStyle/>
          <a:p>
            <a:pPr algn="ctr" indent="0" marL="0">
              <a:buNone/>
            </a:pPr>
            <a:r>
              <a:rPr lang="en-US" sz="1200" b="1" dirty="0">
                <a:solidFill>
                  <a:srgbClr val="5B9BFF"/>
                </a:solidFill>
                <a:latin typeface="Calibri" pitchFamily="34" charset="0"/>
                <a:ea typeface="Calibri" pitchFamily="34" charset="-122"/>
                <a:cs typeface="Calibri" pitchFamily="34" charset="-120"/>
              </a:rPr>
              <a:t>05</a:t>
            </a:r>
            <a:endParaRPr lang="en-US" sz="1200" dirty="0"/>
          </a:p>
        </p:txBody>
      </p:sp>
      <p:sp>
        <p:nvSpPr>
          <p:cNvPr id="25" name="Text 22"/>
          <p:cNvSpPr txBox="1"/>
          <p:nvPr/>
        </p:nvSpPr>
        <p:spPr>
          <a:xfrm>
            <a:off x="1399032" y="4700016"/>
            <a:ext cx="4754880" cy="292608"/>
          </a:xfrm>
          <a:prstGeom prst="rect">
            <a:avLst/>
          </a:prstGeom>
          <a:noFill/>
          <a:ln/>
        </p:spPr>
        <p:txBody>
          <a:bodyPr wrap="square" lIns="0" tIns="0" rIns="0" bIns="0" rtlCol="0" anchor="ctr"/>
          <a:lstStyle/>
          <a:p>
            <a:pPr indent="0" marL="0">
              <a:buNone/>
            </a:pPr>
            <a:r>
              <a:rPr lang="en-US" sz="1600" b="1" dirty="0">
                <a:solidFill>
                  <a:srgbClr val="E8EEF7"/>
                </a:solidFill>
                <a:latin typeface="Calibri" pitchFamily="34" charset="0"/>
                <a:ea typeface="Calibri" pitchFamily="34" charset="-122"/>
                <a:cs typeface="Calibri" pitchFamily="34" charset="-120"/>
              </a:rPr>
              <a:t>Démonstration</a:t>
            </a:r>
            <a:endParaRPr lang="en-US" sz="1600" dirty="0"/>
          </a:p>
        </p:txBody>
      </p:sp>
      <p:sp>
        <p:nvSpPr>
          <p:cNvPr id="26" name="Text 23"/>
          <p:cNvSpPr txBox="1"/>
          <p:nvPr/>
        </p:nvSpPr>
        <p:spPr>
          <a:xfrm>
            <a:off x="1399032" y="4992624"/>
            <a:ext cx="7863840" cy="274320"/>
          </a:xfrm>
          <a:prstGeom prst="rect">
            <a:avLst/>
          </a:prstGeom>
          <a:noFill/>
          <a:ln/>
        </p:spPr>
        <p:txBody>
          <a:bodyPr wrap="square" lIns="0" tIns="0" rIns="0" bIns="0" rtlCol="0" anchor="ctr"/>
          <a:lstStyle/>
          <a:p>
            <a:pPr indent="0" marL="0">
              <a:buNone/>
            </a:pPr>
            <a:r>
              <a:rPr lang="en-US" sz="1250" dirty="0">
                <a:solidFill>
                  <a:srgbClr val="95A3B8"/>
                </a:solidFill>
                <a:latin typeface="Calibri" pitchFamily="34" charset="0"/>
                <a:ea typeface="Calibri" pitchFamily="34" charset="-122"/>
                <a:cs typeface="Calibri" pitchFamily="34" charset="-120"/>
              </a:rPr>
              <a:t>L’application déployée, en direct</a:t>
            </a:r>
            <a:endParaRPr lang="en-US" sz="1250" dirty="0"/>
          </a:p>
        </p:txBody>
      </p:sp>
      <p:sp>
        <p:nvSpPr>
          <p:cNvPr id="27" name="Shape 24"/>
          <p:cNvSpPr/>
          <p:nvPr/>
        </p:nvSpPr>
        <p:spPr>
          <a:xfrm>
            <a:off x="685800" y="5504688"/>
            <a:ext cx="475488" cy="475488"/>
          </a:xfrm>
          <a:prstGeom prst="ellipse">
            <a:avLst/>
          </a:prstGeom>
          <a:solidFill>
            <a:srgbClr val="1B3358"/>
          </a:solidFill>
          <a:ln w="12700">
            <a:solidFill>
              <a:srgbClr val="5B9BFF"/>
            </a:solidFill>
            <a:prstDash val="solid"/>
          </a:ln>
        </p:spPr>
      </p:sp>
      <p:sp>
        <p:nvSpPr>
          <p:cNvPr id="28" name="Text 25"/>
          <p:cNvSpPr txBox="1"/>
          <p:nvPr/>
        </p:nvSpPr>
        <p:spPr>
          <a:xfrm>
            <a:off x="685800" y="5504688"/>
            <a:ext cx="475488" cy="475488"/>
          </a:xfrm>
          <a:prstGeom prst="rect">
            <a:avLst/>
          </a:prstGeom>
          <a:noFill/>
          <a:ln/>
        </p:spPr>
        <p:txBody>
          <a:bodyPr wrap="square" lIns="0" tIns="0" rIns="0" bIns="0" rtlCol="0" anchor="ctr"/>
          <a:lstStyle/>
          <a:p>
            <a:pPr algn="ctr" indent="0" marL="0">
              <a:buNone/>
            </a:pPr>
            <a:r>
              <a:rPr lang="en-US" sz="1200" b="1" dirty="0">
                <a:solidFill>
                  <a:srgbClr val="5B9BFF"/>
                </a:solidFill>
                <a:latin typeface="Calibri" pitchFamily="34" charset="0"/>
                <a:ea typeface="Calibri" pitchFamily="34" charset="-122"/>
                <a:cs typeface="Calibri" pitchFamily="34" charset="-120"/>
              </a:rPr>
              <a:t>06</a:t>
            </a:r>
            <a:endParaRPr lang="en-US" sz="1200" dirty="0"/>
          </a:p>
        </p:txBody>
      </p:sp>
      <p:sp>
        <p:nvSpPr>
          <p:cNvPr id="29" name="Text 26"/>
          <p:cNvSpPr txBox="1"/>
          <p:nvPr/>
        </p:nvSpPr>
        <p:spPr>
          <a:xfrm>
            <a:off x="1399032" y="5477256"/>
            <a:ext cx="4754880" cy="292608"/>
          </a:xfrm>
          <a:prstGeom prst="rect">
            <a:avLst/>
          </a:prstGeom>
          <a:noFill/>
          <a:ln/>
        </p:spPr>
        <p:txBody>
          <a:bodyPr wrap="square" lIns="0" tIns="0" rIns="0" bIns="0" rtlCol="0" anchor="ctr"/>
          <a:lstStyle/>
          <a:p>
            <a:pPr indent="0" marL="0">
              <a:buNone/>
            </a:pPr>
            <a:r>
              <a:rPr lang="en-US" sz="1600" b="1" dirty="0">
                <a:solidFill>
                  <a:srgbClr val="E8EEF7"/>
                </a:solidFill>
                <a:latin typeface="Calibri" pitchFamily="34" charset="0"/>
                <a:ea typeface="Calibri" pitchFamily="34" charset="-122"/>
                <a:cs typeface="Calibri" pitchFamily="34" charset="-120"/>
              </a:rPr>
              <a:t>Qualité, déploiement, bilan</a:t>
            </a:r>
            <a:endParaRPr lang="en-US" sz="1600" dirty="0"/>
          </a:p>
        </p:txBody>
      </p:sp>
      <p:sp>
        <p:nvSpPr>
          <p:cNvPr id="30" name="Text 27"/>
          <p:cNvSpPr txBox="1"/>
          <p:nvPr/>
        </p:nvSpPr>
        <p:spPr>
          <a:xfrm>
            <a:off x="1399032" y="5769864"/>
            <a:ext cx="7863840" cy="274320"/>
          </a:xfrm>
          <a:prstGeom prst="rect">
            <a:avLst/>
          </a:prstGeom>
          <a:noFill/>
          <a:ln/>
        </p:spPr>
        <p:txBody>
          <a:bodyPr wrap="square" lIns="0" tIns="0" rIns="0" bIns="0" rtlCol="0" anchor="ctr"/>
          <a:lstStyle/>
          <a:p>
            <a:pPr indent="0" marL="0">
              <a:buNone/>
            </a:pPr>
            <a:r>
              <a:rPr lang="en-US" sz="1250" dirty="0">
                <a:solidFill>
                  <a:srgbClr val="95A3B8"/>
                </a:solidFill>
                <a:latin typeface="Calibri" pitchFamily="34" charset="0"/>
                <a:ea typeface="Calibri" pitchFamily="34" charset="-122"/>
                <a:cs typeface="Calibri" pitchFamily="34" charset="-120"/>
              </a:rPr>
              <a:t>1 576 tests, mise en production, enseignements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85800" y="384048"/>
            <a:ext cx="10820095" cy="237744"/>
          </a:xfrm>
          <a:prstGeom prst="rect">
            <a:avLst/>
          </a:prstGeom>
          <a:noFill/>
          <a:ln/>
        </p:spPr>
        <p:txBody>
          <a:bodyPr wrap="square" lIns="0" tIns="0" rIns="0" bIns="0" rtlCol="0" anchor="ctr"/>
          <a:lstStyle/>
          <a:p>
            <a:pPr indent="0" marL="0">
              <a:buNone/>
            </a:pPr>
            <a:r>
              <a:rPr lang="en-US" sz="1100" b="1" spc="200" kern="0" dirty="0">
                <a:solidFill>
                  <a:srgbClr val="5B9BFF"/>
                </a:solidFill>
                <a:latin typeface="Calibri" pitchFamily="34" charset="0"/>
                <a:ea typeface="Calibri" pitchFamily="34" charset="-122"/>
                <a:cs typeface="Calibri" pitchFamily="34" charset="-120"/>
              </a:rPr>
              <a:t>1 — CONTEXTE</a:t>
            </a:r>
            <a:endParaRPr lang="en-US" sz="1100" dirty="0"/>
          </a:p>
        </p:txBody>
      </p:sp>
      <p:sp>
        <p:nvSpPr>
          <p:cNvPr id="3" name="Text 1"/>
          <p:cNvSpPr txBox="1"/>
          <p:nvPr/>
        </p:nvSpPr>
        <p:spPr>
          <a:xfrm>
            <a:off x="685800" y="658368"/>
            <a:ext cx="9997135" cy="777240"/>
          </a:xfrm>
          <a:prstGeom prst="rect">
            <a:avLst/>
          </a:prstGeom>
          <a:noFill/>
          <a:ln/>
        </p:spPr>
        <p:txBody>
          <a:bodyPr wrap="square" lIns="0" tIns="0" rIns="0" bIns="0" rtlCol="0" anchor="t"/>
          <a:lstStyle/>
          <a:p>
            <a:pPr indent="0" marL="0">
              <a:buNone/>
            </a:pPr>
            <a:r>
              <a:rPr lang="en-US" sz="3200" b="1" dirty="0">
                <a:solidFill>
                  <a:srgbClr val="E8EEF7"/>
                </a:solidFill>
                <a:latin typeface="Calibri" pitchFamily="34" charset="0"/>
                <a:ea typeface="Calibri" pitchFamily="34" charset="-122"/>
                <a:cs typeface="Calibri" pitchFamily="34" charset="-120"/>
              </a:rPr>
              <a:t>Trois problèmes, trois réponses techniques</a:t>
            </a:r>
            <a:endParaRPr lang="en-US" sz="3200" dirty="0"/>
          </a:p>
        </p:txBody>
      </p:sp>
      <p:sp>
        <p:nvSpPr>
          <p:cNvPr id="4" name="Shape 2"/>
          <p:cNvSpPr/>
          <p:nvPr/>
        </p:nvSpPr>
        <p:spPr>
          <a:xfrm>
            <a:off x="11292840" y="6144768"/>
            <a:ext cx="365760" cy="365760"/>
          </a:xfrm>
          <a:prstGeom prst="ellipse">
            <a:avLst/>
          </a:prstGeom>
          <a:solidFill>
            <a:srgbClr val="232E42"/>
          </a:solidFill>
          <a:ln w="12700">
            <a:solidFill>
              <a:srgbClr val="232E42"/>
            </a:solidFill>
            <a:prstDash val="solid"/>
          </a:ln>
        </p:spPr>
      </p:sp>
      <p:sp>
        <p:nvSpPr>
          <p:cNvPr id="5" name="Text 3"/>
          <p:cNvSpPr txBox="1"/>
          <p:nvPr/>
        </p:nvSpPr>
        <p:spPr>
          <a:xfrm>
            <a:off x="11292840" y="6144768"/>
            <a:ext cx="365760" cy="365760"/>
          </a:xfrm>
          <a:prstGeom prst="rect">
            <a:avLst/>
          </a:prstGeom>
          <a:noFill/>
          <a:ln/>
        </p:spPr>
        <p:txBody>
          <a:bodyPr wrap="square" lIns="0" tIns="0" rIns="0" bIns="0" rtlCol="0" anchor="ctr"/>
          <a:lstStyle/>
          <a:p>
            <a:pPr algn="ctr" indent="0" marL="0">
              <a:buNone/>
            </a:pPr>
            <a:r>
              <a:rPr lang="en-US" sz="1100" b="1" dirty="0">
                <a:solidFill>
                  <a:srgbClr val="95A3B8"/>
                </a:solidFill>
                <a:latin typeface="Calibri" pitchFamily="34" charset="0"/>
                <a:ea typeface="Calibri" pitchFamily="34" charset="-122"/>
                <a:cs typeface="Calibri" pitchFamily="34" charset="-120"/>
              </a:rPr>
              <a:t>2</a:t>
            </a:r>
            <a:endParaRPr lang="en-US" sz="1100" dirty="0"/>
          </a:p>
        </p:txBody>
      </p:sp>
      <p:sp>
        <p:nvSpPr>
          <p:cNvPr id="7" name="Shape 4"/>
          <p:cNvSpPr/>
          <p:nvPr/>
        </p:nvSpPr>
        <p:spPr>
          <a:xfrm>
            <a:off x="685800" y="1600200"/>
            <a:ext cx="3401568" cy="3200400"/>
          </a:xfrm>
          <a:prstGeom prst="roundRect">
            <a:avLst>
              <a:gd name="adj" fmla="val 2286"/>
            </a:avLst>
          </a:prstGeom>
          <a:solidFill>
            <a:srgbClr val="1A2231"/>
          </a:solidFill>
          <a:ln w="12700">
            <a:solidFill>
              <a:srgbClr val="232E42"/>
            </a:solidFill>
            <a:prstDash val="solid"/>
          </a:ln>
        </p:spPr>
      </p:sp>
      <p:sp>
        <p:nvSpPr>
          <p:cNvPr id="8" name="Shape 5"/>
          <p:cNvSpPr/>
          <p:nvPr/>
        </p:nvSpPr>
        <p:spPr>
          <a:xfrm>
            <a:off x="978408" y="1920240"/>
            <a:ext cx="475488" cy="475488"/>
          </a:xfrm>
          <a:prstGeom prst="roundRect">
            <a:avLst>
              <a:gd name="adj" fmla="val 23077"/>
            </a:avLst>
          </a:prstGeom>
          <a:solidFill>
            <a:srgbClr val="232E42"/>
          </a:solidFill>
          <a:ln w="12700">
            <a:solidFill>
              <a:srgbClr val="5B9BFF"/>
            </a:solidFill>
            <a:prstDash val="solid"/>
          </a:ln>
        </p:spPr>
      </p:sp>
      <p:sp>
        <p:nvSpPr>
          <p:cNvPr id="9" name="Text 6"/>
          <p:cNvSpPr txBox="1"/>
          <p:nvPr/>
        </p:nvSpPr>
        <p:spPr>
          <a:xfrm>
            <a:off x="978408" y="1920240"/>
            <a:ext cx="475488" cy="475488"/>
          </a:xfrm>
          <a:prstGeom prst="rect">
            <a:avLst/>
          </a:prstGeom>
          <a:noFill/>
          <a:ln/>
        </p:spPr>
        <p:txBody>
          <a:bodyPr wrap="square" lIns="0" tIns="0" rIns="0" bIns="0" rtlCol="0" anchor="ctr"/>
          <a:lstStyle/>
          <a:p>
            <a:pPr algn="ctr" indent="0" marL="0">
              <a:buNone/>
            </a:pPr>
            <a:r>
              <a:rPr lang="en-US" sz="1500" b="1" dirty="0">
                <a:solidFill>
                  <a:srgbClr val="5B9BFF"/>
                </a:solidFill>
                <a:latin typeface="Calibri" pitchFamily="34" charset="0"/>
                <a:ea typeface="Calibri" pitchFamily="34" charset="-122"/>
                <a:cs typeface="Calibri" pitchFamily="34" charset="-120"/>
              </a:rPr>
              <a:t>A</a:t>
            </a:r>
            <a:endParaRPr lang="en-US" sz="1500" dirty="0"/>
          </a:p>
        </p:txBody>
      </p:sp>
      <p:sp>
        <p:nvSpPr>
          <p:cNvPr id="10" name="Text 7"/>
          <p:cNvSpPr txBox="1"/>
          <p:nvPr/>
        </p:nvSpPr>
        <p:spPr>
          <a:xfrm>
            <a:off x="978408" y="2606040"/>
            <a:ext cx="2816352" cy="777240"/>
          </a:xfrm>
          <a:prstGeom prst="rect">
            <a:avLst/>
          </a:prstGeom>
          <a:noFill/>
          <a:ln/>
        </p:spPr>
        <p:txBody>
          <a:bodyPr wrap="square" lIns="0" tIns="0" rIns="0" bIns="0" rtlCol="0" anchor="ctr"/>
          <a:lstStyle/>
          <a:p>
            <a:pPr indent="0" marL="0">
              <a:lnSpc>
                <a:spcPts val="2200"/>
              </a:lnSpc>
              <a:buNone/>
            </a:pPr>
            <a:r>
              <a:rPr lang="en-US" sz="1600" b="1" dirty="0">
                <a:solidFill>
                  <a:srgbClr val="E8EEF7"/>
                </a:solidFill>
                <a:latin typeface="Calibri" pitchFamily="34" charset="0"/>
                <a:ea typeface="Calibri" pitchFamily="34" charset="-122"/>
                <a:cs typeface="Calibri" pitchFamily="34" charset="-120"/>
              </a:rPr>
              <a:t>On ne sait pas ce qui est libre</a:t>
            </a:r>
            <a:endParaRPr lang="en-US" sz="1600" dirty="0"/>
          </a:p>
        </p:txBody>
      </p:sp>
      <p:sp>
        <p:nvSpPr>
          <p:cNvPr id="11" name="Text 8"/>
          <p:cNvSpPr txBox="1"/>
          <p:nvPr/>
        </p:nvSpPr>
        <p:spPr>
          <a:xfrm>
            <a:off x="978408" y="3456432"/>
            <a:ext cx="2816352" cy="1143000"/>
          </a:xfrm>
          <a:prstGeom prst="rect">
            <a:avLst/>
          </a:prstGeom>
          <a:noFill/>
          <a:ln/>
        </p:spPr>
        <p:txBody>
          <a:bodyPr wrap="square" lIns="0" tIns="0" rIns="0" bIns="0" rtlCol="0" anchor="ctr"/>
          <a:lstStyle/>
          <a:p>
            <a:pPr indent="0" marL="0">
              <a:lnSpc>
                <a:spcPts val="1800"/>
              </a:lnSpc>
              <a:buNone/>
            </a:pPr>
            <a:r>
              <a:rPr lang="en-US" sz="1250" dirty="0">
                <a:solidFill>
                  <a:srgbClr val="95A3B8"/>
                </a:solidFill>
                <a:latin typeface="Calibri" pitchFamily="34" charset="0"/>
                <a:ea typeface="Calibri" pitchFamily="34" charset="-122"/>
                <a:cs typeface="Calibri" pitchFamily="34" charset="-120"/>
              </a:rPr>
              <a:t>Le coût n’est pas le temps passé, c’est le renoncement : on réserve « au cas où », ce qui aggrave la pénurie subie.</a:t>
            </a:r>
            <a:endParaRPr lang="en-US" sz="1250" dirty="0"/>
          </a:p>
        </p:txBody>
      </p:sp>
      <p:sp>
        <p:nvSpPr>
          <p:cNvPr id="12" name="Shape 9"/>
          <p:cNvSpPr/>
          <p:nvPr/>
        </p:nvSpPr>
        <p:spPr>
          <a:xfrm>
            <a:off x="4361688" y="1600200"/>
            <a:ext cx="3401568" cy="3200400"/>
          </a:xfrm>
          <a:prstGeom prst="roundRect">
            <a:avLst>
              <a:gd name="adj" fmla="val 2286"/>
            </a:avLst>
          </a:prstGeom>
          <a:solidFill>
            <a:srgbClr val="1A2231"/>
          </a:solidFill>
          <a:ln w="12700">
            <a:solidFill>
              <a:srgbClr val="232E42"/>
            </a:solidFill>
            <a:prstDash val="solid"/>
          </a:ln>
        </p:spPr>
      </p:sp>
      <p:sp>
        <p:nvSpPr>
          <p:cNvPr id="13" name="Shape 10"/>
          <p:cNvSpPr/>
          <p:nvPr/>
        </p:nvSpPr>
        <p:spPr>
          <a:xfrm>
            <a:off x="4654296" y="1920240"/>
            <a:ext cx="475488" cy="475488"/>
          </a:xfrm>
          <a:prstGeom prst="roundRect">
            <a:avLst>
              <a:gd name="adj" fmla="val 23077"/>
            </a:avLst>
          </a:prstGeom>
          <a:solidFill>
            <a:srgbClr val="232E42"/>
          </a:solidFill>
          <a:ln w="12700">
            <a:solidFill>
              <a:srgbClr val="F0B429"/>
            </a:solidFill>
            <a:prstDash val="solid"/>
          </a:ln>
        </p:spPr>
      </p:sp>
      <p:sp>
        <p:nvSpPr>
          <p:cNvPr id="14" name="Text 11"/>
          <p:cNvSpPr txBox="1"/>
          <p:nvPr/>
        </p:nvSpPr>
        <p:spPr>
          <a:xfrm>
            <a:off x="4654296" y="1920240"/>
            <a:ext cx="475488" cy="475488"/>
          </a:xfrm>
          <a:prstGeom prst="rect">
            <a:avLst/>
          </a:prstGeom>
          <a:noFill/>
          <a:ln/>
        </p:spPr>
        <p:txBody>
          <a:bodyPr wrap="square" lIns="0" tIns="0" rIns="0" bIns="0" rtlCol="0" anchor="ctr"/>
          <a:lstStyle/>
          <a:p>
            <a:pPr algn="ctr" indent="0" marL="0">
              <a:buNone/>
            </a:pPr>
            <a:r>
              <a:rPr lang="en-US" sz="1500" b="1" dirty="0">
                <a:solidFill>
                  <a:srgbClr val="F0B429"/>
                </a:solidFill>
                <a:latin typeface="Calibri" pitchFamily="34" charset="0"/>
                <a:ea typeface="Calibri" pitchFamily="34" charset="-122"/>
                <a:cs typeface="Calibri" pitchFamily="34" charset="-120"/>
              </a:rPr>
              <a:t>B</a:t>
            </a:r>
            <a:endParaRPr lang="en-US" sz="1500" dirty="0"/>
          </a:p>
        </p:txBody>
      </p:sp>
      <p:sp>
        <p:nvSpPr>
          <p:cNvPr id="15" name="Text 12"/>
          <p:cNvSpPr txBox="1"/>
          <p:nvPr/>
        </p:nvSpPr>
        <p:spPr>
          <a:xfrm>
            <a:off x="4654296" y="2606040"/>
            <a:ext cx="2816352" cy="777240"/>
          </a:xfrm>
          <a:prstGeom prst="rect">
            <a:avLst/>
          </a:prstGeom>
          <a:noFill/>
          <a:ln/>
        </p:spPr>
        <p:txBody>
          <a:bodyPr wrap="square" lIns="0" tIns="0" rIns="0" bIns="0" rtlCol="0" anchor="ctr"/>
          <a:lstStyle/>
          <a:p>
            <a:pPr indent="0" marL="0">
              <a:lnSpc>
                <a:spcPts val="2200"/>
              </a:lnSpc>
              <a:buNone/>
            </a:pPr>
            <a:r>
              <a:rPr lang="en-US" sz="1600" b="1" dirty="0">
                <a:solidFill>
                  <a:srgbClr val="E8EEF7"/>
                </a:solidFill>
                <a:latin typeface="Calibri" pitchFamily="34" charset="0"/>
                <a:ea typeface="Calibri" pitchFamily="34" charset="-122"/>
                <a:cs typeface="Calibri" pitchFamily="34" charset="-120"/>
              </a:rPr>
              <a:t>Deux personnes réservent le même créneau</a:t>
            </a:r>
            <a:endParaRPr lang="en-US" sz="1600" dirty="0"/>
          </a:p>
        </p:txBody>
      </p:sp>
      <p:sp>
        <p:nvSpPr>
          <p:cNvPr id="16" name="Text 13"/>
          <p:cNvSpPr txBox="1"/>
          <p:nvPr/>
        </p:nvSpPr>
        <p:spPr>
          <a:xfrm>
            <a:off x="4654296" y="3456432"/>
            <a:ext cx="2816352" cy="1143000"/>
          </a:xfrm>
          <a:prstGeom prst="rect">
            <a:avLst/>
          </a:prstGeom>
          <a:noFill/>
          <a:ln/>
        </p:spPr>
        <p:txBody>
          <a:bodyPr wrap="square" lIns="0" tIns="0" rIns="0" bIns="0" rtlCol="0" anchor="ctr"/>
          <a:lstStyle/>
          <a:p>
            <a:pPr indent="0" marL="0">
              <a:lnSpc>
                <a:spcPts val="1800"/>
              </a:lnSpc>
              <a:buNone/>
            </a:pPr>
            <a:r>
              <a:rPr lang="en-US" sz="1250" dirty="0">
                <a:solidFill>
                  <a:srgbClr val="95A3B8"/>
                </a:solidFill>
                <a:latin typeface="Calibri" pitchFamily="34" charset="0"/>
                <a:ea typeface="Calibri" pitchFamily="34" charset="-122"/>
                <a:cs typeface="Calibri" pitchFamily="34" charset="-120"/>
              </a:rPr>
              <a:t>Sans arbitre technique, le conflit se découvre devant la porte. Le coût réel : la réunion qui n’a pas lieu.</a:t>
            </a:r>
            <a:endParaRPr lang="en-US" sz="1250" dirty="0"/>
          </a:p>
        </p:txBody>
      </p:sp>
      <p:sp>
        <p:nvSpPr>
          <p:cNvPr id="17" name="Shape 14"/>
          <p:cNvSpPr/>
          <p:nvPr/>
        </p:nvSpPr>
        <p:spPr>
          <a:xfrm>
            <a:off x="8037576" y="1600200"/>
            <a:ext cx="3401568" cy="3200400"/>
          </a:xfrm>
          <a:prstGeom prst="roundRect">
            <a:avLst>
              <a:gd name="adj" fmla="val 2286"/>
            </a:avLst>
          </a:prstGeom>
          <a:solidFill>
            <a:srgbClr val="1A2231"/>
          </a:solidFill>
          <a:ln w="12700">
            <a:solidFill>
              <a:srgbClr val="232E42"/>
            </a:solidFill>
            <a:prstDash val="solid"/>
          </a:ln>
        </p:spPr>
      </p:sp>
      <p:sp>
        <p:nvSpPr>
          <p:cNvPr id="18" name="Shape 15"/>
          <p:cNvSpPr/>
          <p:nvPr/>
        </p:nvSpPr>
        <p:spPr>
          <a:xfrm>
            <a:off x="8330184" y="1920240"/>
            <a:ext cx="475488" cy="475488"/>
          </a:xfrm>
          <a:prstGeom prst="roundRect">
            <a:avLst>
              <a:gd name="adj" fmla="val 23077"/>
            </a:avLst>
          </a:prstGeom>
          <a:solidFill>
            <a:srgbClr val="232E42"/>
          </a:solidFill>
          <a:ln w="12700">
            <a:solidFill>
              <a:srgbClr val="FF7A7A"/>
            </a:solidFill>
            <a:prstDash val="solid"/>
          </a:ln>
        </p:spPr>
      </p:sp>
      <p:sp>
        <p:nvSpPr>
          <p:cNvPr id="19" name="Text 16"/>
          <p:cNvSpPr txBox="1"/>
          <p:nvPr/>
        </p:nvSpPr>
        <p:spPr>
          <a:xfrm>
            <a:off x="8330184" y="1920240"/>
            <a:ext cx="475488" cy="475488"/>
          </a:xfrm>
          <a:prstGeom prst="rect">
            <a:avLst/>
          </a:prstGeom>
          <a:noFill/>
          <a:ln/>
        </p:spPr>
        <p:txBody>
          <a:bodyPr wrap="square" lIns="0" tIns="0" rIns="0" bIns="0" rtlCol="0" anchor="ctr"/>
          <a:lstStyle/>
          <a:p>
            <a:pPr algn="ctr" indent="0" marL="0">
              <a:buNone/>
            </a:pPr>
            <a:r>
              <a:rPr lang="en-US" sz="1500" b="1" dirty="0">
                <a:solidFill>
                  <a:srgbClr val="FF7A7A"/>
                </a:solidFill>
                <a:latin typeface="Calibri" pitchFamily="34" charset="0"/>
                <a:ea typeface="Calibri" pitchFamily="34" charset="-122"/>
                <a:cs typeface="Calibri" pitchFamily="34" charset="-120"/>
              </a:rPr>
              <a:t>C</a:t>
            </a:r>
            <a:endParaRPr lang="en-US" sz="1500" dirty="0"/>
          </a:p>
        </p:txBody>
      </p:sp>
      <p:sp>
        <p:nvSpPr>
          <p:cNvPr id="20" name="Text 17"/>
          <p:cNvSpPr txBox="1"/>
          <p:nvPr/>
        </p:nvSpPr>
        <p:spPr>
          <a:xfrm>
            <a:off x="8330184" y="2606040"/>
            <a:ext cx="2816352" cy="777240"/>
          </a:xfrm>
          <a:prstGeom prst="rect">
            <a:avLst/>
          </a:prstGeom>
          <a:noFill/>
          <a:ln/>
        </p:spPr>
        <p:txBody>
          <a:bodyPr wrap="square" lIns="0" tIns="0" rIns="0" bIns="0" rtlCol="0" anchor="ctr"/>
          <a:lstStyle/>
          <a:p>
            <a:pPr indent="0" marL="0">
              <a:lnSpc>
                <a:spcPts val="2200"/>
              </a:lnSpc>
              <a:buNone/>
            </a:pPr>
            <a:r>
              <a:rPr lang="en-US" sz="1600" b="1" dirty="0">
                <a:solidFill>
                  <a:srgbClr val="E8EEF7"/>
                </a:solidFill>
                <a:latin typeface="Calibri" pitchFamily="34" charset="0"/>
                <a:ea typeface="Calibri" pitchFamily="34" charset="-122"/>
                <a:cs typeface="Calibri" pitchFamily="34" charset="-120"/>
              </a:rPr>
              <a:t>Les salles réservées restent vides</a:t>
            </a:r>
            <a:endParaRPr lang="en-US" sz="1600" dirty="0"/>
          </a:p>
        </p:txBody>
      </p:sp>
      <p:sp>
        <p:nvSpPr>
          <p:cNvPr id="21" name="Text 18"/>
          <p:cNvSpPr txBox="1"/>
          <p:nvPr/>
        </p:nvSpPr>
        <p:spPr>
          <a:xfrm>
            <a:off x="8330184" y="3456432"/>
            <a:ext cx="2816352" cy="1143000"/>
          </a:xfrm>
          <a:prstGeom prst="rect">
            <a:avLst/>
          </a:prstGeom>
          <a:noFill/>
          <a:ln/>
        </p:spPr>
        <p:txBody>
          <a:bodyPr wrap="square" lIns="0" tIns="0" rIns="0" bIns="0" rtlCol="0" anchor="ctr"/>
          <a:lstStyle/>
          <a:p>
            <a:pPr indent="0" marL="0">
              <a:lnSpc>
                <a:spcPts val="1800"/>
              </a:lnSpc>
              <a:buNone/>
            </a:pPr>
            <a:r>
              <a:rPr lang="en-US" sz="1250" dirty="0">
                <a:solidFill>
                  <a:srgbClr val="95A3B8"/>
                </a:solidFill>
                <a:latin typeface="Calibri" pitchFamily="34" charset="0"/>
                <a:ea typeface="Calibri" pitchFamily="34" charset="-122"/>
                <a:cs typeface="Calibri" pitchFamily="34" charset="-120"/>
              </a:rPr>
              <a:t>Invisible : occupée dans le système, vide dans la réalité. Sans mesure de présence, rien ne se libère.</a:t>
            </a:r>
            <a:endParaRPr lang="en-US" sz="1250" dirty="0"/>
          </a:p>
        </p:txBody>
      </p:sp>
      <p:sp>
        <p:nvSpPr>
          <p:cNvPr id="22" name="Text 19"/>
          <p:cNvSpPr txBox="1"/>
          <p:nvPr/>
        </p:nvSpPr>
        <p:spPr>
          <a:xfrm>
            <a:off x="685800" y="5120640"/>
            <a:ext cx="10820095" cy="365760"/>
          </a:xfrm>
          <a:prstGeom prst="rect">
            <a:avLst/>
          </a:prstGeom>
          <a:noFill/>
          <a:ln/>
        </p:spPr>
        <p:txBody>
          <a:bodyPr wrap="square" lIns="0" tIns="0" rIns="0" bIns="0" rtlCol="0" anchor="ctr"/>
          <a:lstStyle/>
          <a:p>
            <a:pPr indent="0" marL="0">
              <a:buNone/>
            </a:pPr>
            <a:r>
              <a:rPr lang="en-US" sz="1400" i="1" dirty="0">
                <a:solidFill>
                  <a:srgbClr val="6B7789"/>
                </a:solidFill>
                <a:latin typeface="Calibri" pitchFamily="34" charset="0"/>
                <a:ea typeface="Calibri" pitchFamily="34" charset="-122"/>
                <a:cs typeface="Calibri" pitchFamily="34" charset="-120"/>
              </a:rPr>
              <a:t>Le troisième est le moins visible et le plus coûteux : aucune des solutions gratuites étudiées ne le traite.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85800" y="384048"/>
            <a:ext cx="10820095" cy="237744"/>
          </a:xfrm>
          <a:prstGeom prst="rect">
            <a:avLst/>
          </a:prstGeom>
          <a:noFill/>
          <a:ln/>
        </p:spPr>
        <p:txBody>
          <a:bodyPr wrap="square" lIns="0" tIns="0" rIns="0" bIns="0" rtlCol="0" anchor="ctr"/>
          <a:lstStyle/>
          <a:p>
            <a:pPr indent="0" marL="0">
              <a:buNone/>
            </a:pPr>
            <a:r>
              <a:rPr lang="en-US" sz="1100" b="1" spc="200" kern="0" dirty="0">
                <a:solidFill>
                  <a:srgbClr val="5B9BFF"/>
                </a:solidFill>
                <a:latin typeface="Calibri" pitchFamily="34" charset="0"/>
                <a:ea typeface="Calibri" pitchFamily="34" charset="-122"/>
                <a:cs typeface="Calibri" pitchFamily="34" charset="-120"/>
              </a:rPr>
              <a:t>2 — PROBLÉMATIQUE ET OBJECTIFS</a:t>
            </a:r>
            <a:endParaRPr lang="en-US" sz="1100" dirty="0"/>
          </a:p>
        </p:txBody>
      </p:sp>
      <p:sp>
        <p:nvSpPr>
          <p:cNvPr id="3" name="Text 1"/>
          <p:cNvSpPr txBox="1"/>
          <p:nvPr/>
        </p:nvSpPr>
        <p:spPr>
          <a:xfrm>
            <a:off x="685800" y="658368"/>
            <a:ext cx="9997135" cy="777240"/>
          </a:xfrm>
          <a:prstGeom prst="rect">
            <a:avLst/>
          </a:prstGeom>
          <a:noFill/>
          <a:ln/>
        </p:spPr>
        <p:txBody>
          <a:bodyPr wrap="square" lIns="0" tIns="0" rIns="0" bIns="0" rtlCol="0" anchor="t"/>
          <a:lstStyle/>
          <a:p>
            <a:pPr indent="0" marL="0">
              <a:buNone/>
            </a:pPr>
            <a:r>
              <a:rPr lang="en-US" sz="3200" b="1" dirty="0">
                <a:solidFill>
                  <a:srgbClr val="E8EEF7"/>
                </a:solidFill>
                <a:latin typeface="Calibri" pitchFamily="34" charset="0"/>
                <a:ea typeface="Calibri" pitchFamily="34" charset="-122"/>
                <a:cs typeface="Calibri" pitchFamily="34" charset="-120"/>
              </a:rPr>
              <a:t>Correction, utilité, robustesse</a:t>
            </a:r>
            <a:endParaRPr lang="en-US" sz="3200" dirty="0"/>
          </a:p>
        </p:txBody>
      </p:sp>
      <p:sp>
        <p:nvSpPr>
          <p:cNvPr id="4" name="Shape 2"/>
          <p:cNvSpPr/>
          <p:nvPr/>
        </p:nvSpPr>
        <p:spPr>
          <a:xfrm>
            <a:off x="11292840" y="6144768"/>
            <a:ext cx="365760" cy="365760"/>
          </a:xfrm>
          <a:prstGeom prst="ellipse">
            <a:avLst/>
          </a:prstGeom>
          <a:solidFill>
            <a:srgbClr val="232E42"/>
          </a:solidFill>
          <a:ln w="12700">
            <a:solidFill>
              <a:srgbClr val="232E42"/>
            </a:solidFill>
            <a:prstDash val="solid"/>
          </a:ln>
        </p:spPr>
      </p:sp>
      <p:sp>
        <p:nvSpPr>
          <p:cNvPr id="5" name="Text 3"/>
          <p:cNvSpPr txBox="1"/>
          <p:nvPr/>
        </p:nvSpPr>
        <p:spPr>
          <a:xfrm>
            <a:off x="11292840" y="6144768"/>
            <a:ext cx="365760" cy="365760"/>
          </a:xfrm>
          <a:prstGeom prst="rect">
            <a:avLst/>
          </a:prstGeom>
          <a:noFill/>
          <a:ln/>
        </p:spPr>
        <p:txBody>
          <a:bodyPr wrap="square" lIns="0" tIns="0" rIns="0" bIns="0" rtlCol="0" anchor="ctr"/>
          <a:lstStyle/>
          <a:p>
            <a:pPr algn="ctr" indent="0" marL="0">
              <a:buNone/>
            </a:pPr>
            <a:r>
              <a:rPr lang="en-US" sz="1100" b="1" dirty="0">
                <a:solidFill>
                  <a:srgbClr val="95A3B8"/>
                </a:solidFill>
                <a:latin typeface="Calibri" pitchFamily="34" charset="0"/>
                <a:ea typeface="Calibri" pitchFamily="34" charset="-122"/>
                <a:cs typeface="Calibri" pitchFamily="34" charset="-120"/>
              </a:rPr>
              <a:t>3</a:t>
            </a:r>
            <a:endParaRPr lang="en-US" sz="1100" dirty="0"/>
          </a:p>
        </p:txBody>
      </p:sp>
      <p:sp>
        <p:nvSpPr>
          <p:cNvPr id="7" name="Shape 4"/>
          <p:cNvSpPr/>
          <p:nvPr/>
        </p:nvSpPr>
        <p:spPr>
          <a:xfrm>
            <a:off x="685800" y="1554480"/>
            <a:ext cx="10820095" cy="1051560"/>
          </a:xfrm>
          <a:prstGeom prst="roundRect">
            <a:avLst>
              <a:gd name="adj" fmla="val 6957"/>
            </a:avLst>
          </a:prstGeom>
          <a:solidFill>
            <a:srgbClr val="1B3358"/>
          </a:solidFill>
          <a:ln w="12700">
            <a:solidFill>
              <a:srgbClr val="232E42"/>
            </a:solidFill>
            <a:prstDash val="solid"/>
          </a:ln>
        </p:spPr>
      </p:sp>
      <p:sp>
        <p:nvSpPr>
          <p:cNvPr id="8" name="Text 5"/>
          <p:cNvSpPr txBox="1"/>
          <p:nvPr/>
        </p:nvSpPr>
        <p:spPr>
          <a:xfrm>
            <a:off x="1005840" y="1719072"/>
            <a:ext cx="10180015" cy="777240"/>
          </a:xfrm>
          <a:prstGeom prst="rect">
            <a:avLst/>
          </a:prstGeom>
          <a:noFill/>
          <a:ln/>
        </p:spPr>
        <p:txBody>
          <a:bodyPr wrap="square" lIns="0" tIns="0" rIns="0" bIns="0" rtlCol="0" anchor="ctr"/>
          <a:lstStyle/>
          <a:p>
            <a:pPr indent="0" marL="0">
              <a:lnSpc>
                <a:spcPts val="2200"/>
              </a:lnSpc>
              <a:buNone/>
            </a:pPr>
            <a:r>
              <a:rPr lang="en-US" sz="1500" b="1" dirty="0">
                <a:solidFill>
                  <a:srgbClr val="E8EEF7"/>
                </a:solidFill>
                <a:latin typeface="Calibri" pitchFamily="34" charset="0"/>
                <a:ea typeface="Calibri" pitchFamily="34" charset="-122"/>
                <a:cs typeface="Calibri" pitchFamily="34" charset="-120"/>
              </a:rPr>
              <a:t>Comment garantir l’absence de double réservation quelles que soient les conditions de concurrence, assister réellement l’utilisateur dans son choix, et rester fonctionnel lorsque les composants d’intelligence artificielle sont indisponibles ?</a:t>
            </a:r>
            <a:endParaRPr lang="en-US" sz="1500" dirty="0"/>
          </a:p>
        </p:txBody>
      </p:sp>
      <p:sp>
        <p:nvSpPr>
          <p:cNvPr id="9" name="Text 6"/>
          <p:cNvSpPr txBox="1"/>
          <p:nvPr/>
        </p:nvSpPr>
        <p:spPr>
          <a:xfrm>
            <a:off x="685800" y="2926080"/>
            <a:ext cx="548640" cy="274320"/>
          </a:xfrm>
          <a:prstGeom prst="rect">
            <a:avLst/>
          </a:prstGeom>
          <a:noFill/>
          <a:ln/>
        </p:spPr>
        <p:txBody>
          <a:bodyPr wrap="square" lIns="0" tIns="0" rIns="0" bIns="0" rtlCol="0" anchor="ctr"/>
          <a:lstStyle/>
          <a:p>
            <a:pPr indent="0" marL="0">
              <a:buNone/>
            </a:pPr>
            <a:r>
              <a:rPr lang="en-US" sz="1400" b="1" dirty="0">
                <a:solidFill>
                  <a:srgbClr val="5B9BFF"/>
                </a:solidFill>
                <a:latin typeface="Calibri" pitchFamily="34" charset="0"/>
                <a:ea typeface="Calibri" pitchFamily="34" charset="-122"/>
                <a:cs typeface="Calibri" pitchFamily="34" charset="-120"/>
              </a:rPr>
              <a:t>O1</a:t>
            </a:r>
            <a:endParaRPr lang="en-US" sz="1400" dirty="0"/>
          </a:p>
        </p:txBody>
      </p:sp>
      <p:sp>
        <p:nvSpPr>
          <p:cNvPr id="10" name="Text 7"/>
          <p:cNvSpPr txBox="1"/>
          <p:nvPr/>
        </p:nvSpPr>
        <p:spPr>
          <a:xfrm>
            <a:off x="1252728" y="2926080"/>
            <a:ext cx="4663440" cy="274320"/>
          </a:xfrm>
          <a:prstGeom prst="rect">
            <a:avLst/>
          </a:prstGeom>
          <a:noFill/>
          <a:ln/>
        </p:spPr>
        <p:txBody>
          <a:bodyPr wrap="square" lIns="0" tIns="0" rIns="0" bIns="0" rtlCol="0" anchor="ctr"/>
          <a:lstStyle/>
          <a:p>
            <a:pPr indent="0" marL="0">
              <a:buNone/>
            </a:pPr>
            <a:r>
              <a:rPr lang="en-US" sz="1450" b="1" dirty="0">
                <a:solidFill>
                  <a:srgbClr val="E8EEF7"/>
                </a:solidFill>
                <a:latin typeface="Calibri" pitchFamily="34" charset="0"/>
                <a:ea typeface="Calibri" pitchFamily="34" charset="-122"/>
                <a:cs typeface="Calibri" pitchFamily="34" charset="-120"/>
              </a:rPr>
              <a:t>Le double créneau est impossible</a:t>
            </a:r>
            <a:endParaRPr lang="en-US" sz="1450" dirty="0"/>
          </a:p>
        </p:txBody>
      </p:sp>
      <p:sp>
        <p:nvSpPr>
          <p:cNvPr id="11" name="Text 8"/>
          <p:cNvSpPr txBox="1"/>
          <p:nvPr/>
        </p:nvSpPr>
        <p:spPr>
          <a:xfrm>
            <a:off x="1252728" y="3218688"/>
            <a:ext cx="4663440" cy="274320"/>
          </a:xfrm>
          <a:prstGeom prst="rect">
            <a:avLst/>
          </a:prstGeom>
          <a:noFill/>
          <a:ln/>
        </p:spPr>
        <p:txBody>
          <a:bodyPr wrap="square" lIns="0" tIns="0" rIns="0" bIns="0" rtlCol="0" anchor="ctr"/>
          <a:lstStyle/>
          <a:p>
            <a:pPr indent="0" marL="0">
              <a:buNone/>
            </a:pPr>
            <a:r>
              <a:rPr lang="en-US" sz="1200" dirty="0">
                <a:solidFill>
                  <a:srgbClr val="95A3B8"/>
                </a:solidFill>
                <a:latin typeface="Calibri" pitchFamily="34" charset="0"/>
                <a:ea typeface="Calibri" pitchFamily="34" charset="-122"/>
                <a:cs typeface="Calibri" pitchFamily="34" charset="-120"/>
              </a:rPr>
              <a:t>1 demande sur 10 aboutit, en concurrence</a:t>
            </a:r>
            <a:endParaRPr lang="en-US" sz="1200" dirty="0"/>
          </a:p>
        </p:txBody>
      </p:sp>
      <p:sp>
        <p:nvSpPr>
          <p:cNvPr id="12" name="Text 9"/>
          <p:cNvSpPr txBox="1"/>
          <p:nvPr/>
        </p:nvSpPr>
        <p:spPr>
          <a:xfrm>
            <a:off x="6172200" y="2926080"/>
            <a:ext cx="548640" cy="274320"/>
          </a:xfrm>
          <a:prstGeom prst="rect">
            <a:avLst/>
          </a:prstGeom>
          <a:noFill/>
          <a:ln/>
        </p:spPr>
        <p:txBody>
          <a:bodyPr wrap="square" lIns="0" tIns="0" rIns="0" bIns="0" rtlCol="0" anchor="ctr"/>
          <a:lstStyle/>
          <a:p>
            <a:pPr indent="0" marL="0">
              <a:buNone/>
            </a:pPr>
            <a:r>
              <a:rPr lang="en-US" sz="1400" b="1" dirty="0">
                <a:solidFill>
                  <a:srgbClr val="5B9BFF"/>
                </a:solidFill>
                <a:latin typeface="Calibri" pitchFamily="34" charset="0"/>
                <a:ea typeface="Calibri" pitchFamily="34" charset="-122"/>
                <a:cs typeface="Calibri" pitchFamily="34" charset="-120"/>
              </a:rPr>
              <a:t>O2</a:t>
            </a:r>
            <a:endParaRPr lang="en-US" sz="1400" dirty="0"/>
          </a:p>
        </p:txBody>
      </p:sp>
      <p:sp>
        <p:nvSpPr>
          <p:cNvPr id="13" name="Text 10"/>
          <p:cNvSpPr txBox="1"/>
          <p:nvPr/>
        </p:nvSpPr>
        <p:spPr>
          <a:xfrm>
            <a:off x="6739128" y="2926080"/>
            <a:ext cx="4663440" cy="274320"/>
          </a:xfrm>
          <a:prstGeom prst="rect">
            <a:avLst/>
          </a:prstGeom>
          <a:noFill/>
          <a:ln/>
        </p:spPr>
        <p:txBody>
          <a:bodyPr wrap="square" lIns="0" tIns="0" rIns="0" bIns="0" rtlCol="0" anchor="ctr"/>
          <a:lstStyle/>
          <a:p>
            <a:pPr indent="0" marL="0">
              <a:buNone/>
            </a:pPr>
            <a:r>
              <a:rPr lang="en-US" sz="1450" b="1" dirty="0">
                <a:solidFill>
                  <a:srgbClr val="E8EEF7"/>
                </a:solidFill>
                <a:latin typeface="Calibri" pitchFamily="34" charset="0"/>
                <a:ea typeface="Calibri" pitchFamily="34" charset="-122"/>
                <a:cs typeface="Calibri" pitchFamily="34" charset="-120"/>
              </a:rPr>
              <a:t>Le choix de la salle est assisté</a:t>
            </a:r>
            <a:endParaRPr lang="en-US" sz="1450" dirty="0"/>
          </a:p>
        </p:txBody>
      </p:sp>
      <p:sp>
        <p:nvSpPr>
          <p:cNvPr id="14" name="Text 11"/>
          <p:cNvSpPr txBox="1"/>
          <p:nvPr/>
        </p:nvSpPr>
        <p:spPr>
          <a:xfrm>
            <a:off x="6739128" y="3218688"/>
            <a:ext cx="4663440" cy="274320"/>
          </a:xfrm>
          <a:prstGeom prst="rect">
            <a:avLst/>
          </a:prstGeom>
          <a:noFill/>
          <a:ln/>
        </p:spPr>
        <p:txBody>
          <a:bodyPr wrap="square" lIns="0" tIns="0" rIns="0" bIns="0" rtlCol="0" anchor="ctr"/>
          <a:lstStyle/>
          <a:p>
            <a:pPr indent="0" marL="0">
              <a:buNone/>
            </a:pPr>
            <a:r>
              <a:rPr lang="en-US" sz="1200" dirty="0">
                <a:solidFill>
                  <a:srgbClr val="95A3B8"/>
                </a:solidFill>
                <a:latin typeface="Calibri" pitchFamily="34" charset="0"/>
                <a:ea typeface="Calibri" pitchFamily="34" charset="-122"/>
                <a:cs typeface="Calibri" pitchFamily="34" charset="-120"/>
              </a:rPr>
              <a:t>classement ordonné et justifié</a:t>
            </a:r>
            <a:endParaRPr lang="en-US" sz="1200" dirty="0"/>
          </a:p>
        </p:txBody>
      </p:sp>
      <p:sp>
        <p:nvSpPr>
          <p:cNvPr id="15" name="Text 12"/>
          <p:cNvSpPr txBox="1"/>
          <p:nvPr/>
        </p:nvSpPr>
        <p:spPr>
          <a:xfrm>
            <a:off x="685800" y="3840480"/>
            <a:ext cx="548640" cy="274320"/>
          </a:xfrm>
          <a:prstGeom prst="rect">
            <a:avLst/>
          </a:prstGeom>
          <a:noFill/>
          <a:ln/>
        </p:spPr>
        <p:txBody>
          <a:bodyPr wrap="square" lIns="0" tIns="0" rIns="0" bIns="0" rtlCol="0" anchor="ctr"/>
          <a:lstStyle/>
          <a:p>
            <a:pPr indent="0" marL="0">
              <a:buNone/>
            </a:pPr>
            <a:r>
              <a:rPr lang="en-US" sz="1400" b="1" dirty="0">
                <a:solidFill>
                  <a:srgbClr val="5B9BFF"/>
                </a:solidFill>
                <a:latin typeface="Calibri" pitchFamily="34" charset="0"/>
                <a:ea typeface="Calibri" pitchFamily="34" charset="-122"/>
                <a:cs typeface="Calibri" pitchFamily="34" charset="-120"/>
              </a:rPr>
              <a:t>O3</a:t>
            </a:r>
            <a:endParaRPr lang="en-US" sz="1400" dirty="0"/>
          </a:p>
        </p:txBody>
      </p:sp>
      <p:sp>
        <p:nvSpPr>
          <p:cNvPr id="16" name="Text 13"/>
          <p:cNvSpPr txBox="1"/>
          <p:nvPr/>
        </p:nvSpPr>
        <p:spPr>
          <a:xfrm>
            <a:off x="1252728" y="3840480"/>
            <a:ext cx="4663440" cy="274320"/>
          </a:xfrm>
          <a:prstGeom prst="rect">
            <a:avLst/>
          </a:prstGeom>
          <a:noFill/>
          <a:ln/>
        </p:spPr>
        <p:txBody>
          <a:bodyPr wrap="square" lIns="0" tIns="0" rIns="0" bIns="0" rtlCol="0" anchor="ctr"/>
          <a:lstStyle/>
          <a:p>
            <a:pPr indent="0" marL="0">
              <a:buNone/>
            </a:pPr>
            <a:r>
              <a:rPr lang="en-US" sz="1450" b="1" dirty="0">
                <a:solidFill>
                  <a:srgbClr val="E8EEF7"/>
                </a:solidFill>
                <a:latin typeface="Calibri" pitchFamily="34" charset="0"/>
                <a:ea typeface="Calibri" pitchFamily="34" charset="-122"/>
                <a:cs typeface="Calibri" pitchFamily="34" charset="-120"/>
              </a:rPr>
              <a:t>Les créneaux non honorés se libèrent</a:t>
            </a:r>
            <a:endParaRPr lang="en-US" sz="1450" dirty="0"/>
          </a:p>
        </p:txBody>
      </p:sp>
      <p:sp>
        <p:nvSpPr>
          <p:cNvPr id="17" name="Text 14"/>
          <p:cNvSpPr txBox="1"/>
          <p:nvPr/>
        </p:nvSpPr>
        <p:spPr>
          <a:xfrm>
            <a:off x="1252728" y="4133088"/>
            <a:ext cx="4663440" cy="274320"/>
          </a:xfrm>
          <a:prstGeom prst="rect">
            <a:avLst/>
          </a:prstGeom>
          <a:noFill/>
          <a:ln/>
        </p:spPr>
        <p:txBody>
          <a:bodyPr wrap="square" lIns="0" tIns="0" rIns="0" bIns="0" rtlCol="0" anchor="ctr"/>
          <a:lstStyle/>
          <a:p>
            <a:pPr indent="0" marL="0">
              <a:buNone/>
            </a:pPr>
            <a:r>
              <a:rPr lang="en-US" sz="1200" dirty="0">
                <a:solidFill>
                  <a:srgbClr val="95A3B8"/>
                </a:solidFill>
                <a:latin typeface="Calibri" pitchFamily="34" charset="0"/>
                <a:ea typeface="Calibri" pitchFamily="34" charset="-122"/>
                <a:cs typeface="Calibri" pitchFamily="34" charset="-120"/>
              </a:rPr>
              <a:t>validation de présence bornée</a:t>
            </a:r>
            <a:endParaRPr lang="en-US" sz="1200" dirty="0"/>
          </a:p>
        </p:txBody>
      </p:sp>
      <p:sp>
        <p:nvSpPr>
          <p:cNvPr id="18" name="Text 15"/>
          <p:cNvSpPr txBox="1"/>
          <p:nvPr/>
        </p:nvSpPr>
        <p:spPr>
          <a:xfrm>
            <a:off x="6172200" y="3840480"/>
            <a:ext cx="548640" cy="274320"/>
          </a:xfrm>
          <a:prstGeom prst="rect">
            <a:avLst/>
          </a:prstGeom>
          <a:noFill/>
          <a:ln/>
        </p:spPr>
        <p:txBody>
          <a:bodyPr wrap="square" lIns="0" tIns="0" rIns="0" bIns="0" rtlCol="0" anchor="ctr"/>
          <a:lstStyle/>
          <a:p>
            <a:pPr indent="0" marL="0">
              <a:buNone/>
            </a:pPr>
            <a:r>
              <a:rPr lang="en-US" sz="1400" b="1" dirty="0">
                <a:solidFill>
                  <a:srgbClr val="5B9BFF"/>
                </a:solidFill>
                <a:latin typeface="Calibri" pitchFamily="34" charset="0"/>
                <a:ea typeface="Calibri" pitchFamily="34" charset="-122"/>
                <a:cs typeface="Calibri" pitchFamily="34" charset="-120"/>
              </a:rPr>
              <a:t>O4</a:t>
            </a:r>
            <a:endParaRPr lang="en-US" sz="1400" dirty="0"/>
          </a:p>
        </p:txBody>
      </p:sp>
      <p:sp>
        <p:nvSpPr>
          <p:cNvPr id="19" name="Text 16"/>
          <p:cNvSpPr txBox="1"/>
          <p:nvPr/>
        </p:nvSpPr>
        <p:spPr>
          <a:xfrm>
            <a:off x="6739128" y="3840480"/>
            <a:ext cx="4663440" cy="274320"/>
          </a:xfrm>
          <a:prstGeom prst="rect">
            <a:avLst/>
          </a:prstGeom>
          <a:noFill/>
          <a:ln/>
        </p:spPr>
        <p:txBody>
          <a:bodyPr wrap="square" lIns="0" tIns="0" rIns="0" bIns="0" rtlCol="0" anchor="ctr"/>
          <a:lstStyle/>
          <a:p>
            <a:pPr indent="0" marL="0">
              <a:buNone/>
            </a:pPr>
            <a:r>
              <a:rPr lang="en-US" sz="1450" b="1" dirty="0">
                <a:solidFill>
                  <a:srgbClr val="E8EEF7"/>
                </a:solidFill>
                <a:latin typeface="Calibri" pitchFamily="34" charset="0"/>
                <a:ea typeface="Calibri" pitchFamily="34" charset="-122"/>
                <a:cs typeface="Calibri" pitchFamily="34" charset="-120"/>
              </a:rPr>
              <a:t>L’administration est complète</a:t>
            </a:r>
            <a:endParaRPr lang="en-US" sz="1450" dirty="0"/>
          </a:p>
        </p:txBody>
      </p:sp>
      <p:sp>
        <p:nvSpPr>
          <p:cNvPr id="20" name="Text 17"/>
          <p:cNvSpPr txBox="1"/>
          <p:nvPr/>
        </p:nvSpPr>
        <p:spPr>
          <a:xfrm>
            <a:off x="6739128" y="4133088"/>
            <a:ext cx="4663440" cy="274320"/>
          </a:xfrm>
          <a:prstGeom prst="rect">
            <a:avLst/>
          </a:prstGeom>
          <a:noFill/>
          <a:ln/>
        </p:spPr>
        <p:txBody>
          <a:bodyPr wrap="square" lIns="0" tIns="0" rIns="0" bIns="0" rtlCol="0" anchor="ctr"/>
          <a:lstStyle/>
          <a:p>
            <a:pPr indent="0" marL="0">
              <a:buNone/>
            </a:pPr>
            <a:r>
              <a:rPr lang="en-US" sz="1200" dirty="0">
                <a:solidFill>
                  <a:srgbClr val="95A3B8"/>
                </a:solidFill>
                <a:latin typeface="Calibri" pitchFamily="34" charset="0"/>
                <a:ea typeface="Calibri" pitchFamily="34" charset="-122"/>
                <a:cs typeface="Calibri" pitchFamily="34" charset="-120"/>
              </a:rPr>
              <a:t>7 permissions cloisonnées</a:t>
            </a:r>
            <a:endParaRPr lang="en-US" sz="1200" dirty="0"/>
          </a:p>
        </p:txBody>
      </p:sp>
      <p:sp>
        <p:nvSpPr>
          <p:cNvPr id="21" name="Text 18"/>
          <p:cNvSpPr txBox="1"/>
          <p:nvPr/>
        </p:nvSpPr>
        <p:spPr>
          <a:xfrm>
            <a:off x="685800" y="4754880"/>
            <a:ext cx="548640" cy="274320"/>
          </a:xfrm>
          <a:prstGeom prst="rect">
            <a:avLst/>
          </a:prstGeom>
          <a:noFill/>
          <a:ln/>
        </p:spPr>
        <p:txBody>
          <a:bodyPr wrap="square" lIns="0" tIns="0" rIns="0" bIns="0" rtlCol="0" anchor="ctr"/>
          <a:lstStyle/>
          <a:p>
            <a:pPr indent="0" marL="0">
              <a:buNone/>
            </a:pPr>
            <a:r>
              <a:rPr lang="en-US" sz="1400" b="1" dirty="0">
                <a:solidFill>
                  <a:srgbClr val="5B9BFF"/>
                </a:solidFill>
                <a:latin typeface="Calibri" pitchFamily="34" charset="0"/>
                <a:ea typeface="Calibri" pitchFamily="34" charset="-122"/>
                <a:cs typeface="Calibri" pitchFamily="34" charset="-120"/>
              </a:rPr>
              <a:t>O5</a:t>
            </a:r>
            <a:endParaRPr lang="en-US" sz="1400" dirty="0"/>
          </a:p>
        </p:txBody>
      </p:sp>
      <p:sp>
        <p:nvSpPr>
          <p:cNvPr id="22" name="Text 19"/>
          <p:cNvSpPr txBox="1"/>
          <p:nvPr/>
        </p:nvSpPr>
        <p:spPr>
          <a:xfrm>
            <a:off x="1252728" y="4754880"/>
            <a:ext cx="4663440" cy="274320"/>
          </a:xfrm>
          <a:prstGeom prst="rect">
            <a:avLst/>
          </a:prstGeom>
          <a:noFill/>
          <a:ln/>
        </p:spPr>
        <p:txBody>
          <a:bodyPr wrap="square" lIns="0" tIns="0" rIns="0" bIns="0" rtlCol="0" anchor="ctr"/>
          <a:lstStyle/>
          <a:p>
            <a:pPr indent="0" marL="0">
              <a:buNone/>
            </a:pPr>
            <a:r>
              <a:rPr lang="en-US" sz="1450" b="1" dirty="0">
                <a:solidFill>
                  <a:srgbClr val="E8EEF7"/>
                </a:solidFill>
                <a:latin typeface="Calibri" pitchFamily="34" charset="0"/>
                <a:ea typeface="Calibri" pitchFamily="34" charset="-122"/>
                <a:cs typeface="Calibri" pitchFamily="34" charset="-120"/>
              </a:rPr>
              <a:t>L’assistant s’appuie sur la base réelle</a:t>
            </a:r>
            <a:endParaRPr lang="en-US" sz="1450" dirty="0"/>
          </a:p>
        </p:txBody>
      </p:sp>
      <p:sp>
        <p:nvSpPr>
          <p:cNvPr id="23" name="Text 20"/>
          <p:cNvSpPr txBox="1"/>
          <p:nvPr/>
        </p:nvSpPr>
        <p:spPr>
          <a:xfrm>
            <a:off x="1252728" y="5047488"/>
            <a:ext cx="4663440" cy="274320"/>
          </a:xfrm>
          <a:prstGeom prst="rect">
            <a:avLst/>
          </a:prstGeom>
          <a:noFill/>
          <a:ln/>
        </p:spPr>
        <p:txBody>
          <a:bodyPr wrap="square" lIns="0" tIns="0" rIns="0" bIns="0" rtlCol="0" anchor="ctr"/>
          <a:lstStyle/>
          <a:p>
            <a:pPr indent="0" marL="0">
              <a:buNone/>
            </a:pPr>
            <a:r>
              <a:rPr lang="en-US" sz="1200" dirty="0">
                <a:solidFill>
                  <a:srgbClr val="95A3B8"/>
                </a:solidFill>
                <a:latin typeface="Calibri" pitchFamily="34" charset="0"/>
                <a:ea typeface="Calibri" pitchFamily="34" charset="-122"/>
                <a:cs typeface="Calibri" pitchFamily="34" charset="-120"/>
              </a:rPr>
              <a:t>14 outils, jamais sur une supposition</a:t>
            </a:r>
            <a:endParaRPr lang="en-US" sz="1200" dirty="0"/>
          </a:p>
        </p:txBody>
      </p:sp>
      <p:sp>
        <p:nvSpPr>
          <p:cNvPr id="24" name="Text 21"/>
          <p:cNvSpPr txBox="1"/>
          <p:nvPr/>
        </p:nvSpPr>
        <p:spPr>
          <a:xfrm>
            <a:off x="6172200" y="4754880"/>
            <a:ext cx="548640" cy="274320"/>
          </a:xfrm>
          <a:prstGeom prst="rect">
            <a:avLst/>
          </a:prstGeom>
          <a:noFill/>
          <a:ln/>
        </p:spPr>
        <p:txBody>
          <a:bodyPr wrap="square" lIns="0" tIns="0" rIns="0" bIns="0" rtlCol="0" anchor="ctr"/>
          <a:lstStyle/>
          <a:p>
            <a:pPr indent="0" marL="0">
              <a:buNone/>
            </a:pPr>
            <a:r>
              <a:rPr lang="en-US" sz="1400" b="1" dirty="0">
                <a:solidFill>
                  <a:srgbClr val="5B9BFF"/>
                </a:solidFill>
                <a:latin typeface="Calibri" pitchFamily="34" charset="0"/>
                <a:ea typeface="Calibri" pitchFamily="34" charset="-122"/>
                <a:cs typeface="Calibri" pitchFamily="34" charset="-120"/>
              </a:rPr>
              <a:t>O6</a:t>
            </a:r>
            <a:endParaRPr lang="en-US" sz="1400" dirty="0"/>
          </a:p>
        </p:txBody>
      </p:sp>
      <p:sp>
        <p:nvSpPr>
          <p:cNvPr id="25" name="Text 22"/>
          <p:cNvSpPr txBox="1"/>
          <p:nvPr/>
        </p:nvSpPr>
        <p:spPr>
          <a:xfrm>
            <a:off x="6739128" y="4754880"/>
            <a:ext cx="4663440" cy="274320"/>
          </a:xfrm>
          <a:prstGeom prst="rect">
            <a:avLst/>
          </a:prstGeom>
          <a:noFill/>
          <a:ln/>
        </p:spPr>
        <p:txBody>
          <a:bodyPr wrap="square" lIns="0" tIns="0" rIns="0" bIns="0" rtlCol="0" anchor="ctr"/>
          <a:lstStyle/>
          <a:p>
            <a:pPr indent="0" marL="0">
              <a:buNone/>
            </a:pPr>
            <a:r>
              <a:rPr lang="en-US" sz="1450" b="1" dirty="0">
                <a:solidFill>
                  <a:srgbClr val="E8EEF7"/>
                </a:solidFill>
                <a:latin typeface="Calibri" pitchFamily="34" charset="0"/>
                <a:ea typeface="Calibri" pitchFamily="34" charset="-122"/>
                <a:cs typeface="Calibri" pitchFamily="34" charset="-120"/>
              </a:rPr>
              <a:t>La dégradation reste propre</a:t>
            </a:r>
            <a:endParaRPr lang="en-US" sz="1450" dirty="0"/>
          </a:p>
        </p:txBody>
      </p:sp>
      <p:sp>
        <p:nvSpPr>
          <p:cNvPr id="26" name="Text 23"/>
          <p:cNvSpPr txBox="1"/>
          <p:nvPr/>
        </p:nvSpPr>
        <p:spPr>
          <a:xfrm>
            <a:off x="6739128" y="5047488"/>
            <a:ext cx="4663440" cy="274320"/>
          </a:xfrm>
          <a:prstGeom prst="rect">
            <a:avLst/>
          </a:prstGeom>
          <a:noFill/>
          <a:ln/>
        </p:spPr>
        <p:txBody>
          <a:bodyPr wrap="square" lIns="0" tIns="0" rIns="0" bIns="0" rtlCol="0" anchor="ctr"/>
          <a:lstStyle/>
          <a:p>
            <a:pPr indent="0" marL="0">
              <a:buNone/>
            </a:pPr>
            <a:r>
              <a:rPr lang="en-US" sz="1200" dirty="0">
                <a:solidFill>
                  <a:srgbClr val="95A3B8"/>
                </a:solidFill>
                <a:latin typeface="Calibri" pitchFamily="34" charset="0"/>
                <a:ea typeface="Calibri" pitchFamily="34" charset="-122"/>
                <a:cs typeface="Calibri" pitchFamily="34" charset="-120"/>
              </a:rPr>
              <a:t>sans modèle, l’application fonctionne</a:t>
            </a:r>
            <a:endParaRPr lang="en-US" sz="1200" dirty="0"/>
          </a:p>
        </p:txBody>
      </p:sp>
      <p:sp>
        <p:nvSpPr>
          <p:cNvPr id="27" name="Text 24"/>
          <p:cNvSpPr txBox="1"/>
          <p:nvPr/>
        </p:nvSpPr>
        <p:spPr>
          <a:xfrm>
            <a:off x="685800" y="5779008"/>
            <a:ext cx="10820095" cy="320040"/>
          </a:xfrm>
          <a:prstGeom prst="rect">
            <a:avLst/>
          </a:prstGeom>
          <a:noFill/>
          <a:ln/>
        </p:spPr>
        <p:txBody>
          <a:bodyPr wrap="square" lIns="0" tIns="0" rIns="0" bIns="0" rtlCol="0" anchor="ctr"/>
          <a:lstStyle/>
          <a:p>
            <a:pPr indent="0" marL="0">
              <a:buNone/>
            </a:pPr>
            <a:r>
              <a:rPr lang="en-US" sz="1300" i="1" dirty="0">
                <a:solidFill>
                  <a:srgbClr val="6B7789"/>
                </a:solidFill>
                <a:latin typeface="Calibri" pitchFamily="34" charset="0"/>
                <a:ea typeface="Calibri" pitchFamily="34" charset="-122"/>
                <a:cs typeface="Calibri" pitchFamily="34" charset="-120"/>
              </a:rPr>
              <a:t>Chaque objectif a été assorti d’un critère de réussite énoncé avant la réalisation.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85800" y="384048"/>
            <a:ext cx="10820095" cy="237744"/>
          </a:xfrm>
          <a:prstGeom prst="rect">
            <a:avLst/>
          </a:prstGeom>
          <a:noFill/>
          <a:ln/>
        </p:spPr>
        <p:txBody>
          <a:bodyPr wrap="square" lIns="0" tIns="0" rIns="0" bIns="0" rtlCol="0" anchor="ctr"/>
          <a:lstStyle/>
          <a:p>
            <a:pPr indent="0" marL="0">
              <a:buNone/>
            </a:pPr>
            <a:r>
              <a:rPr lang="en-US" sz="1100" b="1" spc="200" kern="0" dirty="0">
                <a:solidFill>
                  <a:srgbClr val="5B9BFF"/>
                </a:solidFill>
                <a:latin typeface="Calibri" pitchFamily="34" charset="0"/>
                <a:ea typeface="Calibri" pitchFamily="34" charset="-122"/>
                <a:cs typeface="Calibri" pitchFamily="34" charset="-120"/>
              </a:rPr>
              <a:t>3 — ANALYSE DU BESOIN</a:t>
            </a:r>
            <a:endParaRPr lang="en-US" sz="1100" dirty="0"/>
          </a:p>
        </p:txBody>
      </p:sp>
      <p:sp>
        <p:nvSpPr>
          <p:cNvPr id="3" name="Text 1"/>
          <p:cNvSpPr txBox="1"/>
          <p:nvPr/>
        </p:nvSpPr>
        <p:spPr>
          <a:xfrm>
            <a:off x="685800" y="658368"/>
            <a:ext cx="9997135" cy="777240"/>
          </a:xfrm>
          <a:prstGeom prst="rect">
            <a:avLst/>
          </a:prstGeom>
          <a:noFill/>
          <a:ln/>
        </p:spPr>
        <p:txBody>
          <a:bodyPr wrap="square" lIns="0" tIns="0" rIns="0" bIns="0" rtlCol="0" anchor="t"/>
          <a:lstStyle/>
          <a:p>
            <a:pPr indent="0" marL="0">
              <a:buNone/>
            </a:pPr>
            <a:r>
              <a:rPr lang="en-US" sz="3200" b="1" dirty="0">
                <a:solidFill>
                  <a:srgbClr val="E8EEF7"/>
                </a:solidFill>
                <a:latin typeface="Calibri" pitchFamily="34" charset="0"/>
                <a:ea typeface="Calibri" pitchFamily="34" charset="-122"/>
                <a:cs typeface="Calibri" pitchFamily="34" charset="-120"/>
              </a:rPr>
              <a:t>Quatre acteurs, dix cas d’usage</a:t>
            </a:r>
            <a:endParaRPr lang="en-US" sz="3200" dirty="0"/>
          </a:p>
        </p:txBody>
      </p:sp>
      <p:sp>
        <p:nvSpPr>
          <p:cNvPr id="4" name="Shape 2"/>
          <p:cNvSpPr/>
          <p:nvPr/>
        </p:nvSpPr>
        <p:spPr>
          <a:xfrm>
            <a:off x="11292840" y="6144768"/>
            <a:ext cx="365760" cy="365760"/>
          </a:xfrm>
          <a:prstGeom prst="ellipse">
            <a:avLst/>
          </a:prstGeom>
          <a:solidFill>
            <a:srgbClr val="232E42"/>
          </a:solidFill>
          <a:ln w="12700">
            <a:solidFill>
              <a:srgbClr val="232E42"/>
            </a:solidFill>
            <a:prstDash val="solid"/>
          </a:ln>
        </p:spPr>
      </p:sp>
      <p:sp>
        <p:nvSpPr>
          <p:cNvPr id="5" name="Text 3"/>
          <p:cNvSpPr txBox="1"/>
          <p:nvPr/>
        </p:nvSpPr>
        <p:spPr>
          <a:xfrm>
            <a:off x="11292840" y="6144768"/>
            <a:ext cx="365760" cy="365760"/>
          </a:xfrm>
          <a:prstGeom prst="rect">
            <a:avLst/>
          </a:prstGeom>
          <a:noFill/>
          <a:ln/>
        </p:spPr>
        <p:txBody>
          <a:bodyPr wrap="square" lIns="0" tIns="0" rIns="0" bIns="0" rtlCol="0" anchor="ctr"/>
          <a:lstStyle/>
          <a:p>
            <a:pPr algn="ctr" indent="0" marL="0">
              <a:buNone/>
            </a:pPr>
            <a:r>
              <a:rPr lang="en-US" sz="1100" b="1" dirty="0">
                <a:solidFill>
                  <a:srgbClr val="95A3B8"/>
                </a:solidFill>
                <a:latin typeface="Calibri" pitchFamily="34" charset="0"/>
                <a:ea typeface="Calibri" pitchFamily="34" charset="-122"/>
                <a:cs typeface="Calibri" pitchFamily="34" charset="-120"/>
              </a:rPr>
              <a:t>4</a:t>
            </a:r>
            <a:endParaRPr lang="en-US" sz="1100" dirty="0"/>
          </a:p>
        </p:txBody>
      </p:sp>
      <p:sp>
        <p:nvSpPr>
          <p:cNvPr id="7" name="Shape 4"/>
          <p:cNvSpPr/>
          <p:nvPr/>
        </p:nvSpPr>
        <p:spPr>
          <a:xfrm>
            <a:off x="685800" y="1572768"/>
            <a:ext cx="5120640" cy="3566160"/>
          </a:xfrm>
          <a:prstGeom prst="roundRect">
            <a:avLst>
              <a:gd name="adj" fmla="val 2051"/>
            </a:avLst>
          </a:prstGeom>
          <a:solidFill>
            <a:srgbClr val="1A2231"/>
          </a:solidFill>
          <a:ln w="12700">
            <a:solidFill>
              <a:srgbClr val="232E42"/>
            </a:solidFill>
            <a:prstDash val="solid"/>
          </a:ln>
        </p:spPr>
      </p:sp>
      <p:sp>
        <p:nvSpPr>
          <p:cNvPr id="8" name="Text 5"/>
          <p:cNvSpPr txBox="1"/>
          <p:nvPr/>
        </p:nvSpPr>
        <p:spPr>
          <a:xfrm>
            <a:off x="978408" y="1828800"/>
            <a:ext cx="4480560" cy="310896"/>
          </a:xfrm>
          <a:prstGeom prst="rect">
            <a:avLst/>
          </a:prstGeom>
          <a:noFill/>
          <a:ln/>
        </p:spPr>
        <p:txBody>
          <a:bodyPr wrap="square" lIns="0" tIns="0" rIns="0" bIns="0" rtlCol="0" anchor="ctr"/>
          <a:lstStyle/>
          <a:p>
            <a:pPr indent="0" marL="0">
              <a:buNone/>
            </a:pPr>
            <a:r>
              <a:rPr lang="en-US" sz="1700" b="1" dirty="0">
                <a:solidFill>
                  <a:srgbClr val="E8EEF7"/>
                </a:solidFill>
                <a:latin typeface="Calibri" pitchFamily="34" charset="0"/>
                <a:ea typeface="Calibri" pitchFamily="34" charset="-122"/>
                <a:cs typeface="Calibri" pitchFamily="34" charset="-120"/>
              </a:rPr>
              <a:t>Acteurs</a:t>
            </a:r>
            <a:endParaRPr lang="en-US" sz="1700" dirty="0"/>
          </a:p>
        </p:txBody>
      </p:sp>
      <p:sp>
        <p:nvSpPr>
          <p:cNvPr id="9" name="Shape 6"/>
          <p:cNvSpPr/>
          <p:nvPr/>
        </p:nvSpPr>
        <p:spPr>
          <a:xfrm>
            <a:off x="978408" y="2368296"/>
            <a:ext cx="256032" cy="256032"/>
          </a:xfrm>
          <a:prstGeom prst="ellipse">
            <a:avLst/>
          </a:prstGeom>
          <a:solidFill>
            <a:srgbClr val="5B9BFF"/>
          </a:solidFill>
          <a:ln w="12700">
            <a:solidFill>
              <a:srgbClr val="5B9BFF"/>
            </a:solidFill>
            <a:prstDash val="solid"/>
          </a:ln>
        </p:spPr>
      </p:sp>
      <p:sp>
        <p:nvSpPr>
          <p:cNvPr id="10" name="Text 7"/>
          <p:cNvSpPr txBox="1"/>
          <p:nvPr/>
        </p:nvSpPr>
        <p:spPr>
          <a:xfrm>
            <a:off x="1371600" y="2331720"/>
            <a:ext cx="4114800" cy="256032"/>
          </a:xfrm>
          <a:prstGeom prst="rect">
            <a:avLst/>
          </a:prstGeom>
          <a:noFill/>
          <a:ln/>
        </p:spPr>
        <p:txBody>
          <a:bodyPr wrap="square" lIns="0" tIns="0" rIns="0" bIns="0" rtlCol="0" anchor="ctr"/>
          <a:lstStyle/>
          <a:p>
            <a:pPr indent="0" marL="0">
              <a:buNone/>
            </a:pPr>
            <a:r>
              <a:rPr lang="en-US" sz="1450" b="1" dirty="0">
                <a:solidFill>
                  <a:srgbClr val="E8EEF7"/>
                </a:solidFill>
                <a:latin typeface="Calibri" pitchFamily="34" charset="0"/>
                <a:ea typeface="Calibri" pitchFamily="34" charset="-122"/>
                <a:cs typeface="Calibri" pitchFamily="34" charset="-120"/>
              </a:rPr>
              <a:t>Utilisateur</a:t>
            </a:r>
            <a:endParaRPr lang="en-US" sz="1450" dirty="0"/>
          </a:p>
        </p:txBody>
      </p:sp>
      <p:sp>
        <p:nvSpPr>
          <p:cNvPr id="11" name="Text 8"/>
          <p:cNvSpPr txBox="1"/>
          <p:nvPr/>
        </p:nvSpPr>
        <p:spPr>
          <a:xfrm>
            <a:off x="1371600" y="2606040"/>
            <a:ext cx="4114800" cy="256032"/>
          </a:xfrm>
          <a:prstGeom prst="rect">
            <a:avLst/>
          </a:prstGeom>
          <a:noFill/>
          <a:ln/>
        </p:spPr>
        <p:txBody>
          <a:bodyPr wrap="square" lIns="0" tIns="0" rIns="0" bIns="0" rtlCol="0" anchor="ctr"/>
          <a:lstStyle/>
          <a:p>
            <a:pPr indent="0" marL="0">
              <a:buNone/>
            </a:pPr>
            <a:r>
              <a:rPr lang="en-US" sz="1200" dirty="0">
                <a:solidFill>
                  <a:srgbClr val="95A3B8"/>
                </a:solidFill>
                <a:latin typeface="Calibri" pitchFamily="34" charset="0"/>
                <a:ea typeface="Calibri" pitchFamily="34" charset="-122"/>
                <a:cs typeface="Calibri" pitchFamily="34" charset="-120"/>
              </a:rPr>
              <a:t>cherche, réserve, valide sa présence</a:t>
            </a:r>
            <a:endParaRPr lang="en-US" sz="1200" dirty="0"/>
          </a:p>
        </p:txBody>
      </p:sp>
      <p:sp>
        <p:nvSpPr>
          <p:cNvPr id="12" name="Shape 9"/>
          <p:cNvSpPr/>
          <p:nvPr/>
        </p:nvSpPr>
        <p:spPr>
          <a:xfrm>
            <a:off x="978408" y="3026664"/>
            <a:ext cx="256032" cy="256032"/>
          </a:xfrm>
          <a:prstGeom prst="ellipse">
            <a:avLst/>
          </a:prstGeom>
          <a:solidFill>
            <a:srgbClr val="5B9BFF"/>
          </a:solidFill>
          <a:ln w="12700">
            <a:solidFill>
              <a:srgbClr val="5B9BFF"/>
            </a:solidFill>
            <a:prstDash val="solid"/>
          </a:ln>
        </p:spPr>
      </p:sp>
      <p:sp>
        <p:nvSpPr>
          <p:cNvPr id="13" name="Text 10"/>
          <p:cNvSpPr txBox="1"/>
          <p:nvPr/>
        </p:nvSpPr>
        <p:spPr>
          <a:xfrm>
            <a:off x="1371600" y="2990088"/>
            <a:ext cx="4114800" cy="256032"/>
          </a:xfrm>
          <a:prstGeom prst="rect">
            <a:avLst/>
          </a:prstGeom>
          <a:noFill/>
          <a:ln/>
        </p:spPr>
        <p:txBody>
          <a:bodyPr wrap="square" lIns="0" tIns="0" rIns="0" bIns="0" rtlCol="0" anchor="ctr"/>
          <a:lstStyle/>
          <a:p>
            <a:pPr indent="0" marL="0">
              <a:buNone/>
            </a:pPr>
            <a:r>
              <a:rPr lang="en-US" sz="1450" b="1" dirty="0">
                <a:solidFill>
                  <a:srgbClr val="E8EEF7"/>
                </a:solidFill>
                <a:latin typeface="Calibri" pitchFamily="34" charset="0"/>
                <a:ea typeface="Calibri" pitchFamily="34" charset="-122"/>
                <a:cs typeface="Calibri" pitchFamily="34" charset="-120"/>
              </a:rPr>
              <a:t>Administrateur</a:t>
            </a:r>
            <a:endParaRPr lang="en-US" sz="1450" dirty="0"/>
          </a:p>
        </p:txBody>
      </p:sp>
      <p:sp>
        <p:nvSpPr>
          <p:cNvPr id="14" name="Text 11"/>
          <p:cNvSpPr txBox="1"/>
          <p:nvPr/>
        </p:nvSpPr>
        <p:spPr>
          <a:xfrm>
            <a:off x="1371600" y="3264408"/>
            <a:ext cx="4114800" cy="256032"/>
          </a:xfrm>
          <a:prstGeom prst="rect">
            <a:avLst/>
          </a:prstGeom>
          <a:noFill/>
          <a:ln/>
        </p:spPr>
        <p:txBody>
          <a:bodyPr wrap="square" lIns="0" tIns="0" rIns="0" bIns="0" rtlCol="0" anchor="ctr"/>
          <a:lstStyle/>
          <a:p>
            <a:pPr indent="0" marL="0">
              <a:buNone/>
            </a:pPr>
            <a:r>
              <a:rPr lang="en-US" sz="1200" dirty="0">
                <a:solidFill>
                  <a:srgbClr val="95A3B8"/>
                </a:solidFill>
                <a:latin typeface="Calibri" pitchFamily="34" charset="0"/>
                <a:ea typeface="Calibri" pitchFamily="34" charset="-122"/>
                <a:cs typeface="Calibri" pitchFamily="34" charset="-120"/>
              </a:rPr>
              <a:t>parc, règles, conflits, support</a:t>
            </a:r>
            <a:endParaRPr lang="en-US" sz="1200" dirty="0"/>
          </a:p>
        </p:txBody>
      </p:sp>
      <p:sp>
        <p:nvSpPr>
          <p:cNvPr id="15" name="Shape 12"/>
          <p:cNvSpPr/>
          <p:nvPr/>
        </p:nvSpPr>
        <p:spPr>
          <a:xfrm>
            <a:off x="978408" y="3685032"/>
            <a:ext cx="256032" cy="256032"/>
          </a:xfrm>
          <a:prstGeom prst="ellipse">
            <a:avLst/>
          </a:prstGeom>
          <a:solidFill>
            <a:srgbClr val="5B9BFF"/>
          </a:solidFill>
          <a:ln w="12700">
            <a:solidFill>
              <a:srgbClr val="5B9BFF"/>
            </a:solidFill>
            <a:prstDash val="solid"/>
          </a:ln>
        </p:spPr>
      </p:sp>
      <p:sp>
        <p:nvSpPr>
          <p:cNvPr id="16" name="Text 13"/>
          <p:cNvSpPr txBox="1"/>
          <p:nvPr/>
        </p:nvSpPr>
        <p:spPr>
          <a:xfrm>
            <a:off x="1371600" y="3648456"/>
            <a:ext cx="4114800" cy="256032"/>
          </a:xfrm>
          <a:prstGeom prst="rect">
            <a:avLst/>
          </a:prstGeom>
          <a:noFill/>
          <a:ln/>
        </p:spPr>
        <p:txBody>
          <a:bodyPr wrap="square" lIns="0" tIns="0" rIns="0" bIns="0" rtlCol="0" anchor="ctr"/>
          <a:lstStyle/>
          <a:p>
            <a:pPr indent="0" marL="0">
              <a:buNone/>
            </a:pPr>
            <a:r>
              <a:rPr lang="en-US" sz="1450" b="1" dirty="0">
                <a:solidFill>
                  <a:srgbClr val="E8EEF7"/>
                </a:solidFill>
                <a:latin typeface="Calibri" pitchFamily="34" charset="0"/>
                <a:ea typeface="Calibri" pitchFamily="34" charset="-122"/>
                <a:cs typeface="Calibri" pitchFamily="34" charset="-120"/>
              </a:rPr>
              <a:t>Propriétaire</a:t>
            </a:r>
            <a:endParaRPr lang="en-US" sz="1450" dirty="0"/>
          </a:p>
        </p:txBody>
      </p:sp>
      <p:sp>
        <p:nvSpPr>
          <p:cNvPr id="17" name="Text 14"/>
          <p:cNvSpPr txBox="1"/>
          <p:nvPr/>
        </p:nvSpPr>
        <p:spPr>
          <a:xfrm>
            <a:off x="1371600" y="3922776"/>
            <a:ext cx="4114800" cy="256032"/>
          </a:xfrm>
          <a:prstGeom prst="rect">
            <a:avLst/>
          </a:prstGeom>
          <a:noFill/>
          <a:ln/>
        </p:spPr>
        <p:txBody>
          <a:bodyPr wrap="square" lIns="0" tIns="0" rIns="0" bIns="0" rtlCol="0" anchor="ctr"/>
          <a:lstStyle/>
          <a:p>
            <a:pPr indent="0" marL="0">
              <a:buNone/>
            </a:pPr>
            <a:r>
              <a:rPr lang="en-US" sz="1200" dirty="0">
                <a:solidFill>
                  <a:srgbClr val="95A3B8"/>
                </a:solidFill>
                <a:latin typeface="Calibri" pitchFamily="34" charset="0"/>
                <a:ea typeface="Calibri" pitchFamily="34" charset="-122"/>
                <a:cs typeface="Calibri" pitchFamily="34" charset="-120"/>
              </a:rPr>
              <a:t>les sept permissions, gère les administrateurs</a:t>
            </a:r>
            <a:endParaRPr lang="en-US" sz="1200" dirty="0"/>
          </a:p>
        </p:txBody>
      </p:sp>
      <p:sp>
        <p:nvSpPr>
          <p:cNvPr id="18" name="Shape 15"/>
          <p:cNvSpPr/>
          <p:nvPr/>
        </p:nvSpPr>
        <p:spPr>
          <a:xfrm>
            <a:off x="978408" y="4343400"/>
            <a:ext cx="256032" cy="256032"/>
          </a:xfrm>
          <a:prstGeom prst="ellipse">
            <a:avLst/>
          </a:prstGeom>
          <a:solidFill>
            <a:srgbClr val="5B9BFF"/>
          </a:solidFill>
          <a:ln w="12700">
            <a:solidFill>
              <a:srgbClr val="5B9BFF"/>
            </a:solidFill>
            <a:prstDash val="solid"/>
          </a:ln>
        </p:spPr>
      </p:sp>
      <p:sp>
        <p:nvSpPr>
          <p:cNvPr id="19" name="Text 16"/>
          <p:cNvSpPr txBox="1"/>
          <p:nvPr/>
        </p:nvSpPr>
        <p:spPr>
          <a:xfrm>
            <a:off x="1371600" y="4306824"/>
            <a:ext cx="4114800" cy="256032"/>
          </a:xfrm>
          <a:prstGeom prst="rect">
            <a:avLst/>
          </a:prstGeom>
          <a:noFill/>
          <a:ln/>
        </p:spPr>
        <p:txBody>
          <a:bodyPr wrap="square" lIns="0" tIns="0" rIns="0" bIns="0" rtlCol="0" anchor="ctr"/>
          <a:lstStyle/>
          <a:p>
            <a:pPr indent="0" marL="0">
              <a:buNone/>
            </a:pPr>
            <a:r>
              <a:rPr lang="en-US" sz="1450" b="1" dirty="0">
                <a:solidFill>
                  <a:srgbClr val="E8EEF7"/>
                </a:solidFill>
                <a:latin typeface="Calibri" pitchFamily="34" charset="0"/>
                <a:ea typeface="Calibri" pitchFamily="34" charset="-122"/>
                <a:cs typeface="Calibri" pitchFamily="34" charset="-120"/>
              </a:rPr>
              <a:t>Ordonnanceur</a:t>
            </a:r>
            <a:endParaRPr lang="en-US" sz="1450" dirty="0"/>
          </a:p>
        </p:txBody>
      </p:sp>
      <p:sp>
        <p:nvSpPr>
          <p:cNvPr id="20" name="Text 17"/>
          <p:cNvSpPr txBox="1"/>
          <p:nvPr/>
        </p:nvSpPr>
        <p:spPr>
          <a:xfrm>
            <a:off x="1371600" y="4581144"/>
            <a:ext cx="4114800" cy="256032"/>
          </a:xfrm>
          <a:prstGeom prst="rect">
            <a:avLst/>
          </a:prstGeom>
          <a:noFill/>
          <a:ln/>
        </p:spPr>
        <p:txBody>
          <a:bodyPr wrap="square" lIns="0" tIns="0" rIns="0" bIns="0" rtlCol="0" anchor="ctr"/>
          <a:lstStyle/>
          <a:p>
            <a:pPr indent="0" marL="0">
              <a:buNone/>
            </a:pPr>
            <a:r>
              <a:rPr lang="en-US" sz="1200" dirty="0">
                <a:solidFill>
                  <a:srgbClr val="95A3B8"/>
                </a:solidFill>
                <a:latin typeface="Calibri" pitchFamily="34" charset="0"/>
                <a:ea typeface="Calibri" pitchFamily="34" charset="-122"/>
                <a:cs typeface="Calibri" pitchFamily="34" charset="-120"/>
              </a:rPr>
              <a:t>acteur système : libère, clôt, notifie</a:t>
            </a:r>
            <a:endParaRPr lang="en-US" sz="1200" dirty="0"/>
          </a:p>
        </p:txBody>
      </p:sp>
      <p:sp>
        <p:nvSpPr>
          <p:cNvPr id="21" name="Shape 18"/>
          <p:cNvSpPr/>
          <p:nvPr/>
        </p:nvSpPr>
        <p:spPr>
          <a:xfrm>
            <a:off x="6172200" y="1572768"/>
            <a:ext cx="5330952" cy="3566160"/>
          </a:xfrm>
          <a:prstGeom prst="roundRect">
            <a:avLst>
              <a:gd name="adj" fmla="val 2051"/>
            </a:avLst>
          </a:prstGeom>
          <a:solidFill>
            <a:srgbClr val="1A2231"/>
          </a:solidFill>
          <a:ln w="12700">
            <a:solidFill>
              <a:srgbClr val="232E42"/>
            </a:solidFill>
            <a:prstDash val="solid"/>
          </a:ln>
        </p:spPr>
      </p:sp>
      <p:sp>
        <p:nvSpPr>
          <p:cNvPr id="22" name="Text 19"/>
          <p:cNvSpPr txBox="1"/>
          <p:nvPr/>
        </p:nvSpPr>
        <p:spPr>
          <a:xfrm>
            <a:off x="6464808" y="1828800"/>
            <a:ext cx="4754880" cy="310896"/>
          </a:xfrm>
          <a:prstGeom prst="rect">
            <a:avLst/>
          </a:prstGeom>
          <a:noFill/>
          <a:ln/>
        </p:spPr>
        <p:txBody>
          <a:bodyPr wrap="square" lIns="0" tIns="0" rIns="0" bIns="0" rtlCol="0" anchor="ctr"/>
          <a:lstStyle/>
          <a:p>
            <a:pPr indent="0" marL="0">
              <a:buNone/>
            </a:pPr>
            <a:r>
              <a:rPr lang="en-US" sz="1700" b="1" dirty="0">
                <a:solidFill>
                  <a:srgbClr val="E8EEF7"/>
                </a:solidFill>
                <a:latin typeface="Calibri" pitchFamily="34" charset="0"/>
                <a:ea typeface="Calibri" pitchFamily="34" charset="-122"/>
                <a:cs typeface="Calibri" pitchFamily="34" charset="-120"/>
              </a:rPr>
              <a:t>Cas d’usage structurants</a:t>
            </a:r>
            <a:endParaRPr lang="en-US" sz="1700" dirty="0"/>
          </a:p>
        </p:txBody>
      </p:sp>
      <p:sp>
        <p:nvSpPr>
          <p:cNvPr id="23" name="Text 20"/>
          <p:cNvSpPr txBox="1"/>
          <p:nvPr/>
        </p:nvSpPr>
        <p:spPr>
          <a:xfrm>
            <a:off x="6464808" y="2286000"/>
            <a:ext cx="4754880" cy="2651760"/>
          </a:xfrm>
          <a:prstGeom prst="rect">
            <a:avLst/>
          </a:prstGeom>
          <a:noFill/>
          <a:ln/>
        </p:spPr>
        <p:txBody>
          <a:bodyPr wrap="square" lIns="0" tIns="0" rIns="0" bIns="0" rtlCol="0" anchor="ctr"/>
          <a:lstStyle/>
          <a:p>
            <a:pPr marL="177800" indent="-177800">
              <a:lnSpc>
                <a:spcPts val="2000"/>
              </a:lnSpc>
              <a:spcAft>
                <a:spcPts val="800"/>
              </a:spcAft>
              <a:buSzPct val="100000"/>
              <a:buChar char="•"/>
            </a:pPr>
            <a:r>
              <a:rPr lang="en-US" sz="1350" dirty="0">
                <a:solidFill>
                  <a:srgbClr val="95A3B8"/>
                </a:solidFill>
                <a:latin typeface="Calibri" pitchFamily="34" charset="0"/>
                <a:ea typeface="Calibri" pitchFamily="34" charset="-122"/>
                <a:cs typeface="Calibri" pitchFamily="34" charset="-120"/>
              </a:rPr>
              <a:t>Réserver — n’affiche que des salles libres et conformes</a:t>
            </a:r>
            <a:endParaRPr lang="en-US" sz="1350" dirty="0"/>
          </a:p>
          <a:p>
            <a:pPr marL="177800" indent="-177800">
              <a:lnSpc>
                <a:spcPts val="2000"/>
              </a:lnSpc>
              <a:spcAft>
                <a:spcPts val="800"/>
              </a:spcAft>
              <a:buSzPct val="100000"/>
              <a:buChar char="•"/>
            </a:pPr>
            <a:r>
              <a:rPr lang="en-US" sz="1350" dirty="0">
                <a:solidFill>
                  <a:srgbClr val="95A3B8"/>
                </a:solidFill>
                <a:latin typeface="Calibri" pitchFamily="34" charset="0"/>
                <a:ea typeface="Calibri" pitchFamily="34" charset="-122"/>
                <a:cs typeface="Calibri" pitchFamily="34" charset="-120"/>
              </a:rPr>
              <a:t>Valider sa présence — fenêtre de dix minutes</a:t>
            </a:r>
            <a:endParaRPr lang="en-US" sz="1350" dirty="0"/>
          </a:p>
          <a:p>
            <a:pPr marL="177800" indent="-177800">
              <a:lnSpc>
                <a:spcPts val="2000"/>
              </a:lnSpc>
              <a:spcAft>
                <a:spcPts val="800"/>
              </a:spcAft>
              <a:buSzPct val="100000"/>
              <a:buChar char="•"/>
            </a:pPr>
            <a:r>
              <a:rPr lang="en-US" sz="1350" dirty="0">
                <a:solidFill>
                  <a:srgbClr val="95A3B8"/>
                </a:solidFill>
                <a:latin typeface="Calibri" pitchFamily="34" charset="0"/>
                <a:ea typeface="Calibri" pitchFamily="34" charset="-122"/>
                <a:cs typeface="Calibri" pitchFamily="34" charset="-120"/>
              </a:rPr>
              <a:t>Arbitrer un conflit — référence lisible, décision tracée</a:t>
            </a:r>
            <a:endParaRPr lang="en-US" sz="1350" dirty="0"/>
          </a:p>
          <a:p>
            <a:pPr marL="177800" indent="-177800">
              <a:lnSpc>
                <a:spcPts val="2000"/>
              </a:lnSpc>
              <a:spcAft>
                <a:spcPts val="800"/>
              </a:spcAft>
              <a:buSzPct val="100000"/>
              <a:buChar char="•"/>
            </a:pPr>
            <a:r>
              <a:rPr lang="en-US" sz="1350" dirty="0">
                <a:solidFill>
                  <a:srgbClr val="95A3B8"/>
                </a:solidFill>
                <a:latin typeface="Calibri" pitchFamily="34" charset="0"/>
                <a:ea typeface="Calibri" pitchFamily="34" charset="-122"/>
                <a:cs typeface="Calibri" pitchFamily="34" charset="-120"/>
              </a:rPr>
              <a:t>Configurer les règles — trois portées possibles</a:t>
            </a:r>
            <a:endParaRPr lang="en-US" sz="1350" dirty="0"/>
          </a:p>
          <a:p>
            <a:pPr marL="177800" indent="-177800">
              <a:lnSpc>
                <a:spcPts val="2000"/>
              </a:lnSpc>
              <a:spcAft>
                <a:spcPts val="800"/>
              </a:spcAft>
              <a:buSzPct val="100000"/>
              <a:buChar char="•"/>
            </a:pPr>
            <a:r>
              <a:rPr lang="en-US" sz="1350" dirty="0">
                <a:solidFill>
                  <a:srgbClr val="95A3B8"/>
                </a:solidFill>
                <a:latin typeface="Calibri" pitchFamily="34" charset="0"/>
                <a:ea typeface="Calibri" pitchFamily="34" charset="-122"/>
                <a:cs typeface="Calibri" pitchFamily="34" charset="-120"/>
              </a:rPr>
              <a:t>Interroger l’assistant — en langage naturel</a:t>
            </a:r>
            <a:endParaRPr lang="en-US" sz="1350" dirty="0"/>
          </a:p>
        </p:txBody>
      </p:sp>
      <p:sp>
        <p:nvSpPr>
          <p:cNvPr id="24" name="Text 21"/>
          <p:cNvSpPr txBox="1"/>
          <p:nvPr/>
        </p:nvSpPr>
        <p:spPr>
          <a:xfrm>
            <a:off x="685800" y="5349240"/>
            <a:ext cx="10820095" cy="548640"/>
          </a:xfrm>
          <a:prstGeom prst="rect">
            <a:avLst/>
          </a:prstGeom>
          <a:noFill/>
          <a:ln/>
        </p:spPr>
        <p:txBody>
          <a:bodyPr wrap="square" lIns="0" tIns="0" rIns="0" bIns="0" rtlCol="0" anchor="ctr"/>
          <a:lstStyle/>
          <a:p>
            <a:pPr indent="0" marL="0">
              <a:lnSpc>
                <a:spcPts val="2000"/>
              </a:lnSpc>
              <a:buNone/>
            </a:pPr>
            <a:r>
              <a:rPr lang="en-US" sz="1350" i="1" dirty="0">
                <a:solidFill>
                  <a:srgbClr val="6B7789"/>
                </a:solidFill>
                <a:latin typeface="Calibri" pitchFamily="34" charset="0"/>
                <a:ea typeface="Calibri" pitchFamily="34" charset="-122"/>
                <a:cs typeface="Calibri" pitchFamily="34" charset="-120"/>
              </a:rPr>
              <a:t>Étude de l’existant : aucune solution gratuite examinée ne place la garantie d’intégrité dans la base de données, ni ne mesure la présence effective.</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85800" y="384048"/>
            <a:ext cx="10820095" cy="237744"/>
          </a:xfrm>
          <a:prstGeom prst="rect">
            <a:avLst/>
          </a:prstGeom>
          <a:noFill/>
          <a:ln/>
        </p:spPr>
        <p:txBody>
          <a:bodyPr wrap="square" lIns="0" tIns="0" rIns="0" bIns="0" rtlCol="0" anchor="ctr"/>
          <a:lstStyle/>
          <a:p>
            <a:pPr indent="0" marL="0">
              <a:buNone/>
            </a:pPr>
            <a:r>
              <a:rPr lang="en-US" sz="1100" b="1" spc="200" kern="0" dirty="0">
                <a:solidFill>
                  <a:srgbClr val="5B9BFF"/>
                </a:solidFill>
                <a:latin typeface="Calibri" pitchFamily="34" charset="0"/>
                <a:ea typeface="Calibri" pitchFamily="34" charset="-122"/>
                <a:cs typeface="Calibri" pitchFamily="34" charset="-120"/>
              </a:rPr>
              <a:t>4 — MÉTHODOLOGIE</a:t>
            </a:r>
            <a:endParaRPr lang="en-US" sz="1100" dirty="0"/>
          </a:p>
        </p:txBody>
      </p:sp>
      <p:sp>
        <p:nvSpPr>
          <p:cNvPr id="3" name="Text 1"/>
          <p:cNvSpPr txBox="1"/>
          <p:nvPr/>
        </p:nvSpPr>
        <p:spPr>
          <a:xfrm>
            <a:off x="685800" y="658368"/>
            <a:ext cx="9997135" cy="777240"/>
          </a:xfrm>
          <a:prstGeom prst="rect">
            <a:avLst/>
          </a:prstGeom>
          <a:noFill/>
          <a:ln/>
        </p:spPr>
        <p:txBody>
          <a:bodyPr wrap="square" lIns="0" tIns="0" rIns="0" bIns="0" rtlCol="0" anchor="t"/>
          <a:lstStyle/>
          <a:p>
            <a:pPr indent="0" marL="0">
              <a:buNone/>
            </a:pPr>
            <a:r>
              <a:rPr lang="en-US" sz="3200" b="1" dirty="0">
                <a:solidFill>
                  <a:srgbClr val="E8EEF7"/>
                </a:solidFill>
                <a:latin typeface="Calibri" pitchFamily="34" charset="0"/>
                <a:ea typeface="Calibri" pitchFamily="34" charset="-122"/>
                <a:cs typeface="Calibri" pitchFamily="34" charset="-120"/>
              </a:rPr>
              <a:t>Itérations fonctionnelles et preuve</a:t>
            </a:r>
            <a:endParaRPr lang="en-US" sz="3200" dirty="0"/>
          </a:p>
        </p:txBody>
      </p:sp>
      <p:sp>
        <p:nvSpPr>
          <p:cNvPr id="4" name="Shape 2"/>
          <p:cNvSpPr/>
          <p:nvPr/>
        </p:nvSpPr>
        <p:spPr>
          <a:xfrm>
            <a:off x="11292840" y="6144768"/>
            <a:ext cx="365760" cy="365760"/>
          </a:xfrm>
          <a:prstGeom prst="ellipse">
            <a:avLst/>
          </a:prstGeom>
          <a:solidFill>
            <a:srgbClr val="232E42"/>
          </a:solidFill>
          <a:ln w="12700">
            <a:solidFill>
              <a:srgbClr val="232E42"/>
            </a:solidFill>
            <a:prstDash val="solid"/>
          </a:ln>
        </p:spPr>
      </p:sp>
      <p:sp>
        <p:nvSpPr>
          <p:cNvPr id="5" name="Text 3"/>
          <p:cNvSpPr txBox="1"/>
          <p:nvPr/>
        </p:nvSpPr>
        <p:spPr>
          <a:xfrm>
            <a:off x="11292840" y="6144768"/>
            <a:ext cx="365760" cy="365760"/>
          </a:xfrm>
          <a:prstGeom prst="rect">
            <a:avLst/>
          </a:prstGeom>
          <a:noFill/>
          <a:ln/>
        </p:spPr>
        <p:txBody>
          <a:bodyPr wrap="square" lIns="0" tIns="0" rIns="0" bIns="0" rtlCol="0" anchor="ctr"/>
          <a:lstStyle/>
          <a:p>
            <a:pPr algn="ctr" indent="0" marL="0">
              <a:buNone/>
            </a:pPr>
            <a:r>
              <a:rPr lang="en-US" sz="1100" b="1" dirty="0">
                <a:solidFill>
                  <a:srgbClr val="95A3B8"/>
                </a:solidFill>
                <a:latin typeface="Calibri" pitchFamily="34" charset="0"/>
                <a:ea typeface="Calibri" pitchFamily="34" charset="-122"/>
                <a:cs typeface="Calibri" pitchFamily="34" charset="-120"/>
              </a:rPr>
              <a:t>5</a:t>
            </a:r>
            <a:endParaRPr lang="en-US" sz="1100" dirty="0"/>
          </a:p>
        </p:txBody>
      </p:sp>
      <p:sp>
        <p:nvSpPr>
          <p:cNvPr id="7" name="Shape 4"/>
          <p:cNvSpPr/>
          <p:nvPr/>
        </p:nvSpPr>
        <p:spPr>
          <a:xfrm>
            <a:off x="685800" y="1572768"/>
            <a:ext cx="5120640" cy="2011680"/>
          </a:xfrm>
          <a:prstGeom prst="roundRect">
            <a:avLst>
              <a:gd name="adj" fmla="val 3636"/>
            </a:avLst>
          </a:prstGeom>
          <a:solidFill>
            <a:srgbClr val="1A2231"/>
          </a:solidFill>
          <a:ln w="12700">
            <a:solidFill>
              <a:srgbClr val="232E42"/>
            </a:solidFill>
            <a:prstDash val="solid"/>
          </a:ln>
        </p:spPr>
      </p:sp>
      <p:sp>
        <p:nvSpPr>
          <p:cNvPr id="8" name="Text 5"/>
          <p:cNvSpPr txBox="1"/>
          <p:nvPr/>
        </p:nvSpPr>
        <p:spPr>
          <a:xfrm>
            <a:off x="978408" y="1810512"/>
            <a:ext cx="4535424" cy="292608"/>
          </a:xfrm>
          <a:prstGeom prst="rect">
            <a:avLst/>
          </a:prstGeom>
          <a:noFill/>
          <a:ln/>
        </p:spPr>
        <p:txBody>
          <a:bodyPr wrap="square" lIns="0" tIns="0" rIns="0" bIns="0" rtlCol="0" anchor="ctr"/>
          <a:lstStyle/>
          <a:p>
            <a:pPr indent="0" marL="0">
              <a:buNone/>
            </a:pPr>
            <a:r>
              <a:rPr lang="en-US" sz="1550" b="1" dirty="0">
                <a:solidFill>
                  <a:srgbClr val="5B9BFF"/>
                </a:solidFill>
                <a:latin typeface="Calibri" pitchFamily="34" charset="0"/>
                <a:ea typeface="Calibri" pitchFamily="34" charset="-122"/>
                <a:cs typeface="Calibri" pitchFamily="34" charset="-120"/>
              </a:rPr>
              <a:t>Règle 1 — Mesurer avant d’affirmer</a:t>
            </a:r>
            <a:endParaRPr lang="en-US" sz="1550" dirty="0"/>
          </a:p>
        </p:txBody>
      </p:sp>
      <p:sp>
        <p:nvSpPr>
          <p:cNvPr id="9" name="Text 6"/>
          <p:cNvSpPr txBox="1"/>
          <p:nvPr/>
        </p:nvSpPr>
        <p:spPr>
          <a:xfrm>
            <a:off x="978408" y="2194560"/>
            <a:ext cx="4535424" cy="1097280"/>
          </a:xfrm>
          <a:prstGeom prst="rect">
            <a:avLst/>
          </a:prstGeom>
          <a:noFill/>
          <a:ln/>
        </p:spPr>
        <p:txBody>
          <a:bodyPr wrap="square" lIns="0" tIns="0" rIns="0" bIns="0" rtlCol="0" anchor="ctr"/>
          <a:lstStyle/>
          <a:p>
            <a:pPr indent="0" marL="0">
              <a:lnSpc>
                <a:spcPts val="2000"/>
              </a:lnSpc>
              <a:buNone/>
            </a:pPr>
            <a:r>
              <a:rPr lang="en-US" sz="1300" dirty="0">
                <a:solidFill>
                  <a:srgbClr val="95A3B8"/>
                </a:solidFill>
                <a:latin typeface="Calibri" pitchFamily="34" charset="0"/>
                <a:ea typeface="Calibri" pitchFamily="34" charset="-122"/>
                <a:cs typeface="Calibri" pitchFamily="34" charset="-120"/>
              </a:rPr>
              <a:t>Aucun diagnostic retenu sans une observation qui l’établit. Plusieurs de nos hypothèses initiales se sont révélées fausses.</a:t>
            </a:r>
            <a:endParaRPr lang="en-US" sz="1300" dirty="0"/>
          </a:p>
        </p:txBody>
      </p:sp>
      <p:sp>
        <p:nvSpPr>
          <p:cNvPr id="10" name="Shape 7"/>
          <p:cNvSpPr/>
          <p:nvPr/>
        </p:nvSpPr>
        <p:spPr>
          <a:xfrm>
            <a:off x="6172200" y="1572768"/>
            <a:ext cx="5330952" cy="2011680"/>
          </a:xfrm>
          <a:prstGeom prst="roundRect">
            <a:avLst>
              <a:gd name="adj" fmla="val 3636"/>
            </a:avLst>
          </a:prstGeom>
          <a:solidFill>
            <a:srgbClr val="1A2231"/>
          </a:solidFill>
          <a:ln w="12700">
            <a:solidFill>
              <a:srgbClr val="232E42"/>
            </a:solidFill>
            <a:prstDash val="solid"/>
          </a:ln>
        </p:spPr>
      </p:sp>
      <p:sp>
        <p:nvSpPr>
          <p:cNvPr id="11" name="Text 8"/>
          <p:cNvSpPr txBox="1"/>
          <p:nvPr/>
        </p:nvSpPr>
        <p:spPr>
          <a:xfrm>
            <a:off x="6464808" y="1810512"/>
            <a:ext cx="4745736" cy="292608"/>
          </a:xfrm>
          <a:prstGeom prst="rect">
            <a:avLst/>
          </a:prstGeom>
          <a:noFill/>
          <a:ln/>
        </p:spPr>
        <p:txBody>
          <a:bodyPr wrap="square" lIns="0" tIns="0" rIns="0" bIns="0" rtlCol="0" anchor="ctr"/>
          <a:lstStyle/>
          <a:p>
            <a:pPr indent="0" marL="0">
              <a:buNone/>
            </a:pPr>
            <a:r>
              <a:rPr lang="en-US" sz="1550" b="1" dirty="0">
                <a:solidFill>
                  <a:srgbClr val="5B9BFF"/>
                </a:solidFill>
                <a:latin typeface="Calibri" pitchFamily="34" charset="0"/>
                <a:ea typeface="Calibri" pitchFamily="34" charset="-122"/>
                <a:cs typeface="Calibri" pitchFamily="34" charset="-120"/>
              </a:rPr>
              <a:t>Règle 2 — Un test qui ne peut pas échouer ne prouve rien</a:t>
            </a:r>
            <a:endParaRPr lang="en-US" sz="1550" dirty="0"/>
          </a:p>
        </p:txBody>
      </p:sp>
      <p:sp>
        <p:nvSpPr>
          <p:cNvPr id="12" name="Text 9"/>
          <p:cNvSpPr txBox="1"/>
          <p:nvPr/>
        </p:nvSpPr>
        <p:spPr>
          <a:xfrm>
            <a:off x="6464808" y="2194560"/>
            <a:ext cx="4745736" cy="1097280"/>
          </a:xfrm>
          <a:prstGeom prst="rect">
            <a:avLst/>
          </a:prstGeom>
          <a:noFill/>
          <a:ln/>
        </p:spPr>
        <p:txBody>
          <a:bodyPr wrap="square" lIns="0" tIns="0" rIns="0" bIns="0" rtlCol="0" anchor="ctr"/>
          <a:lstStyle/>
          <a:p>
            <a:pPr indent="0" marL="0">
              <a:lnSpc>
                <a:spcPts val="2000"/>
              </a:lnSpc>
              <a:buNone/>
            </a:pPr>
            <a:r>
              <a:rPr lang="en-US" sz="1300" dirty="0">
                <a:solidFill>
                  <a:srgbClr val="95A3B8"/>
                </a:solidFill>
                <a:latin typeface="Calibri" pitchFamily="34" charset="0"/>
                <a:ea typeface="Calibri" pitchFamily="34" charset="-122"/>
                <a:cs typeface="Calibri" pitchFamily="34" charset="-120"/>
              </a:rPr>
              <a:t>Chaque correctif est accompagné d’une contre-épreuve : on vérifie que le test échoue bien sans lui.</a:t>
            </a:r>
            <a:endParaRPr lang="en-US" sz="1300" dirty="0"/>
          </a:p>
        </p:txBody>
      </p:sp>
      <p:sp>
        <p:nvSpPr>
          <p:cNvPr id="13" name="Text 10"/>
          <p:cNvSpPr txBox="1"/>
          <p:nvPr/>
        </p:nvSpPr>
        <p:spPr>
          <a:xfrm>
            <a:off x="685800" y="3794760"/>
            <a:ext cx="10820095" cy="310896"/>
          </a:xfrm>
          <a:prstGeom prst="rect">
            <a:avLst/>
          </a:prstGeom>
          <a:noFill/>
          <a:ln/>
        </p:spPr>
        <p:txBody>
          <a:bodyPr wrap="square" lIns="0" tIns="0" rIns="0" bIns="0" rtlCol="0" anchor="ctr"/>
          <a:lstStyle/>
          <a:p>
            <a:pPr indent="0" marL="0">
              <a:buNone/>
            </a:pPr>
            <a:r>
              <a:rPr lang="en-US" sz="1700" b="1" dirty="0">
                <a:solidFill>
                  <a:srgbClr val="E8EEF7"/>
                </a:solidFill>
                <a:latin typeface="Calibri" pitchFamily="34" charset="0"/>
                <a:ea typeface="Calibri" pitchFamily="34" charset="-122"/>
                <a:cs typeface="Calibri" pitchFamily="34" charset="-120"/>
              </a:rPr>
              <a:t>Répartition des rôles</a:t>
            </a:r>
            <a:endParaRPr lang="en-US" sz="1700" dirty="0"/>
          </a:p>
        </p:txBody>
      </p:sp>
      <p:sp>
        <p:nvSpPr>
          <p:cNvPr id="14" name="Shape 11"/>
          <p:cNvSpPr/>
          <p:nvPr/>
        </p:nvSpPr>
        <p:spPr>
          <a:xfrm>
            <a:off x="685800" y="4224528"/>
            <a:ext cx="3401568" cy="1417320"/>
          </a:xfrm>
          <a:prstGeom prst="roundRect">
            <a:avLst>
              <a:gd name="adj" fmla="val 5161"/>
            </a:avLst>
          </a:prstGeom>
          <a:solidFill>
            <a:srgbClr val="232E42"/>
          </a:solidFill>
          <a:ln w="12700">
            <a:solidFill>
              <a:srgbClr val="232E42"/>
            </a:solidFill>
            <a:prstDash val="solid"/>
          </a:ln>
        </p:spPr>
      </p:sp>
      <p:sp>
        <p:nvSpPr>
          <p:cNvPr id="15" name="Text 12"/>
          <p:cNvSpPr txBox="1"/>
          <p:nvPr/>
        </p:nvSpPr>
        <p:spPr>
          <a:xfrm>
            <a:off x="941832" y="4434840"/>
            <a:ext cx="2889504" cy="274320"/>
          </a:xfrm>
          <a:prstGeom prst="rect">
            <a:avLst/>
          </a:prstGeom>
          <a:noFill/>
          <a:ln/>
        </p:spPr>
        <p:txBody>
          <a:bodyPr wrap="square" lIns="0" tIns="0" rIns="0" bIns="0" rtlCol="0" anchor="ctr"/>
          <a:lstStyle/>
          <a:p>
            <a:pPr indent="0" marL="0">
              <a:buNone/>
            </a:pPr>
            <a:r>
              <a:rPr lang="en-US" sz="1400" b="1" dirty="0">
                <a:solidFill>
                  <a:srgbClr val="E8EEF7"/>
                </a:solidFill>
                <a:latin typeface="Calibri" pitchFamily="34" charset="0"/>
                <a:ea typeface="Calibri" pitchFamily="34" charset="-122"/>
                <a:cs typeface="Calibri" pitchFamily="34" charset="-120"/>
              </a:rPr>
              <a:t>Dylan Menga Wanda</a:t>
            </a:r>
            <a:endParaRPr lang="en-US" sz="1400" dirty="0"/>
          </a:p>
        </p:txBody>
      </p:sp>
      <p:sp>
        <p:nvSpPr>
          <p:cNvPr id="16" name="Text 13"/>
          <p:cNvSpPr txBox="1"/>
          <p:nvPr/>
        </p:nvSpPr>
        <p:spPr>
          <a:xfrm>
            <a:off x="941832" y="4754880"/>
            <a:ext cx="2889504" cy="777240"/>
          </a:xfrm>
          <a:prstGeom prst="rect">
            <a:avLst/>
          </a:prstGeom>
          <a:noFill/>
          <a:ln/>
        </p:spPr>
        <p:txBody>
          <a:bodyPr wrap="square" lIns="0" tIns="0" rIns="0" bIns="0" rtlCol="0" anchor="ctr"/>
          <a:lstStyle/>
          <a:p>
            <a:pPr indent="0" marL="0">
              <a:lnSpc>
                <a:spcPts val="1700"/>
              </a:lnSpc>
              <a:buNone/>
            </a:pPr>
            <a:r>
              <a:rPr lang="en-US" sz="1200" dirty="0">
                <a:solidFill>
                  <a:srgbClr val="95A3B8"/>
                </a:solidFill>
                <a:latin typeface="Calibri" pitchFamily="34" charset="0"/>
                <a:ea typeface="Calibri" pitchFamily="34" charset="-122"/>
                <a:cs typeface="Calibri" pitchFamily="34" charset="-120"/>
              </a:rPr>
              <a:t>Back-end, modèle de données, concurrence, assistant, déploiement</a:t>
            </a:r>
            <a:endParaRPr lang="en-US" sz="1200" dirty="0"/>
          </a:p>
        </p:txBody>
      </p:sp>
      <p:sp>
        <p:nvSpPr>
          <p:cNvPr id="17" name="Shape 14"/>
          <p:cNvSpPr/>
          <p:nvPr/>
        </p:nvSpPr>
        <p:spPr>
          <a:xfrm>
            <a:off x="4361688" y="4224528"/>
            <a:ext cx="3401568" cy="1417320"/>
          </a:xfrm>
          <a:prstGeom prst="roundRect">
            <a:avLst>
              <a:gd name="adj" fmla="val 5161"/>
            </a:avLst>
          </a:prstGeom>
          <a:solidFill>
            <a:srgbClr val="232E42"/>
          </a:solidFill>
          <a:ln w="12700">
            <a:solidFill>
              <a:srgbClr val="232E42"/>
            </a:solidFill>
            <a:prstDash val="solid"/>
          </a:ln>
        </p:spPr>
      </p:sp>
      <p:sp>
        <p:nvSpPr>
          <p:cNvPr id="18" name="Text 15"/>
          <p:cNvSpPr txBox="1"/>
          <p:nvPr/>
        </p:nvSpPr>
        <p:spPr>
          <a:xfrm>
            <a:off x="4617720" y="4434840"/>
            <a:ext cx="2889504" cy="274320"/>
          </a:xfrm>
          <a:prstGeom prst="rect">
            <a:avLst/>
          </a:prstGeom>
          <a:noFill/>
          <a:ln/>
        </p:spPr>
        <p:txBody>
          <a:bodyPr wrap="square" lIns="0" tIns="0" rIns="0" bIns="0" rtlCol="0" anchor="ctr"/>
          <a:lstStyle/>
          <a:p>
            <a:pPr indent="0" marL="0">
              <a:buNone/>
            </a:pPr>
            <a:r>
              <a:rPr lang="en-US" sz="1400" b="1" dirty="0">
                <a:solidFill>
                  <a:srgbClr val="E8EEF7"/>
                </a:solidFill>
                <a:latin typeface="Calibri" pitchFamily="34" charset="0"/>
                <a:ea typeface="Calibri" pitchFamily="34" charset="-122"/>
                <a:cs typeface="Calibri" pitchFamily="34" charset="-120"/>
              </a:rPr>
              <a:t>Ngangne T. Angédarelle</a:t>
            </a:r>
            <a:endParaRPr lang="en-US" sz="1400" dirty="0"/>
          </a:p>
        </p:txBody>
      </p:sp>
      <p:sp>
        <p:nvSpPr>
          <p:cNvPr id="19" name="Text 16"/>
          <p:cNvSpPr txBox="1"/>
          <p:nvPr/>
        </p:nvSpPr>
        <p:spPr>
          <a:xfrm>
            <a:off x="4617720" y="4754880"/>
            <a:ext cx="2889504" cy="777240"/>
          </a:xfrm>
          <a:prstGeom prst="rect">
            <a:avLst/>
          </a:prstGeom>
          <a:noFill/>
          <a:ln/>
        </p:spPr>
        <p:txBody>
          <a:bodyPr wrap="square" lIns="0" tIns="0" rIns="0" bIns="0" rtlCol="0" anchor="ctr"/>
          <a:lstStyle/>
          <a:p>
            <a:pPr indent="0" marL="0">
              <a:lnSpc>
                <a:spcPts val="1700"/>
              </a:lnSpc>
              <a:buNone/>
            </a:pPr>
            <a:r>
              <a:rPr lang="en-US" sz="1200" dirty="0">
                <a:solidFill>
                  <a:srgbClr val="95A3B8"/>
                </a:solidFill>
                <a:latin typeface="Calibri" pitchFamily="34" charset="0"/>
                <a:ea typeface="Calibri" pitchFamily="34" charset="-122"/>
                <a:cs typeface="Calibri" pitchFamily="34" charset="-120"/>
              </a:rPr>
              <a:t>Maquettage Figma, système de design, front-end, tests d’interface</a:t>
            </a:r>
            <a:endParaRPr lang="en-US" sz="1200" dirty="0"/>
          </a:p>
        </p:txBody>
      </p:sp>
      <p:sp>
        <p:nvSpPr>
          <p:cNvPr id="20" name="Shape 17"/>
          <p:cNvSpPr/>
          <p:nvPr/>
        </p:nvSpPr>
        <p:spPr>
          <a:xfrm>
            <a:off x="8037576" y="4224528"/>
            <a:ext cx="3401568" cy="1417320"/>
          </a:xfrm>
          <a:prstGeom prst="roundRect">
            <a:avLst>
              <a:gd name="adj" fmla="val 5161"/>
            </a:avLst>
          </a:prstGeom>
          <a:solidFill>
            <a:srgbClr val="232E42"/>
          </a:solidFill>
          <a:ln w="12700">
            <a:solidFill>
              <a:srgbClr val="232E42"/>
            </a:solidFill>
            <a:prstDash val="solid"/>
          </a:ln>
        </p:spPr>
      </p:sp>
      <p:sp>
        <p:nvSpPr>
          <p:cNvPr id="21" name="Text 18"/>
          <p:cNvSpPr txBox="1"/>
          <p:nvPr/>
        </p:nvSpPr>
        <p:spPr>
          <a:xfrm>
            <a:off x="8293608" y="4434840"/>
            <a:ext cx="2889504" cy="274320"/>
          </a:xfrm>
          <a:prstGeom prst="rect">
            <a:avLst/>
          </a:prstGeom>
          <a:noFill/>
          <a:ln/>
        </p:spPr>
        <p:txBody>
          <a:bodyPr wrap="square" lIns="0" tIns="0" rIns="0" bIns="0" rtlCol="0" anchor="ctr"/>
          <a:lstStyle/>
          <a:p>
            <a:pPr indent="0" marL="0">
              <a:buNone/>
            </a:pPr>
            <a:r>
              <a:rPr lang="en-US" sz="1400" b="1" dirty="0">
                <a:solidFill>
                  <a:srgbClr val="E8EEF7"/>
                </a:solidFill>
                <a:latin typeface="Calibri" pitchFamily="34" charset="0"/>
                <a:ea typeface="Calibri" pitchFamily="34" charset="-122"/>
                <a:cs typeface="Calibri" pitchFamily="34" charset="-120"/>
              </a:rPr>
              <a:t>Nguadjong Maeva</a:t>
            </a:r>
            <a:endParaRPr lang="en-US" sz="1400" dirty="0"/>
          </a:p>
        </p:txBody>
      </p:sp>
      <p:sp>
        <p:nvSpPr>
          <p:cNvPr id="22" name="Text 19"/>
          <p:cNvSpPr txBox="1"/>
          <p:nvPr/>
        </p:nvSpPr>
        <p:spPr>
          <a:xfrm>
            <a:off x="8293608" y="4754880"/>
            <a:ext cx="2889504" cy="777240"/>
          </a:xfrm>
          <a:prstGeom prst="rect">
            <a:avLst/>
          </a:prstGeom>
          <a:noFill/>
          <a:ln/>
        </p:spPr>
        <p:txBody>
          <a:bodyPr wrap="square" lIns="0" tIns="0" rIns="0" bIns="0" rtlCol="0" anchor="ctr"/>
          <a:lstStyle/>
          <a:p>
            <a:pPr indent="0" marL="0">
              <a:lnSpc>
                <a:spcPts val="1700"/>
              </a:lnSpc>
              <a:buNone/>
            </a:pPr>
            <a:r>
              <a:rPr lang="en-US" sz="1200" dirty="0">
                <a:solidFill>
                  <a:srgbClr val="95A3B8"/>
                </a:solidFill>
                <a:latin typeface="Calibri" pitchFamily="34" charset="0"/>
                <a:ea typeface="Calibri" pitchFamily="34" charset="-122"/>
                <a:cs typeface="Calibri" pitchFamily="34" charset="-120"/>
              </a:rPr>
              <a:t>Analyse, règles métier, recommandation, stratégie de tests, recette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85800" y="1371600"/>
            <a:ext cx="2148840" cy="384048"/>
          </a:xfrm>
          <a:prstGeom prst="roundRect">
            <a:avLst>
              <a:gd name="adj" fmla="val 47619"/>
            </a:avLst>
          </a:prstGeom>
          <a:solidFill>
            <a:srgbClr val="1B3358"/>
          </a:solidFill>
          <a:ln w="12700">
            <a:solidFill>
              <a:srgbClr val="5B9BFF"/>
            </a:solidFill>
            <a:prstDash val="solid"/>
          </a:ln>
        </p:spPr>
      </p:sp>
      <p:sp>
        <p:nvSpPr>
          <p:cNvPr id="3" name="Text 1"/>
          <p:cNvSpPr txBox="1"/>
          <p:nvPr/>
        </p:nvSpPr>
        <p:spPr>
          <a:xfrm>
            <a:off x="685800" y="1371600"/>
            <a:ext cx="2148840" cy="384048"/>
          </a:xfrm>
          <a:prstGeom prst="rect">
            <a:avLst/>
          </a:prstGeom>
          <a:noFill/>
          <a:ln/>
        </p:spPr>
        <p:txBody>
          <a:bodyPr wrap="square" lIns="0" tIns="0" rIns="0" bIns="0" rtlCol="0" anchor="ctr"/>
          <a:lstStyle/>
          <a:p>
            <a:pPr algn="ctr" indent="0" marL="0">
              <a:buNone/>
            </a:pPr>
            <a:r>
              <a:rPr lang="en-US" sz="1200" b="1" dirty="0">
                <a:solidFill>
                  <a:srgbClr val="5B9BFF"/>
                </a:solidFill>
                <a:latin typeface="Calibri" pitchFamily="34" charset="0"/>
                <a:ea typeface="Calibri" pitchFamily="34" charset="-122"/>
                <a:cs typeface="Calibri" pitchFamily="34" charset="-120"/>
              </a:rPr>
              <a:t>Démonstration</a:t>
            </a:r>
            <a:endParaRPr lang="en-US" sz="1200" dirty="0"/>
          </a:p>
        </p:txBody>
      </p:sp>
      <p:sp>
        <p:nvSpPr>
          <p:cNvPr id="4" name="Text 2"/>
          <p:cNvSpPr txBox="1"/>
          <p:nvPr/>
        </p:nvSpPr>
        <p:spPr>
          <a:xfrm>
            <a:off x="685800" y="2011680"/>
            <a:ext cx="10058400" cy="822960"/>
          </a:xfrm>
          <a:prstGeom prst="rect">
            <a:avLst/>
          </a:prstGeom>
          <a:noFill/>
          <a:ln/>
        </p:spPr>
        <p:txBody>
          <a:bodyPr wrap="square" lIns="0" tIns="0" rIns="0" bIns="0" rtlCol="0" anchor="ctr"/>
          <a:lstStyle/>
          <a:p>
            <a:pPr indent="0" marL="0">
              <a:buNone/>
            </a:pPr>
            <a:r>
              <a:rPr lang="en-US" sz="4400" b="1" dirty="0">
                <a:solidFill>
                  <a:srgbClr val="E8EEF7"/>
                </a:solidFill>
                <a:latin typeface="Calibri" pitchFamily="34" charset="0"/>
                <a:ea typeface="Calibri" pitchFamily="34" charset="-122"/>
                <a:cs typeface="Calibri" pitchFamily="34" charset="-120"/>
              </a:rPr>
              <a:t>Les maquettes, sur Figma</a:t>
            </a:r>
            <a:endParaRPr lang="en-US" sz="4400" dirty="0"/>
          </a:p>
        </p:txBody>
      </p:sp>
      <p:sp>
        <p:nvSpPr>
          <p:cNvPr id="5" name="Text 3"/>
          <p:cNvSpPr txBox="1"/>
          <p:nvPr/>
        </p:nvSpPr>
        <p:spPr>
          <a:xfrm>
            <a:off x="685800" y="2880360"/>
            <a:ext cx="8686800" cy="457200"/>
          </a:xfrm>
          <a:prstGeom prst="rect">
            <a:avLst/>
          </a:prstGeom>
          <a:noFill/>
          <a:ln/>
        </p:spPr>
        <p:txBody>
          <a:bodyPr wrap="square" lIns="0" tIns="0" rIns="0" bIns="0" rtlCol="0" anchor="ctr"/>
          <a:lstStyle/>
          <a:p>
            <a:pPr indent="0" marL="0">
              <a:buNone/>
            </a:pPr>
            <a:r>
              <a:rPr lang="en-US" sz="1600" dirty="0">
                <a:solidFill>
                  <a:srgbClr val="95A3B8"/>
                </a:solidFill>
                <a:latin typeface="Calibri" pitchFamily="34" charset="0"/>
                <a:ea typeface="Calibri" pitchFamily="34" charset="-122"/>
                <a:cs typeface="Calibri" pitchFamily="34" charset="-120"/>
              </a:rPr>
              <a:t>Bascule vers Figma — les vingt écrans maquettés avant la première ligne de code.</a:t>
            </a:r>
            <a:endParaRPr lang="en-US" sz="1600" dirty="0"/>
          </a:p>
        </p:txBody>
      </p:sp>
      <p:sp>
        <p:nvSpPr>
          <p:cNvPr id="6" name="Shape 4"/>
          <p:cNvSpPr/>
          <p:nvPr/>
        </p:nvSpPr>
        <p:spPr>
          <a:xfrm>
            <a:off x="685800" y="3803904"/>
            <a:ext cx="274320" cy="274320"/>
          </a:xfrm>
          <a:prstGeom prst="ellipse">
            <a:avLst/>
          </a:prstGeom>
          <a:solidFill>
            <a:srgbClr val="5B9BFF"/>
          </a:solidFill>
          <a:ln w="12700">
            <a:solidFill>
              <a:srgbClr val="5B9BFF"/>
            </a:solidFill>
            <a:prstDash val="solid"/>
          </a:ln>
        </p:spPr>
      </p:sp>
      <p:sp>
        <p:nvSpPr>
          <p:cNvPr id="7" name="Text 5"/>
          <p:cNvSpPr txBox="1"/>
          <p:nvPr/>
        </p:nvSpPr>
        <p:spPr>
          <a:xfrm>
            <a:off x="1143000" y="3749040"/>
            <a:ext cx="3657600" cy="274320"/>
          </a:xfrm>
          <a:prstGeom prst="rect">
            <a:avLst/>
          </a:prstGeom>
          <a:noFill/>
          <a:ln/>
        </p:spPr>
        <p:txBody>
          <a:bodyPr wrap="square" lIns="0" tIns="0" rIns="0" bIns="0" rtlCol="0" anchor="ctr"/>
          <a:lstStyle/>
          <a:p>
            <a:pPr indent="0" marL="0">
              <a:buNone/>
            </a:pPr>
            <a:r>
              <a:rPr lang="en-US" sz="1500" b="1" dirty="0">
                <a:solidFill>
                  <a:srgbClr val="E8EEF7"/>
                </a:solidFill>
                <a:latin typeface="Calibri" pitchFamily="34" charset="0"/>
                <a:ea typeface="Calibri" pitchFamily="34" charset="-122"/>
                <a:cs typeface="Calibri" pitchFamily="34" charset="-120"/>
              </a:rPr>
              <a:t>Figer le vocabulaire</a:t>
            </a:r>
            <a:endParaRPr lang="en-US" sz="1500" dirty="0"/>
          </a:p>
        </p:txBody>
      </p:sp>
      <p:sp>
        <p:nvSpPr>
          <p:cNvPr id="8" name="Text 6"/>
          <p:cNvSpPr txBox="1"/>
          <p:nvPr/>
        </p:nvSpPr>
        <p:spPr>
          <a:xfrm>
            <a:off x="4892040" y="3767328"/>
            <a:ext cx="6583680" cy="502920"/>
          </a:xfrm>
          <a:prstGeom prst="rect">
            <a:avLst/>
          </a:prstGeom>
          <a:noFill/>
          <a:ln/>
        </p:spPr>
        <p:txBody>
          <a:bodyPr wrap="square" lIns="0" tIns="0" rIns="0" bIns="0" rtlCol="0" anchor="ctr"/>
          <a:lstStyle/>
          <a:p>
            <a:pPr indent="0" marL="0">
              <a:lnSpc>
                <a:spcPts val="1700"/>
              </a:lnSpc>
              <a:buNone/>
            </a:pPr>
            <a:r>
              <a:rPr lang="en-US" sz="1250" dirty="0">
                <a:solidFill>
                  <a:srgbClr val="95A3B8"/>
                </a:solidFill>
                <a:latin typeface="Calibri" pitchFamily="34" charset="0"/>
                <a:ea typeface="Calibri" pitchFamily="34" charset="-122"/>
                <a:cs typeface="Calibri" pitchFamily="34" charset="-120"/>
              </a:rPr>
              <a:t>créneau, battement, préavis, repère, plan d’étage — un objet, un seul nom</a:t>
            </a:r>
            <a:endParaRPr lang="en-US" sz="1250" dirty="0"/>
          </a:p>
        </p:txBody>
      </p:sp>
      <p:sp>
        <p:nvSpPr>
          <p:cNvPr id="9" name="Shape 7"/>
          <p:cNvSpPr/>
          <p:nvPr/>
        </p:nvSpPr>
        <p:spPr>
          <a:xfrm>
            <a:off x="685800" y="4553712"/>
            <a:ext cx="274320" cy="274320"/>
          </a:xfrm>
          <a:prstGeom prst="ellipse">
            <a:avLst/>
          </a:prstGeom>
          <a:solidFill>
            <a:srgbClr val="5B9BFF"/>
          </a:solidFill>
          <a:ln w="12700">
            <a:solidFill>
              <a:srgbClr val="5B9BFF"/>
            </a:solidFill>
            <a:prstDash val="solid"/>
          </a:ln>
        </p:spPr>
      </p:sp>
      <p:sp>
        <p:nvSpPr>
          <p:cNvPr id="10" name="Text 8"/>
          <p:cNvSpPr txBox="1"/>
          <p:nvPr/>
        </p:nvSpPr>
        <p:spPr>
          <a:xfrm>
            <a:off x="1143000" y="4498848"/>
            <a:ext cx="3657600" cy="274320"/>
          </a:xfrm>
          <a:prstGeom prst="rect">
            <a:avLst/>
          </a:prstGeom>
          <a:noFill/>
          <a:ln/>
        </p:spPr>
        <p:txBody>
          <a:bodyPr wrap="square" lIns="0" tIns="0" rIns="0" bIns="0" rtlCol="0" anchor="ctr"/>
          <a:lstStyle/>
          <a:p>
            <a:pPr indent="0" marL="0">
              <a:buNone/>
            </a:pPr>
            <a:r>
              <a:rPr lang="en-US" sz="1500" b="1" dirty="0">
                <a:solidFill>
                  <a:srgbClr val="E8EEF7"/>
                </a:solidFill>
                <a:latin typeface="Calibri" pitchFamily="34" charset="0"/>
                <a:ea typeface="Calibri" pitchFamily="34" charset="-122"/>
                <a:cs typeface="Calibri" pitchFamily="34" charset="-120"/>
              </a:rPr>
              <a:t>Révéler les trous fonctionnels</a:t>
            </a:r>
            <a:endParaRPr lang="en-US" sz="1500" dirty="0"/>
          </a:p>
        </p:txBody>
      </p:sp>
      <p:sp>
        <p:nvSpPr>
          <p:cNvPr id="11" name="Text 9"/>
          <p:cNvSpPr txBox="1"/>
          <p:nvPr/>
        </p:nvSpPr>
        <p:spPr>
          <a:xfrm>
            <a:off x="4892040" y="4517136"/>
            <a:ext cx="6583680" cy="502920"/>
          </a:xfrm>
          <a:prstGeom prst="rect">
            <a:avLst/>
          </a:prstGeom>
          <a:noFill/>
          <a:ln/>
        </p:spPr>
        <p:txBody>
          <a:bodyPr wrap="square" lIns="0" tIns="0" rIns="0" bIns="0" rtlCol="0" anchor="ctr"/>
          <a:lstStyle/>
          <a:p>
            <a:pPr indent="0" marL="0">
              <a:lnSpc>
                <a:spcPts val="1700"/>
              </a:lnSpc>
              <a:buNone/>
            </a:pPr>
            <a:r>
              <a:rPr lang="en-US" sz="1250" dirty="0">
                <a:solidFill>
                  <a:srgbClr val="95A3B8"/>
                </a:solidFill>
                <a:latin typeface="Calibri" pitchFamily="34" charset="0"/>
                <a:ea typeface="Calibri" pitchFamily="34" charset="-122"/>
                <a:cs typeface="Calibri" pitchFamily="34" charset="-120"/>
              </a:rPr>
              <a:t>la fenêtre de validation et la référence de conflit sont nées en dessinant</a:t>
            </a:r>
            <a:endParaRPr lang="en-US" sz="1250" dirty="0"/>
          </a:p>
        </p:txBody>
      </p:sp>
      <p:sp>
        <p:nvSpPr>
          <p:cNvPr id="12" name="Shape 10"/>
          <p:cNvSpPr/>
          <p:nvPr/>
        </p:nvSpPr>
        <p:spPr>
          <a:xfrm>
            <a:off x="685800" y="5303520"/>
            <a:ext cx="274320" cy="274320"/>
          </a:xfrm>
          <a:prstGeom prst="ellipse">
            <a:avLst/>
          </a:prstGeom>
          <a:solidFill>
            <a:srgbClr val="5B9BFF"/>
          </a:solidFill>
          <a:ln w="12700">
            <a:solidFill>
              <a:srgbClr val="5B9BFF"/>
            </a:solidFill>
            <a:prstDash val="solid"/>
          </a:ln>
        </p:spPr>
      </p:sp>
      <p:sp>
        <p:nvSpPr>
          <p:cNvPr id="13" name="Text 11"/>
          <p:cNvSpPr txBox="1"/>
          <p:nvPr/>
        </p:nvSpPr>
        <p:spPr>
          <a:xfrm>
            <a:off x="1143000" y="5248656"/>
            <a:ext cx="3657600" cy="274320"/>
          </a:xfrm>
          <a:prstGeom prst="rect">
            <a:avLst/>
          </a:prstGeom>
          <a:noFill/>
          <a:ln/>
        </p:spPr>
        <p:txBody>
          <a:bodyPr wrap="square" lIns="0" tIns="0" rIns="0" bIns="0" rtlCol="0" anchor="ctr"/>
          <a:lstStyle/>
          <a:p>
            <a:pPr indent="0" marL="0">
              <a:buNone/>
            </a:pPr>
            <a:r>
              <a:rPr lang="en-US" sz="1500" b="1" dirty="0">
                <a:solidFill>
                  <a:srgbClr val="E8EEF7"/>
                </a:solidFill>
                <a:latin typeface="Calibri" pitchFamily="34" charset="0"/>
                <a:ea typeface="Calibri" pitchFamily="34" charset="-122"/>
                <a:cs typeface="Calibri" pitchFamily="34" charset="-120"/>
              </a:rPr>
              <a:t>Fixer le système de design</a:t>
            </a:r>
            <a:endParaRPr lang="en-US" sz="1500" dirty="0"/>
          </a:p>
        </p:txBody>
      </p:sp>
      <p:sp>
        <p:nvSpPr>
          <p:cNvPr id="14" name="Text 12"/>
          <p:cNvSpPr txBox="1"/>
          <p:nvPr/>
        </p:nvSpPr>
        <p:spPr>
          <a:xfrm>
            <a:off x="4892040" y="5266944"/>
            <a:ext cx="6583680" cy="502920"/>
          </a:xfrm>
          <a:prstGeom prst="rect">
            <a:avLst/>
          </a:prstGeom>
          <a:noFill/>
          <a:ln/>
        </p:spPr>
        <p:txBody>
          <a:bodyPr wrap="square" lIns="0" tIns="0" rIns="0" bIns="0" rtlCol="0" anchor="ctr"/>
          <a:lstStyle/>
          <a:p>
            <a:pPr indent="0" marL="0">
              <a:lnSpc>
                <a:spcPts val="1700"/>
              </a:lnSpc>
              <a:buNone/>
            </a:pPr>
            <a:r>
              <a:rPr lang="en-US" sz="1250" dirty="0">
                <a:solidFill>
                  <a:srgbClr val="95A3B8"/>
                </a:solidFill>
                <a:latin typeface="Calibri" pitchFamily="34" charset="0"/>
                <a:ea typeface="Calibri" pitchFamily="34" charset="-122"/>
                <a:cs typeface="Calibri" pitchFamily="34" charset="-120"/>
              </a:rPr>
              <a:t>jetons, états, composants — 20 maquettes ont produit 52 écrans et 152 composants</a:t>
            </a:r>
            <a:endParaRPr lang="en-US" sz="1250" dirty="0"/>
          </a:p>
        </p:txBody>
      </p:sp>
      <p:sp>
        <p:nvSpPr>
          <p:cNvPr id="15" name="Shape 13"/>
          <p:cNvSpPr/>
          <p:nvPr/>
        </p:nvSpPr>
        <p:spPr>
          <a:xfrm>
            <a:off x="11292840" y="6144768"/>
            <a:ext cx="365760" cy="365760"/>
          </a:xfrm>
          <a:prstGeom prst="ellipse">
            <a:avLst/>
          </a:prstGeom>
          <a:solidFill>
            <a:srgbClr val="232E42"/>
          </a:solidFill>
          <a:ln w="12700">
            <a:solidFill>
              <a:srgbClr val="232E42"/>
            </a:solidFill>
            <a:prstDash val="solid"/>
          </a:ln>
        </p:spPr>
      </p:sp>
      <p:sp>
        <p:nvSpPr>
          <p:cNvPr id="16" name="Text 14"/>
          <p:cNvSpPr txBox="1"/>
          <p:nvPr/>
        </p:nvSpPr>
        <p:spPr>
          <a:xfrm>
            <a:off x="11292840" y="6144768"/>
            <a:ext cx="365760" cy="365760"/>
          </a:xfrm>
          <a:prstGeom prst="rect">
            <a:avLst/>
          </a:prstGeom>
          <a:noFill/>
          <a:ln/>
        </p:spPr>
        <p:txBody>
          <a:bodyPr wrap="square" lIns="0" tIns="0" rIns="0" bIns="0" rtlCol="0" anchor="ctr"/>
          <a:lstStyle/>
          <a:p>
            <a:pPr algn="ctr" indent="0" marL="0">
              <a:buNone/>
            </a:pPr>
            <a:r>
              <a:rPr lang="en-US" sz="1100" b="1" dirty="0">
                <a:solidFill>
                  <a:srgbClr val="95A3B8"/>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85800" y="384048"/>
            <a:ext cx="10820095" cy="237744"/>
          </a:xfrm>
          <a:prstGeom prst="rect">
            <a:avLst/>
          </a:prstGeom>
          <a:noFill/>
          <a:ln/>
        </p:spPr>
        <p:txBody>
          <a:bodyPr wrap="square" lIns="0" tIns="0" rIns="0" bIns="0" rtlCol="0" anchor="ctr"/>
          <a:lstStyle/>
          <a:p>
            <a:pPr indent="0" marL="0">
              <a:buNone/>
            </a:pPr>
            <a:r>
              <a:rPr lang="en-US" sz="1100" b="1" spc="200" kern="0" dirty="0">
                <a:solidFill>
                  <a:srgbClr val="5B9BFF"/>
                </a:solidFill>
                <a:latin typeface="Calibri" pitchFamily="34" charset="0"/>
                <a:ea typeface="Calibri" pitchFamily="34" charset="-122"/>
                <a:cs typeface="Calibri" pitchFamily="34" charset="-120"/>
              </a:rPr>
              <a:t>5 — ARCHITECTURE</a:t>
            </a:r>
            <a:endParaRPr lang="en-US" sz="1100" dirty="0"/>
          </a:p>
        </p:txBody>
      </p:sp>
      <p:sp>
        <p:nvSpPr>
          <p:cNvPr id="3" name="Text 1"/>
          <p:cNvSpPr txBox="1"/>
          <p:nvPr/>
        </p:nvSpPr>
        <p:spPr>
          <a:xfrm>
            <a:off x="685800" y="658368"/>
            <a:ext cx="9997135" cy="777240"/>
          </a:xfrm>
          <a:prstGeom prst="rect">
            <a:avLst/>
          </a:prstGeom>
          <a:noFill/>
          <a:ln/>
        </p:spPr>
        <p:txBody>
          <a:bodyPr wrap="square" lIns="0" tIns="0" rIns="0" bIns="0" rtlCol="0" anchor="t"/>
          <a:lstStyle/>
          <a:p>
            <a:pPr indent="0" marL="0">
              <a:buNone/>
            </a:pPr>
            <a:r>
              <a:rPr lang="en-US" sz="3200" b="1" dirty="0">
                <a:solidFill>
                  <a:srgbClr val="E8EEF7"/>
                </a:solidFill>
                <a:latin typeface="Calibri" pitchFamily="34" charset="0"/>
                <a:ea typeface="Calibri" pitchFamily="34" charset="-122"/>
                <a:cs typeface="Calibri" pitchFamily="34" charset="-120"/>
              </a:rPr>
              <a:t>Quatre couches, une règle stricte</a:t>
            </a:r>
            <a:endParaRPr lang="en-US" sz="3200" dirty="0"/>
          </a:p>
        </p:txBody>
      </p:sp>
      <p:sp>
        <p:nvSpPr>
          <p:cNvPr id="4" name="Shape 2"/>
          <p:cNvSpPr/>
          <p:nvPr/>
        </p:nvSpPr>
        <p:spPr>
          <a:xfrm>
            <a:off x="11292840" y="6144768"/>
            <a:ext cx="365760" cy="365760"/>
          </a:xfrm>
          <a:prstGeom prst="ellipse">
            <a:avLst/>
          </a:prstGeom>
          <a:solidFill>
            <a:srgbClr val="232E42"/>
          </a:solidFill>
          <a:ln w="12700">
            <a:solidFill>
              <a:srgbClr val="232E42"/>
            </a:solidFill>
            <a:prstDash val="solid"/>
          </a:ln>
        </p:spPr>
      </p:sp>
      <p:sp>
        <p:nvSpPr>
          <p:cNvPr id="5" name="Text 3"/>
          <p:cNvSpPr txBox="1"/>
          <p:nvPr/>
        </p:nvSpPr>
        <p:spPr>
          <a:xfrm>
            <a:off x="11292840" y="6144768"/>
            <a:ext cx="365760" cy="365760"/>
          </a:xfrm>
          <a:prstGeom prst="rect">
            <a:avLst/>
          </a:prstGeom>
          <a:noFill/>
          <a:ln/>
        </p:spPr>
        <p:txBody>
          <a:bodyPr wrap="square" lIns="0" tIns="0" rIns="0" bIns="0" rtlCol="0" anchor="ctr"/>
          <a:lstStyle/>
          <a:p>
            <a:pPr algn="ctr" indent="0" marL="0">
              <a:buNone/>
            </a:pPr>
            <a:r>
              <a:rPr lang="en-US" sz="1100" b="1" dirty="0">
                <a:solidFill>
                  <a:srgbClr val="95A3B8"/>
                </a:solidFill>
                <a:latin typeface="Calibri" pitchFamily="34" charset="0"/>
                <a:ea typeface="Calibri" pitchFamily="34" charset="-122"/>
                <a:cs typeface="Calibri" pitchFamily="34" charset="-120"/>
              </a:rPr>
              <a:t>7</a:t>
            </a:r>
            <a:endParaRPr lang="en-US" sz="1100" dirty="0"/>
          </a:p>
        </p:txBody>
      </p:sp>
      <p:sp>
        <p:nvSpPr>
          <p:cNvPr id="7" name="Shape 4"/>
          <p:cNvSpPr/>
          <p:nvPr/>
        </p:nvSpPr>
        <p:spPr>
          <a:xfrm>
            <a:off x="685800" y="1600200"/>
            <a:ext cx="6583680" cy="713232"/>
          </a:xfrm>
          <a:prstGeom prst="roundRect">
            <a:avLst>
              <a:gd name="adj" fmla="val 10256"/>
            </a:avLst>
          </a:prstGeom>
          <a:solidFill>
            <a:srgbClr val="1A2231"/>
          </a:solidFill>
          <a:ln w="12700">
            <a:solidFill>
              <a:srgbClr val="232E42"/>
            </a:solidFill>
            <a:prstDash val="solid"/>
          </a:ln>
        </p:spPr>
      </p:sp>
      <p:sp>
        <p:nvSpPr>
          <p:cNvPr id="8" name="Text 5"/>
          <p:cNvSpPr txBox="1"/>
          <p:nvPr/>
        </p:nvSpPr>
        <p:spPr>
          <a:xfrm>
            <a:off x="960120" y="1719072"/>
            <a:ext cx="1737360" cy="274320"/>
          </a:xfrm>
          <a:prstGeom prst="rect">
            <a:avLst/>
          </a:prstGeom>
          <a:noFill/>
          <a:ln/>
        </p:spPr>
        <p:txBody>
          <a:bodyPr wrap="square" lIns="0" tIns="0" rIns="0" bIns="0" rtlCol="0" anchor="ctr"/>
          <a:lstStyle/>
          <a:p>
            <a:pPr indent="0" marL="0">
              <a:buNone/>
            </a:pPr>
            <a:r>
              <a:rPr lang="en-US" sz="1350" b="1" dirty="0">
                <a:solidFill>
                  <a:srgbClr val="E8EEF7"/>
                </a:solidFill>
                <a:latin typeface="Courier New" pitchFamily="34" charset="0"/>
                <a:ea typeface="Courier New" pitchFamily="34" charset="-122"/>
                <a:cs typeface="Courier New" pitchFamily="34" charset="-120"/>
              </a:rPr>
              <a:t>app/api</a:t>
            </a:r>
            <a:endParaRPr lang="en-US" sz="1350" dirty="0"/>
          </a:p>
        </p:txBody>
      </p:sp>
      <p:sp>
        <p:nvSpPr>
          <p:cNvPr id="9" name="Text 6"/>
          <p:cNvSpPr txBox="1"/>
          <p:nvPr/>
        </p:nvSpPr>
        <p:spPr>
          <a:xfrm>
            <a:off x="2788920" y="1719072"/>
            <a:ext cx="2743200" cy="274320"/>
          </a:xfrm>
          <a:prstGeom prst="rect">
            <a:avLst/>
          </a:prstGeom>
          <a:noFill/>
          <a:ln/>
        </p:spPr>
        <p:txBody>
          <a:bodyPr wrap="square" lIns="0" tIns="0" rIns="0" bIns="0" rtlCol="0" anchor="ctr"/>
          <a:lstStyle/>
          <a:p>
            <a:pPr indent="0" marL="0">
              <a:buNone/>
            </a:pPr>
            <a:r>
              <a:rPr lang="en-US" sz="1250" dirty="0">
                <a:solidFill>
                  <a:srgbClr val="E8EEF7"/>
                </a:solidFill>
                <a:latin typeface="Calibri" pitchFamily="34" charset="0"/>
                <a:ea typeface="Calibri" pitchFamily="34" charset="-122"/>
                <a:cs typeface="Calibri" pitchFamily="34" charset="-120"/>
              </a:rPr>
              <a:t>Routage, validation, sérialisation</a:t>
            </a:r>
            <a:endParaRPr lang="en-US" sz="1250" dirty="0"/>
          </a:p>
        </p:txBody>
      </p:sp>
      <p:sp>
        <p:nvSpPr>
          <p:cNvPr id="10" name="Text 7"/>
          <p:cNvSpPr txBox="1"/>
          <p:nvPr/>
        </p:nvSpPr>
        <p:spPr>
          <a:xfrm>
            <a:off x="2788920" y="1984248"/>
            <a:ext cx="4206240" cy="256032"/>
          </a:xfrm>
          <a:prstGeom prst="rect">
            <a:avLst/>
          </a:prstGeom>
          <a:noFill/>
          <a:ln/>
        </p:spPr>
        <p:txBody>
          <a:bodyPr wrap="square" lIns="0" tIns="0" rIns="0" bIns="0" rtlCol="0" anchor="ctr"/>
          <a:lstStyle/>
          <a:p>
            <a:pPr indent="0" marL="0">
              <a:buNone/>
            </a:pPr>
            <a:r>
              <a:rPr lang="en-US" sz="1100" dirty="0">
                <a:solidFill>
                  <a:srgbClr val="6B7789"/>
                </a:solidFill>
                <a:latin typeface="Calibri" pitchFamily="34" charset="0"/>
                <a:ea typeface="Calibri" pitchFamily="34" charset="-122"/>
                <a:cs typeface="Calibri" pitchFamily="34" charset="-120"/>
              </a:rPr>
              <a:t>Interdit : toute règle métier</a:t>
            </a:r>
            <a:endParaRPr lang="en-US" sz="1100" dirty="0"/>
          </a:p>
        </p:txBody>
      </p:sp>
      <p:sp>
        <p:nvSpPr>
          <p:cNvPr id="11" name="Shape 8"/>
          <p:cNvSpPr/>
          <p:nvPr/>
        </p:nvSpPr>
        <p:spPr>
          <a:xfrm>
            <a:off x="685800" y="2441448"/>
            <a:ext cx="6583680" cy="713232"/>
          </a:xfrm>
          <a:prstGeom prst="roundRect">
            <a:avLst>
              <a:gd name="adj" fmla="val 10256"/>
            </a:avLst>
          </a:prstGeom>
          <a:solidFill>
            <a:srgbClr val="1A2231"/>
          </a:solidFill>
          <a:ln w="12700">
            <a:solidFill>
              <a:srgbClr val="232E42"/>
            </a:solidFill>
            <a:prstDash val="solid"/>
          </a:ln>
        </p:spPr>
      </p:sp>
      <p:sp>
        <p:nvSpPr>
          <p:cNvPr id="12" name="Text 9"/>
          <p:cNvSpPr txBox="1"/>
          <p:nvPr/>
        </p:nvSpPr>
        <p:spPr>
          <a:xfrm>
            <a:off x="960120" y="2560320"/>
            <a:ext cx="1737360" cy="274320"/>
          </a:xfrm>
          <a:prstGeom prst="rect">
            <a:avLst/>
          </a:prstGeom>
          <a:noFill/>
          <a:ln/>
        </p:spPr>
        <p:txBody>
          <a:bodyPr wrap="square" lIns="0" tIns="0" rIns="0" bIns="0" rtlCol="0" anchor="ctr"/>
          <a:lstStyle/>
          <a:p>
            <a:pPr indent="0" marL="0">
              <a:buNone/>
            </a:pPr>
            <a:r>
              <a:rPr lang="en-US" sz="1350" b="1" dirty="0">
                <a:solidFill>
                  <a:srgbClr val="E8EEF7"/>
                </a:solidFill>
                <a:latin typeface="Courier New" pitchFamily="34" charset="0"/>
                <a:ea typeface="Courier New" pitchFamily="34" charset="-122"/>
                <a:cs typeface="Courier New" pitchFamily="34" charset="-120"/>
              </a:rPr>
              <a:t>app/services</a:t>
            </a:r>
            <a:endParaRPr lang="en-US" sz="1350" dirty="0"/>
          </a:p>
        </p:txBody>
      </p:sp>
      <p:sp>
        <p:nvSpPr>
          <p:cNvPr id="13" name="Text 10"/>
          <p:cNvSpPr txBox="1"/>
          <p:nvPr/>
        </p:nvSpPr>
        <p:spPr>
          <a:xfrm>
            <a:off x="2788920" y="2560320"/>
            <a:ext cx="2743200" cy="274320"/>
          </a:xfrm>
          <a:prstGeom prst="rect">
            <a:avLst/>
          </a:prstGeom>
          <a:noFill/>
          <a:ln/>
        </p:spPr>
        <p:txBody>
          <a:bodyPr wrap="square" lIns="0" tIns="0" rIns="0" bIns="0" rtlCol="0" anchor="ctr"/>
          <a:lstStyle/>
          <a:p>
            <a:pPr indent="0" marL="0">
              <a:buNone/>
            </a:pPr>
            <a:r>
              <a:rPr lang="en-US" sz="1250" dirty="0">
                <a:solidFill>
                  <a:srgbClr val="E8EEF7"/>
                </a:solidFill>
                <a:latin typeface="Calibri" pitchFamily="34" charset="0"/>
                <a:ea typeface="Calibri" pitchFamily="34" charset="-122"/>
                <a:cs typeface="Calibri" pitchFamily="34" charset="-120"/>
              </a:rPr>
              <a:t>Orchestration métier — 17 services</a:t>
            </a:r>
            <a:endParaRPr lang="en-US" sz="1250" dirty="0"/>
          </a:p>
        </p:txBody>
      </p:sp>
      <p:sp>
        <p:nvSpPr>
          <p:cNvPr id="14" name="Text 11"/>
          <p:cNvSpPr txBox="1"/>
          <p:nvPr/>
        </p:nvSpPr>
        <p:spPr>
          <a:xfrm>
            <a:off x="2788920" y="2825496"/>
            <a:ext cx="4206240" cy="256032"/>
          </a:xfrm>
          <a:prstGeom prst="rect">
            <a:avLst/>
          </a:prstGeom>
          <a:noFill/>
          <a:ln/>
        </p:spPr>
        <p:txBody>
          <a:bodyPr wrap="square" lIns="0" tIns="0" rIns="0" bIns="0" rtlCol="0" anchor="ctr"/>
          <a:lstStyle/>
          <a:p>
            <a:pPr indent="0" marL="0">
              <a:buNone/>
            </a:pPr>
            <a:r>
              <a:rPr lang="en-US" sz="1100" dirty="0">
                <a:solidFill>
                  <a:srgbClr val="6B7789"/>
                </a:solidFill>
                <a:latin typeface="Calibri" pitchFamily="34" charset="0"/>
                <a:ea typeface="Calibri" pitchFamily="34" charset="-122"/>
                <a:cs typeface="Calibri" pitchFamily="34" charset="-120"/>
              </a:rPr>
              <a:t>Interdit : connaître HTTP</a:t>
            </a:r>
            <a:endParaRPr lang="en-US" sz="1100" dirty="0"/>
          </a:p>
        </p:txBody>
      </p:sp>
      <p:sp>
        <p:nvSpPr>
          <p:cNvPr id="15" name="Shape 12"/>
          <p:cNvSpPr/>
          <p:nvPr/>
        </p:nvSpPr>
        <p:spPr>
          <a:xfrm>
            <a:off x="685800" y="3282696"/>
            <a:ext cx="6583680" cy="713232"/>
          </a:xfrm>
          <a:prstGeom prst="roundRect">
            <a:avLst>
              <a:gd name="adj" fmla="val 10256"/>
            </a:avLst>
          </a:prstGeom>
          <a:solidFill>
            <a:srgbClr val="1B3358"/>
          </a:solidFill>
          <a:ln w="12700">
            <a:solidFill>
              <a:srgbClr val="232E42"/>
            </a:solidFill>
            <a:prstDash val="solid"/>
          </a:ln>
        </p:spPr>
      </p:sp>
      <p:sp>
        <p:nvSpPr>
          <p:cNvPr id="16" name="Text 13"/>
          <p:cNvSpPr txBox="1"/>
          <p:nvPr/>
        </p:nvSpPr>
        <p:spPr>
          <a:xfrm>
            <a:off x="960120" y="3401568"/>
            <a:ext cx="1737360" cy="274320"/>
          </a:xfrm>
          <a:prstGeom prst="rect">
            <a:avLst/>
          </a:prstGeom>
          <a:noFill/>
          <a:ln/>
        </p:spPr>
        <p:txBody>
          <a:bodyPr wrap="square" lIns="0" tIns="0" rIns="0" bIns="0" rtlCol="0" anchor="ctr"/>
          <a:lstStyle/>
          <a:p>
            <a:pPr indent="0" marL="0">
              <a:buNone/>
            </a:pPr>
            <a:r>
              <a:rPr lang="en-US" sz="1350" b="1" dirty="0">
                <a:solidFill>
                  <a:srgbClr val="5B9BFF"/>
                </a:solidFill>
                <a:latin typeface="Courier New" pitchFamily="34" charset="0"/>
                <a:ea typeface="Courier New" pitchFamily="34" charset="-122"/>
                <a:cs typeface="Courier New" pitchFamily="34" charset="-120"/>
              </a:rPr>
              <a:t>app/domain</a:t>
            </a:r>
            <a:endParaRPr lang="en-US" sz="1350" dirty="0"/>
          </a:p>
        </p:txBody>
      </p:sp>
      <p:sp>
        <p:nvSpPr>
          <p:cNvPr id="17" name="Text 14"/>
          <p:cNvSpPr txBox="1"/>
          <p:nvPr/>
        </p:nvSpPr>
        <p:spPr>
          <a:xfrm>
            <a:off x="2788920" y="3401568"/>
            <a:ext cx="2743200" cy="274320"/>
          </a:xfrm>
          <a:prstGeom prst="rect">
            <a:avLst/>
          </a:prstGeom>
          <a:noFill/>
          <a:ln/>
        </p:spPr>
        <p:txBody>
          <a:bodyPr wrap="square" lIns="0" tIns="0" rIns="0" bIns="0" rtlCol="0" anchor="ctr"/>
          <a:lstStyle/>
          <a:p>
            <a:pPr indent="0" marL="0">
              <a:buNone/>
            </a:pPr>
            <a:r>
              <a:rPr lang="en-US" sz="1250" dirty="0">
                <a:solidFill>
                  <a:srgbClr val="E8EEF7"/>
                </a:solidFill>
                <a:latin typeface="Calibri" pitchFamily="34" charset="0"/>
                <a:ea typeface="Calibri" pitchFamily="34" charset="-122"/>
                <a:cs typeface="Calibri" pitchFamily="34" charset="-120"/>
              </a:rPr>
              <a:t>Règles pures, sans dépendance</a:t>
            </a:r>
            <a:endParaRPr lang="en-US" sz="1250" dirty="0"/>
          </a:p>
        </p:txBody>
      </p:sp>
      <p:sp>
        <p:nvSpPr>
          <p:cNvPr id="18" name="Text 15"/>
          <p:cNvSpPr txBox="1"/>
          <p:nvPr/>
        </p:nvSpPr>
        <p:spPr>
          <a:xfrm>
            <a:off x="2788920" y="3666744"/>
            <a:ext cx="4206240" cy="256032"/>
          </a:xfrm>
          <a:prstGeom prst="rect">
            <a:avLst/>
          </a:prstGeom>
          <a:noFill/>
          <a:ln/>
        </p:spPr>
        <p:txBody>
          <a:bodyPr wrap="square" lIns="0" tIns="0" rIns="0" bIns="0" rtlCol="0" anchor="ctr"/>
          <a:lstStyle/>
          <a:p>
            <a:pPr indent="0" marL="0">
              <a:buNone/>
            </a:pPr>
            <a:r>
              <a:rPr lang="en-US" sz="1100" dirty="0">
                <a:solidFill>
                  <a:srgbClr val="6B7789"/>
                </a:solidFill>
                <a:latin typeface="Calibri" pitchFamily="34" charset="0"/>
                <a:ea typeface="Calibri" pitchFamily="34" charset="-122"/>
                <a:cs typeface="Calibri" pitchFamily="34" charset="-120"/>
              </a:rPr>
              <a:t>Interdit : importer SQLAlchemy</a:t>
            </a:r>
            <a:endParaRPr lang="en-US" sz="1100" dirty="0"/>
          </a:p>
        </p:txBody>
      </p:sp>
      <p:sp>
        <p:nvSpPr>
          <p:cNvPr id="19" name="Shape 16"/>
          <p:cNvSpPr/>
          <p:nvPr/>
        </p:nvSpPr>
        <p:spPr>
          <a:xfrm>
            <a:off x="685800" y="4123944"/>
            <a:ext cx="6583680" cy="713232"/>
          </a:xfrm>
          <a:prstGeom prst="roundRect">
            <a:avLst>
              <a:gd name="adj" fmla="val 10256"/>
            </a:avLst>
          </a:prstGeom>
          <a:solidFill>
            <a:srgbClr val="1A2231"/>
          </a:solidFill>
          <a:ln w="12700">
            <a:solidFill>
              <a:srgbClr val="232E42"/>
            </a:solidFill>
            <a:prstDash val="solid"/>
          </a:ln>
        </p:spPr>
      </p:sp>
      <p:sp>
        <p:nvSpPr>
          <p:cNvPr id="20" name="Text 17"/>
          <p:cNvSpPr txBox="1"/>
          <p:nvPr/>
        </p:nvSpPr>
        <p:spPr>
          <a:xfrm>
            <a:off x="960120" y="4242816"/>
            <a:ext cx="1737360" cy="274320"/>
          </a:xfrm>
          <a:prstGeom prst="rect">
            <a:avLst/>
          </a:prstGeom>
          <a:noFill/>
          <a:ln/>
        </p:spPr>
        <p:txBody>
          <a:bodyPr wrap="square" lIns="0" tIns="0" rIns="0" bIns="0" rtlCol="0" anchor="ctr"/>
          <a:lstStyle/>
          <a:p>
            <a:pPr indent="0" marL="0">
              <a:buNone/>
            </a:pPr>
            <a:r>
              <a:rPr lang="en-US" sz="1350" b="1" dirty="0">
                <a:solidFill>
                  <a:srgbClr val="E8EEF7"/>
                </a:solidFill>
                <a:latin typeface="Courier New" pitchFamily="34" charset="0"/>
                <a:ea typeface="Courier New" pitchFamily="34" charset="-122"/>
                <a:cs typeface="Courier New" pitchFamily="34" charset="-120"/>
              </a:rPr>
              <a:t>app/models</a:t>
            </a:r>
            <a:endParaRPr lang="en-US" sz="1350" dirty="0"/>
          </a:p>
        </p:txBody>
      </p:sp>
      <p:sp>
        <p:nvSpPr>
          <p:cNvPr id="21" name="Text 18"/>
          <p:cNvSpPr txBox="1"/>
          <p:nvPr/>
        </p:nvSpPr>
        <p:spPr>
          <a:xfrm>
            <a:off x="2788920" y="4242816"/>
            <a:ext cx="2743200" cy="274320"/>
          </a:xfrm>
          <a:prstGeom prst="rect">
            <a:avLst/>
          </a:prstGeom>
          <a:noFill/>
          <a:ln/>
        </p:spPr>
        <p:txBody>
          <a:bodyPr wrap="square" lIns="0" tIns="0" rIns="0" bIns="0" rtlCol="0" anchor="ctr"/>
          <a:lstStyle/>
          <a:p>
            <a:pPr indent="0" marL="0">
              <a:buNone/>
            </a:pPr>
            <a:r>
              <a:rPr lang="en-US" sz="1250" dirty="0">
                <a:solidFill>
                  <a:srgbClr val="E8EEF7"/>
                </a:solidFill>
                <a:latin typeface="Calibri" pitchFamily="34" charset="0"/>
                <a:ea typeface="Calibri" pitchFamily="34" charset="-122"/>
                <a:cs typeface="Calibri" pitchFamily="34" charset="-120"/>
              </a:rPr>
              <a:t>Cartographie SQLAlchemy</a:t>
            </a:r>
            <a:endParaRPr lang="en-US" sz="1250" dirty="0"/>
          </a:p>
        </p:txBody>
      </p:sp>
      <p:sp>
        <p:nvSpPr>
          <p:cNvPr id="22" name="Text 19"/>
          <p:cNvSpPr txBox="1"/>
          <p:nvPr/>
        </p:nvSpPr>
        <p:spPr>
          <a:xfrm>
            <a:off x="2788920" y="4507992"/>
            <a:ext cx="4206240" cy="256032"/>
          </a:xfrm>
          <a:prstGeom prst="rect">
            <a:avLst/>
          </a:prstGeom>
          <a:noFill/>
          <a:ln/>
        </p:spPr>
        <p:txBody>
          <a:bodyPr wrap="square" lIns="0" tIns="0" rIns="0" bIns="0" rtlCol="0" anchor="ctr"/>
          <a:lstStyle/>
          <a:p>
            <a:pPr indent="0" marL="0">
              <a:buNone/>
            </a:pPr>
            <a:r>
              <a:rPr lang="en-US" sz="1100" dirty="0">
                <a:solidFill>
                  <a:srgbClr val="6B7789"/>
                </a:solidFill>
                <a:latin typeface="Calibri" pitchFamily="34" charset="0"/>
                <a:ea typeface="Calibri" pitchFamily="34" charset="-122"/>
                <a:cs typeface="Calibri" pitchFamily="34" charset="-120"/>
              </a:rPr>
              <a:t>Interdit : contenir de la logique</a:t>
            </a:r>
            <a:endParaRPr lang="en-US" sz="1100" dirty="0"/>
          </a:p>
        </p:txBody>
      </p:sp>
      <p:sp>
        <p:nvSpPr>
          <p:cNvPr id="23" name="Shape 20"/>
          <p:cNvSpPr/>
          <p:nvPr/>
        </p:nvSpPr>
        <p:spPr>
          <a:xfrm>
            <a:off x="7635240" y="1600200"/>
            <a:ext cx="3867912" cy="3520440"/>
          </a:xfrm>
          <a:prstGeom prst="roundRect">
            <a:avLst>
              <a:gd name="adj" fmla="val 2078"/>
            </a:avLst>
          </a:prstGeom>
          <a:solidFill>
            <a:srgbClr val="232E42"/>
          </a:solidFill>
          <a:ln w="12700">
            <a:solidFill>
              <a:srgbClr val="232E42"/>
            </a:solidFill>
            <a:prstDash val="solid"/>
          </a:ln>
        </p:spPr>
      </p:sp>
      <p:sp>
        <p:nvSpPr>
          <p:cNvPr id="24" name="Text 21"/>
          <p:cNvSpPr txBox="1"/>
          <p:nvPr/>
        </p:nvSpPr>
        <p:spPr>
          <a:xfrm>
            <a:off x="7909560" y="1847088"/>
            <a:ext cx="3319272" cy="292608"/>
          </a:xfrm>
          <a:prstGeom prst="rect">
            <a:avLst/>
          </a:prstGeom>
          <a:noFill/>
          <a:ln/>
        </p:spPr>
        <p:txBody>
          <a:bodyPr wrap="square" lIns="0" tIns="0" rIns="0" bIns="0" rtlCol="0" anchor="ctr"/>
          <a:lstStyle/>
          <a:p>
            <a:pPr indent="0" marL="0">
              <a:buNone/>
            </a:pPr>
            <a:r>
              <a:rPr lang="en-US" sz="1500" b="1" dirty="0">
                <a:solidFill>
                  <a:srgbClr val="E8EEF7"/>
                </a:solidFill>
                <a:latin typeface="Calibri" pitchFamily="34" charset="0"/>
                <a:ea typeface="Calibri" pitchFamily="34" charset="-122"/>
                <a:cs typeface="Calibri" pitchFamily="34" charset="-120"/>
              </a:rPr>
              <a:t>Ce que cette règle apporte</a:t>
            </a:r>
            <a:endParaRPr lang="en-US" sz="1500" dirty="0"/>
          </a:p>
        </p:txBody>
      </p:sp>
      <p:sp>
        <p:nvSpPr>
          <p:cNvPr id="25" name="Text 22"/>
          <p:cNvSpPr txBox="1"/>
          <p:nvPr/>
        </p:nvSpPr>
        <p:spPr>
          <a:xfrm>
            <a:off x="7909560" y="2286000"/>
            <a:ext cx="3319272" cy="2560320"/>
          </a:xfrm>
          <a:prstGeom prst="rect">
            <a:avLst/>
          </a:prstGeom>
          <a:noFill/>
          <a:ln/>
        </p:spPr>
        <p:txBody>
          <a:bodyPr wrap="square" lIns="0" tIns="0" rIns="0" bIns="0" rtlCol="0" anchor="ctr"/>
          <a:lstStyle/>
          <a:p>
            <a:pPr marL="177800" indent="-177800">
              <a:lnSpc>
                <a:spcPts val="2000"/>
              </a:lnSpc>
              <a:spcAft>
                <a:spcPts val="800"/>
              </a:spcAft>
              <a:buSzPct val="100000"/>
              <a:buChar char="•"/>
            </a:pPr>
            <a:r>
              <a:rPr lang="en-US" sz="1250" dirty="0">
                <a:solidFill>
                  <a:srgbClr val="95A3B8"/>
                </a:solidFill>
                <a:latin typeface="Calibri" pitchFamily="34" charset="0"/>
                <a:ea typeface="Calibri" pitchFamily="34" charset="-122"/>
                <a:cs typeface="Calibri" pitchFamily="34" charset="-120"/>
              </a:rPr>
              <a:t>Le domaine se teste sans base de données</a:t>
            </a:r>
            <a:endParaRPr lang="en-US" sz="1250" dirty="0"/>
          </a:p>
          <a:p>
            <a:pPr marL="177800" indent="-177800">
              <a:lnSpc>
                <a:spcPts val="2000"/>
              </a:lnSpc>
              <a:spcAft>
                <a:spcPts val="800"/>
              </a:spcAft>
              <a:buSzPct val="100000"/>
              <a:buChar char="•"/>
            </a:pPr>
            <a:r>
              <a:rPr lang="en-US" sz="1250" dirty="0">
                <a:solidFill>
                  <a:srgbClr val="95A3B8"/>
                </a:solidFill>
                <a:latin typeface="Calibri" pitchFamily="34" charset="0"/>
                <a:ea typeface="Calibri" pitchFamily="34" charset="-122"/>
                <a:cs typeface="Calibri" pitchFamily="34" charset="-120"/>
              </a:rPr>
              <a:t>100 % de couverture de branches y est exigé</a:t>
            </a:r>
            <a:endParaRPr lang="en-US" sz="1250" dirty="0"/>
          </a:p>
          <a:p>
            <a:pPr marL="177800" indent="-177800">
              <a:lnSpc>
                <a:spcPts val="2000"/>
              </a:lnSpc>
              <a:spcAft>
                <a:spcPts val="800"/>
              </a:spcAft>
              <a:buSzPct val="100000"/>
              <a:buChar char="•"/>
            </a:pPr>
            <a:r>
              <a:rPr lang="en-US" sz="1250" dirty="0">
                <a:solidFill>
                  <a:srgbClr val="95A3B8"/>
                </a:solidFill>
                <a:latin typeface="Calibri" pitchFamily="34" charset="0"/>
                <a:ea typeface="Calibri" pitchFamily="34" charset="-122"/>
                <a:cs typeface="Calibri" pitchFamily="34" charset="-120"/>
              </a:rPr>
              <a:t>Un défaut de règle se corrige au même endroit</a:t>
            </a:r>
            <a:endParaRPr lang="en-US" sz="1250" dirty="0"/>
          </a:p>
          <a:p>
            <a:pPr marL="177800" indent="-177800">
              <a:lnSpc>
                <a:spcPts val="2000"/>
              </a:lnSpc>
              <a:spcAft>
                <a:spcPts val="800"/>
              </a:spcAft>
              <a:buSzPct val="100000"/>
              <a:buChar char="•"/>
            </a:pPr>
            <a:r>
              <a:rPr lang="en-US" sz="1250" dirty="0">
                <a:solidFill>
                  <a:srgbClr val="95A3B8"/>
                </a:solidFill>
                <a:latin typeface="Calibri" pitchFamily="34" charset="0"/>
                <a:ea typeface="Calibri" pitchFamily="34" charset="-122"/>
                <a:cs typeface="Calibri" pitchFamily="34" charset="-120"/>
              </a:rPr>
              <a:t>Trois personnes ont travaillé en parallèle sans se gêner</a:t>
            </a:r>
            <a:endParaRPr lang="en-US" sz="1250" dirty="0"/>
          </a:p>
        </p:txBody>
      </p:sp>
      <p:sp>
        <p:nvSpPr>
          <p:cNvPr id="26" name="Text 23"/>
          <p:cNvSpPr txBox="1"/>
          <p:nvPr/>
        </p:nvSpPr>
        <p:spPr>
          <a:xfrm>
            <a:off x="685800" y="5349240"/>
            <a:ext cx="10820095" cy="365760"/>
          </a:xfrm>
          <a:prstGeom prst="rect">
            <a:avLst/>
          </a:prstGeom>
          <a:noFill/>
          <a:ln/>
        </p:spPr>
        <p:txBody>
          <a:bodyPr wrap="square" lIns="0" tIns="0" rIns="0" bIns="0" rtlCol="0" anchor="ctr"/>
          <a:lstStyle/>
          <a:p>
            <a:pPr indent="0" marL="0">
              <a:buNone/>
            </a:pPr>
            <a:r>
              <a:rPr lang="en-US" sz="1300" dirty="0">
                <a:solidFill>
                  <a:srgbClr val="6B7789"/>
                </a:solidFill>
                <a:latin typeface="Calibri" pitchFamily="34" charset="0"/>
                <a:ea typeface="Calibri" pitchFamily="34" charset="-122"/>
                <a:cs typeface="Calibri" pitchFamily="34" charset="-120"/>
              </a:rPr>
              <a:t>PostgreSQL et pgvector · FastAPI et SQLAlchemy 2 · React, Vite et Tailwind · 128 routes · 46 tables · 13 migrations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85800" y="384048"/>
            <a:ext cx="10820095" cy="237744"/>
          </a:xfrm>
          <a:prstGeom prst="rect">
            <a:avLst/>
          </a:prstGeom>
          <a:noFill/>
          <a:ln/>
        </p:spPr>
        <p:txBody>
          <a:bodyPr wrap="square" lIns="0" tIns="0" rIns="0" bIns="0" rtlCol="0" anchor="ctr"/>
          <a:lstStyle/>
          <a:p>
            <a:pPr indent="0" marL="0">
              <a:buNone/>
            </a:pPr>
            <a:r>
              <a:rPr lang="en-US" sz="1100" b="1" spc="200" kern="0" dirty="0">
                <a:solidFill>
                  <a:srgbClr val="5B9BFF"/>
                </a:solidFill>
                <a:latin typeface="Calibri" pitchFamily="34" charset="0"/>
                <a:ea typeface="Calibri" pitchFamily="34" charset="-122"/>
                <a:cs typeface="Calibri" pitchFamily="34" charset="-120"/>
              </a:rPr>
              <a:t>6 — MODÉLISATION</a:t>
            </a:r>
            <a:endParaRPr lang="en-US" sz="1100" dirty="0"/>
          </a:p>
        </p:txBody>
      </p:sp>
      <p:sp>
        <p:nvSpPr>
          <p:cNvPr id="3" name="Text 1"/>
          <p:cNvSpPr txBox="1"/>
          <p:nvPr/>
        </p:nvSpPr>
        <p:spPr>
          <a:xfrm>
            <a:off x="685800" y="658368"/>
            <a:ext cx="9997135" cy="777240"/>
          </a:xfrm>
          <a:prstGeom prst="rect">
            <a:avLst/>
          </a:prstGeom>
          <a:noFill/>
          <a:ln/>
        </p:spPr>
        <p:txBody>
          <a:bodyPr wrap="square" lIns="0" tIns="0" rIns="0" bIns="0" rtlCol="0" anchor="t"/>
          <a:lstStyle/>
          <a:p>
            <a:pPr indent="0" marL="0">
              <a:buNone/>
            </a:pPr>
            <a:r>
              <a:rPr lang="en-US" sz="3200" b="1" dirty="0">
                <a:solidFill>
                  <a:srgbClr val="E8EEF7"/>
                </a:solidFill>
                <a:latin typeface="Calibri" pitchFamily="34" charset="0"/>
                <a:ea typeface="Calibri" pitchFamily="34" charset="-122"/>
                <a:cs typeface="Calibri" pitchFamily="34" charset="-120"/>
              </a:rPr>
              <a:t>La structure du système</a:t>
            </a:r>
            <a:endParaRPr lang="en-US" sz="3200" dirty="0"/>
          </a:p>
        </p:txBody>
      </p:sp>
      <p:sp>
        <p:nvSpPr>
          <p:cNvPr id="4" name="Shape 2"/>
          <p:cNvSpPr/>
          <p:nvPr/>
        </p:nvSpPr>
        <p:spPr>
          <a:xfrm>
            <a:off x="11292840" y="6144768"/>
            <a:ext cx="365760" cy="365760"/>
          </a:xfrm>
          <a:prstGeom prst="ellipse">
            <a:avLst/>
          </a:prstGeom>
          <a:solidFill>
            <a:srgbClr val="232E42"/>
          </a:solidFill>
          <a:ln w="12700">
            <a:solidFill>
              <a:srgbClr val="232E42"/>
            </a:solidFill>
            <a:prstDash val="solid"/>
          </a:ln>
        </p:spPr>
      </p:sp>
      <p:sp>
        <p:nvSpPr>
          <p:cNvPr id="5" name="Text 3"/>
          <p:cNvSpPr txBox="1"/>
          <p:nvPr/>
        </p:nvSpPr>
        <p:spPr>
          <a:xfrm>
            <a:off x="11292840" y="6144768"/>
            <a:ext cx="365760" cy="365760"/>
          </a:xfrm>
          <a:prstGeom prst="rect">
            <a:avLst/>
          </a:prstGeom>
          <a:noFill/>
          <a:ln/>
        </p:spPr>
        <p:txBody>
          <a:bodyPr wrap="square" lIns="0" tIns="0" rIns="0" bIns="0" rtlCol="0" anchor="ctr"/>
          <a:lstStyle/>
          <a:p>
            <a:pPr algn="ctr" indent="0" marL="0">
              <a:buNone/>
            </a:pPr>
            <a:r>
              <a:rPr lang="en-US" sz="1100" b="1" dirty="0">
                <a:solidFill>
                  <a:srgbClr val="95A3B8"/>
                </a:solidFill>
                <a:latin typeface="Calibri" pitchFamily="34" charset="0"/>
                <a:ea typeface="Calibri" pitchFamily="34" charset="-122"/>
                <a:cs typeface="Calibri" pitchFamily="34" charset="-120"/>
              </a:rPr>
              <a:t>8</a:t>
            </a:r>
            <a:endParaRPr lang="en-US" sz="1100" dirty="0"/>
          </a:p>
        </p:txBody>
      </p:sp>
      <p:sp>
        <p:nvSpPr>
          <p:cNvPr id="7" name="Shape 4"/>
          <p:cNvSpPr/>
          <p:nvPr/>
        </p:nvSpPr>
        <p:spPr>
          <a:xfrm>
            <a:off x="685800" y="1664208"/>
            <a:ext cx="5120640" cy="3063240"/>
          </a:xfrm>
          <a:prstGeom prst="roundRect">
            <a:avLst>
              <a:gd name="adj" fmla="val 2388"/>
            </a:avLst>
          </a:prstGeom>
          <a:solidFill>
            <a:srgbClr val="FFFFFF"/>
          </a:solidFill>
          <a:ln w="12700">
            <a:solidFill>
              <a:srgbClr val="232E42"/>
            </a:solidFill>
            <a:prstDash val="solid"/>
          </a:ln>
        </p:spPr>
      </p:sp>
      <p:pic>
        <p:nvPicPr>
          <p:cNvPr id="8" name="Image 0" descr="C:\Users\menga\PycharmProjects\smartroommanager\presentation\captures\diag-cas-usage.png">    </p:cNvPr>
          <p:cNvPicPr>
            <a:picLocks noChangeAspect="1"/>
          </p:cNvPicPr>
          <p:nvPr/>
        </p:nvPicPr>
        <p:blipFill>
          <a:blip r:embed="rId1"/>
          <a:srcRect l="0" r="0" t="0" b="0"/>
          <a:stretch/>
        </p:blipFill>
        <p:spPr>
          <a:xfrm>
            <a:off x="795528" y="1773936"/>
            <a:ext cx="4901184" cy="2843784"/>
          </a:xfrm>
          <a:prstGeom prst="rect">
            <a:avLst/>
          </a:prstGeom>
        </p:spPr>
      </p:pic>
      <p:sp>
        <p:nvSpPr>
          <p:cNvPr id="9" name="Text 5"/>
          <p:cNvSpPr txBox="1"/>
          <p:nvPr/>
        </p:nvSpPr>
        <p:spPr>
          <a:xfrm>
            <a:off x="685800" y="4864608"/>
            <a:ext cx="5120640" cy="292608"/>
          </a:xfrm>
          <a:prstGeom prst="rect">
            <a:avLst/>
          </a:prstGeom>
          <a:noFill/>
          <a:ln/>
        </p:spPr>
        <p:txBody>
          <a:bodyPr wrap="square" lIns="0" tIns="0" rIns="0" bIns="0" rtlCol="0" anchor="ctr"/>
          <a:lstStyle/>
          <a:p>
            <a:pPr indent="0" marL="0">
              <a:buNone/>
            </a:pPr>
            <a:r>
              <a:rPr lang="en-US" sz="1600" b="1" dirty="0">
                <a:solidFill>
                  <a:srgbClr val="E8EEF7"/>
                </a:solidFill>
                <a:latin typeface="Calibri" pitchFamily="34" charset="0"/>
                <a:ea typeface="Calibri" pitchFamily="34" charset="-122"/>
                <a:cs typeface="Calibri" pitchFamily="34" charset="-120"/>
              </a:rPr>
              <a:t>Cas d’utilisation</a:t>
            </a:r>
            <a:endParaRPr lang="en-US" sz="1600" dirty="0"/>
          </a:p>
        </p:txBody>
      </p:sp>
      <p:sp>
        <p:nvSpPr>
          <p:cNvPr id="10" name="Text 6"/>
          <p:cNvSpPr txBox="1"/>
          <p:nvPr/>
        </p:nvSpPr>
        <p:spPr>
          <a:xfrm>
            <a:off x="685800" y="5193792"/>
            <a:ext cx="5120640" cy="640080"/>
          </a:xfrm>
          <a:prstGeom prst="rect">
            <a:avLst/>
          </a:prstGeom>
          <a:noFill/>
          <a:ln/>
        </p:spPr>
        <p:txBody>
          <a:bodyPr wrap="square" lIns="0" tIns="0" rIns="0" bIns="0" rtlCol="0" anchor="ctr"/>
          <a:lstStyle/>
          <a:p>
            <a:pPr indent="0" marL="0">
              <a:lnSpc>
                <a:spcPts val="1800"/>
              </a:lnSpc>
              <a:buNone/>
            </a:pPr>
            <a:r>
              <a:rPr lang="en-US" sz="1250" dirty="0">
                <a:solidFill>
                  <a:srgbClr val="95A3B8"/>
                </a:solidFill>
                <a:latin typeface="Calibri" pitchFamily="34" charset="0"/>
                <a:ea typeface="Calibri" pitchFamily="34" charset="-122"/>
                <a:cs typeface="Calibri" pitchFamily="34" charset="-120"/>
              </a:rPr>
              <a:t>Quatre acteurs, périmètre du système, relations « inclut » et « étend », héritage d’acteur.</a:t>
            </a:r>
            <a:endParaRPr lang="en-US" sz="1250" dirty="0"/>
          </a:p>
        </p:txBody>
      </p:sp>
      <p:sp>
        <p:nvSpPr>
          <p:cNvPr id="11" name="Shape 7"/>
          <p:cNvSpPr/>
          <p:nvPr/>
        </p:nvSpPr>
        <p:spPr>
          <a:xfrm>
            <a:off x="6382512" y="1664208"/>
            <a:ext cx="5120640" cy="3063240"/>
          </a:xfrm>
          <a:prstGeom prst="roundRect">
            <a:avLst>
              <a:gd name="adj" fmla="val 2388"/>
            </a:avLst>
          </a:prstGeom>
          <a:solidFill>
            <a:srgbClr val="FFFFFF"/>
          </a:solidFill>
          <a:ln w="12700">
            <a:solidFill>
              <a:srgbClr val="232E42"/>
            </a:solidFill>
            <a:prstDash val="solid"/>
          </a:ln>
        </p:spPr>
      </p:sp>
      <p:pic>
        <p:nvPicPr>
          <p:cNvPr id="12" name="Image 1" descr="C:\Users\menga\PycharmProjects\smartroommanager\presentation\captures\diag-classes.png">    </p:cNvPr>
          <p:cNvPicPr>
            <a:picLocks noChangeAspect="1"/>
          </p:cNvPicPr>
          <p:nvPr/>
        </p:nvPicPr>
        <p:blipFill>
          <a:blip r:embed="rId2"/>
          <a:srcRect l="0" r="0" t="0" b="0"/>
          <a:stretch/>
        </p:blipFill>
        <p:spPr>
          <a:xfrm>
            <a:off x="6492240" y="1773936"/>
            <a:ext cx="4901184" cy="2843784"/>
          </a:xfrm>
          <a:prstGeom prst="rect">
            <a:avLst/>
          </a:prstGeom>
        </p:spPr>
      </p:pic>
      <p:sp>
        <p:nvSpPr>
          <p:cNvPr id="13" name="Text 8"/>
          <p:cNvSpPr txBox="1"/>
          <p:nvPr/>
        </p:nvSpPr>
        <p:spPr>
          <a:xfrm>
            <a:off x="6382512" y="4864608"/>
            <a:ext cx="5120640" cy="292608"/>
          </a:xfrm>
          <a:prstGeom prst="rect">
            <a:avLst/>
          </a:prstGeom>
          <a:noFill/>
          <a:ln/>
        </p:spPr>
        <p:txBody>
          <a:bodyPr wrap="square" lIns="0" tIns="0" rIns="0" bIns="0" rtlCol="0" anchor="ctr"/>
          <a:lstStyle/>
          <a:p>
            <a:pPr indent="0" marL="0">
              <a:buNone/>
            </a:pPr>
            <a:r>
              <a:rPr lang="en-US" sz="1600" b="1" dirty="0">
                <a:solidFill>
                  <a:srgbClr val="E8EEF7"/>
                </a:solidFill>
                <a:latin typeface="Calibri" pitchFamily="34" charset="0"/>
                <a:ea typeface="Calibri" pitchFamily="34" charset="-122"/>
                <a:cs typeface="Calibri" pitchFamily="34" charset="-120"/>
              </a:rPr>
              <a:t>Classes</a:t>
            </a:r>
            <a:endParaRPr lang="en-US" sz="1600" dirty="0"/>
          </a:p>
        </p:txBody>
      </p:sp>
      <p:sp>
        <p:nvSpPr>
          <p:cNvPr id="14" name="Text 9"/>
          <p:cNvSpPr txBox="1"/>
          <p:nvPr/>
        </p:nvSpPr>
        <p:spPr>
          <a:xfrm>
            <a:off x="6382512" y="5193792"/>
            <a:ext cx="5120640" cy="640080"/>
          </a:xfrm>
          <a:prstGeom prst="rect">
            <a:avLst/>
          </a:prstGeom>
          <a:noFill/>
          <a:ln/>
        </p:spPr>
        <p:txBody>
          <a:bodyPr wrap="square" lIns="0" tIns="0" rIns="0" bIns="0" rtlCol="0" anchor="ctr"/>
          <a:lstStyle/>
          <a:p>
            <a:pPr indent="0" marL="0">
              <a:lnSpc>
                <a:spcPts val="1800"/>
              </a:lnSpc>
              <a:buNone/>
            </a:pPr>
            <a:r>
              <a:rPr lang="en-US" sz="1250" dirty="0">
                <a:solidFill>
                  <a:srgbClr val="95A3B8"/>
                </a:solidFill>
                <a:latin typeface="Calibri" pitchFamily="34" charset="0"/>
                <a:ea typeface="Calibri" pitchFamily="34" charset="-122"/>
                <a:cs typeface="Calibri" pitchFamily="34" charset="-120"/>
              </a:rPr>
              <a:t>Seize classes du domaine et la couche service, avec ses dépendances.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85800" y="384048"/>
            <a:ext cx="10820095" cy="237744"/>
          </a:xfrm>
          <a:prstGeom prst="rect">
            <a:avLst/>
          </a:prstGeom>
          <a:noFill/>
          <a:ln/>
        </p:spPr>
        <p:txBody>
          <a:bodyPr wrap="square" lIns="0" tIns="0" rIns="0" bIns="0" rtlCol="0" anchor="ctr"/>
          <a:lstStyle/>
          <a:p>
            <a:pPr indent="0" marL="0">
              <a:buNone/>
            </a:pPr>
            <a:r>
              <a:rPr lang="en-US" sz="1100" b="1" spc="200" kern="0" dirty="0">
                <a:solidFill>
                  <a:srgbClr val="5B9BFF"/>
                </a:solidFill>
                <a:latin typeface="Calibri" pitchFamily="34" charset="0"/>
                <a:ea typeface="Calibri" pitchFamily="34" charset="-122"/>
                <a:cs typeface="Calibri" pitchFamily="34" charset="-120"/>
              </a:rPr>
              <a:t>6 — MODÉLISATION</a:t>
            </a:r>
            <a:endParaRPr lang="en-US" sz="1100" dirty="0"/>
          </a:p>
        </p:txBody>
      </p:sp>
      <p:sp>
        <p:nvSpPr>
          <p:cNvPr id="3" name="Text 1"/>
          <p:cNvSpPr txBox="1"/>
          <p:nvPr/>
        </p:nvSpPr>
        <p:spPr>
          <a:xfrm>
            <a:off x="685800" y="658368"/>
            <a:ext cx="9997135" cy="777240"/>
          </a:xfrm>
          <a:prstGeom prst="rect">
            <a:avLst/>
          </a:prstGeom>
          <a:noFill/>
          <a:ln/>
        </p:spPr>
        <p:txBody>
          <a:bodyPr wrap="square" lIns="0" tIns="0" rIns="0" bIns="0" rtlCol="0" anchor="t"/>
          <a:lstStyle/>
          <a:p>
            <a:pPr indent="0" marL="0">
              <a:buNone/>
            </a:pPr>
            <a:r>
              <a:rPr lang="en-US" sz="3200" b="1" dirty="0">
                <a:solidFill>
                  <a:srgbClr val="E8EEF7"/>
                </a:solidFill>
                <a:latin typeface="Calibri" pitchFamily="34" charset="0"/>
                <a:ea typeface="Calibri" pitchFamily="34" charset="-122"/>
                <a:cs typeface="Calibri" pitchFamily="34" charset="-120"/>
              </a:rPr>
              <a:t>Deux scénarios dynamiques</a:t>
            </a:r>
            <a:endParaRPr lang="en-US" sz="3200" dirty="0"/>
          </a:p>
        </p:txBody>
      </p:sp>
      <p:sp>
        <p:nvSpPr>
          <p:cNvPr id="4" name="Shape 2"/>
          <p:cNvSpPr/>
          <p:nvPr/>
        </p:nvSpPr>
        <p:spPr>
          <a:xfrm>
            <a:off x="11292840" y="6144768"/>
            <a:ext cx="365760" cy="365760"/>
          </a:xfrm>
          <a:prstGeom prst="ellipse">
            <a:avLst/>
          </a:prstGeom>
          <a:solidFill>
            <a:srgbClr val="232E42"/>
          </a:solidFill>
          <a:ln w="12700">
            <a:solidFill>
              <a:srgbClr val="232E42"/>
            </a:solidFill>
            <a:prstDash val="solid"/>
          </a:ln>
        </p:spPr>
      </p:sp>
      <p:sp>
        <p:nvSpPr>
          <p:cNvPr id="5" name="Text 3"/>
          <p:cNvSpPr txBox="1"/>
          <p:nvPr/>
        </p:nvSpPr>
        <p:spPr>
          <a:xfrm>
            <a:off x="11292840" y="6144768"/>
            <a:ext cx="365760" cy="365760"/>
          </a:xfrm>
          <a:prstGeom prst="rect">
            <a:avLst/>
          </a:prstGeom>
          <a:noFill/>
          <a:ln/>
        </p:spPr>
        <p:txBody>
          <a:bodyPr wrap="square" lIns="0" tIns="0" rIns="0" bIns="0" rtlCol="0" anchor="ctr"/>
          <a:lstStyle/>
          <a:p>
            <a:pPr algn="ctr" indent="0" marL="0">
              <a:buNone/>
            </a:pPr>
            <a:r>
              <a:rPr lang="en-US" sz="1100" b="1" dirty="0">
                <a:solidFill>
                  <a:srgbClr val="95A3B8"/>
                </a:solidFill>
                <a:latin typeface="Calibri" pitchFamily="34" charset="0"/>
                <a:ea typeface="Calibri" pitchFamily="34" charset="-122"/>
                <a:cs typeface="Calibri" pitchFamily="34" charset="-120"/>
              </a:rPr>
              <a:t>9</a:t>
            </a:r>
            <a:endParaRPr lang="en-US" sz="1100" dirty="0"/>
          </a:p>
        </p:txBody>
      </p:sp>
      <p:sp>
        <p:nvSpPr>
          <p:cNvPr id="7" name="Shape 4"/>
          <p:cNvSpPr/>
          <p:nvPr/>
        </p:nvSpPr>
        <p:spPr>
          <a:xfrm>
            <a:off x="685800" y="1645920"/>
            <a:ext cx="3063240" cy="3931920"/>
          </a:xfrm>
          <a:prstGeom prst="roundRect">
            <a:avLst>
              <a:gd name="adj" fmla="val 2388"/>
            </a:avLst>
          </a:prstGeom>
          <a:solidFill>
            <a:srgbClr val="FFFFFF"/>
          </a:solidFill>
          <a:ln w="12700">
            <a:solidFill>
              <a:srgbClr val="232E42"/>
            </a:solidFill>
            <a:prstDash val="solid"/>
          </a:ln>
        </p:spPr>
      </p:sp>
      <p:pic>
        <p:nvPicPr>
          <p:cNvPr id="8" name="Image 0" descr="C:\Users\menga\PycharmProjects\smartroommanager\presentation\captures\diag-sequence-reservation.png">    </p:cNvPr>
          <p:cNvPicPr>
            <a:picLocks noChangeAspect="1"/>
          </p:cNvPicPr>
          <p:nvPr/>
        </p:nvPicPr>
        <p:blipFill>
          <a:blip r:embed="rId1"/>
          <a:srcRect l="0" r="0" t="0" b="0"/>
          <a:stretch/>
        </p:blipFill>
        <p:spPr>
          <a:xfrm>
            <a:off x="795528" y="1755648"/>
            <a:ext cx="2843784" cy="3712464"/>
          </a:xfrm>
          <a:prstGeom prst="rect">
            <a:avLst/>
          </a:prstGeom>
        </p:spPr>
      </p:pic>
      <p:sp>
        <p:nvSpPr>
          <p:cNvPr id="9" name="Text 5"/>
          <p:cNvSpPr txBox="1"/>
          <p:nvPr/>
        </p:nvSpPr>
        <p:spPr>
          <a:xfrm>
            <a:off x="685800" y="5687568"/>
            <a:ext cx="3063240" cy="292608"/>
          </a:xfrm>
          <a:prstGeom prst="rect">
            <a:avLst/>
          </a:prstGeom>
          <a:noFill/>
          <a:ln/>
        </p:spPr>
        <p:txBody>
          <a:bodyPr wrap="square" lIns="0" tIns="0" rIns="0" bIns="0" rtlCol="0" anchor="ctr"/>
          <a:lstStyle/>
          <a:p>
            <a:pPr algn="ctr" indent="0" marL="0">
              <a:buNone/>
            </a:pPr>
            <a:r>
              <a:rPr lang="en-US" sz="1450" b="1" dirty="0">
                <a:solidFill>
                  <a:srgbClr val="E8EEF7"/>
                </a:solidFill>
                <a:latin typeface="Calibri" pitchFamily="34" charset="0"/>
                <a:ea typeface="Calibri" pitchFamily="34" charset="-122"/>
                <a:cs typeface="Calibri" pitchFamily="34" charset="-120"/>
              </a:rPr>
              <a:t>Réserver une salle</a:t>
            </a:r>
            <a:endParaRPr lang="en-US" sz="1450" dirty="0"/>
          </a:p>
        </p:txBody>
      </p:sp>
      <p:sp>
        <p:nvSpPr>
          <p:cNvPr id="10" name="Shape 6"/>
          <p:cNvSpPr/>
          <p:nvPr/>
        </p:nvSpPr>
        <p:spPr>
          <a:xfrm>
            <a:off x="3995928" y="1645920"/>
            <a:ext cx="3063240" cy="3931920"/>
          </a:xfrm>
          <a:prstGeom prst="roundRect">
            <a:avLst>
              <a:gd name="adj" fmla="val 2388"/>
            </a:avLst>
          </a:prstGeom>
          <a:solidFill>
            <a:srgbClr val="FFFFFF"/>
          </a:solidFill>
          <a:ln w="12700">
            <a:solidFill>
              <a:srgbClr val="232E42"/>
            </a:solidFill>
            <a:prstDash val="solid"/>
          </a:ln>
        </p:spPr>
      </p:sp>
      <p:pic>
        <p:nvPicPr>
          <p:cNvPr id="11" name="Image 1" descr="C:\Users\menga\PycharmProjects\smartroommanager\presentation\captures\diag-sequence-assistant.png">    </p:cNvPr>
          <p:cNvPicPr>
            <a:picLocks noChangeAspect="1"/>
          </p:cNvPicPr>
          <p:nvPr/>
        </p:nvPicPr>
        <p:blipFill>
          <a:blip r:embed="rId2"/>
          <a:srcRect l="0" r="0" t="0" b="0"/>
          <a:stretch/>
        </p:blipFill>
        <p:spPr>
          <a:xfrm>
            <a:off x="4105656" y="1755648"/>
            <a:ext cx="2843784" cy="3712464"/>
          </a:xfrm>
          <a:prstGeom prst="rect">
            <a:avLst/>
          </a:prstGeom>
        </p:spPr>
      </p:pic>
      <p:sp>
        <p:nvSpPr>
          <p:cNvPr id="12" name="Text 7"/>
          <p:cNvSpPr txBox="1"/>
          <p:nvPr/>
        </p:nvSpPr>
        <p:spPr>
          <a:xfrm>
            <a:off x="3995928" y="5687568"/>
            <a:ext cx="3063240" cy="292608"/>
          </a:xfrm>
          <a:prstGeom prst="rect">
            <a:avLst/>
          </a:prstGeom>
          <a:noFill/>
          <a:ln/>
        </p:spPr>
        <p:txBody>
          <a:bodyPr wrap="square" lIns="0" tIns="0" rIns="0" bIns="0" rtlCol="0" anchor="ctr"/>
          <a:lstStyle/>
          <a:p>
            <a:pPr algn="ctr" indent="0" marL="0">
              <a:buNone/>
            </a:pPr>
            <a:r>
              <a:rPr lang="en-US" sz="1450" b="1" dirty="0">
                <a:solidFill>
                  <a:srgbClr val="E8EEF7"/>
                </a:solidFill>
                <a:latin typeface="Calibri" pitchFamily="34" charset="0"/>
                <a:ea typeface="Calibri" pitchFamily="34" charset="-122"/>
                <a:cs typeface="Calibri" pitchFamily="34" charset="-120"/>
              </a:rPr>
              <a:t>Interroger l’assistant</a:t>
            </a:r>
            <a:endParaRPr lang="en-US" sz="1450" dirty="0"/>
          </a:p>
        </p:txBody>
      </p:sp>
      <p:sp>
        <p:nvSpPr>
          <p:cNvPr id="13" name="Shape 8"/>
          <p:cNvSpPr/>
          <p:nvPr/>
        </p:nvSpPr>
        <p:spPr>
          <a:xfrm>
            <a:off x="7635240" y="1645920"/>
            <a:ext cx="3867912" cy="3931920"/>
          </a:xfrm>
          <a:prstGeom prst="roundRect">
            <a:avLst>
              <a:gd name="adj" fmla="val 1891"/>
            </a:avLst>
          </a:prstGeom>
          <a:solidFill>
            <a:srgbClr val="1A2231"/>
          </a:solidFill>
          <a:ln w="12700">
            <a:solidFill>
              <a:srgbClr val="232E42"/>
            </a:solidFill>
            <a:prstDash val="solid"/>
          </a:ln>
        </p:spPr>
      </p:sp>
      <p:sp>
        <p:nvSpPr>
          <p:cNvPr id="14" name="Text 9"/>
          <p:cNvSpPr txBox="1"/>
          <p:nvPr/>
        </p:nvSpPr>
        <p:spPr>
          <a:xfrm>
            <a:off x="7909560" y="1874520"/>
            <a:ext cx="3319272" cy="310896"/>
          </a:xfrm>
          <a:prstGeom prst="rect">
            <a:avLst/>
          </a:prstGeom>
          <a:noFill/>
          <a:ln/>
        </p:spPr>
        <p:txBody>
          <a:bodyPr wrap="square" lIns="0" tIns="0" rIns="0" bIns="0" rtlCol="0" anchor="ctr"/>
          <a:lstStyle/>
          <a:p>
            <a:pPr indent="0" marL="0">
              <a:buNone/>
            </a:pPr>
            <a:r>
              <a:rPr lang="en-US" sz="1500" b="1" dirty="0">
                <a:solidFill>
                  <a:srgbClr val="5B9BFF"/>
                </a:solidFill>
                <a:latin typeface="Calibri" pitchFamily="34" charset="0"/>
                <a:ea typeface="Calibri" pitchFamily="34" charset="-122"/>
                <a:cs typeface="Calibri" pitchFamily="34" charset="-120"/>
              </a:rPr>
              <a:t>Ce que ces deux scénarios montrent</a:t>
            </a:r>
            <a:endParaRPr lang="en-US" sz="1500" dirty="0"/>
          </a:p>
        </p:txBody>
      </p:sp>
      <p:sp>
        <p:nvSpPr>
          <p:cNvPr id="15" name="Text 10"/>
          <p:cNvSpPr txBox="1"/>
          <p:nvPr/>
        </p:nvSpPr>
        <p:spPr>
          <a:xfrm>
            <a:off x="7909560" y="2331720"/>
            <a:ext cx="3319272" cy="3017520"/>
          </a:xfrm>
          <a:prstGeom prst="rect">
            <a:avLst/>
          </a:prstGeom>
          <a:noFill/>
          <a:ln/>
        </p:spPr>
        <p:txBody>
          <a:bodyPr wrap="square" lIns="0" tIns="0" rIns="0" bIns="0" rtlCol="0" anchor="ctr"/>
          <a:lstStyle/>
          <a:p>
            <a:pPr marL="177800" indent="-177800">
              <a:lnSpc>
                <a:spcPts val="2000"/>
              </a:lnSpc>
              <a:spcAft>
                <a:spcPts val="800"/>
              </a:spcAft>
              <a:buSzPct val="100000"/>
              <a:buChar char="•"/>
            </a:pPr>
            <a:r>
              <a:rPr lang="en-US" sz="1250" dirty="0">
                <a:solidFill>
                  <a:srgbClr val="95A3B8"/>
                </a:solidFill>
                <a:latin typeface="Calibri" pitchFamily="34" charset="0"/>
                <a:ea typeface="Calibri" pitchFamily="34" charset="-122"/>
                <a:cs typeface="Calibri" pitchFamily="34" charset="-120"/>
              </a:rPr>
              <a:t>Le verrou de transaction est pris avant la vérification, pas avant l’insertion</a:t>
            </a:r>
            <a:endParaRPr lang="en-US" sz="1250" dirty="0"/>
          </a:p>
          <a:p>
            <a:pPr marL="177800" indent="-177800">
              <a:lnSpc>
                <a:spcPts val="2000"/>
              </a:lnSpc>
              <a:spcAft>
                <a:spcPts val="800"/>
              </a:spcAft>
              <a:buSzPct val="100000"/>
              <a:buChar char="•"/>
            </a:pPr>
            <a:r>
              <a:rPr lang="en-US" sz="1250" dirty="0">
                <a:solidFill>
                  <a:srgbClr val="95A3B8"/>
                </a:solidFill>
                <a:latin typeface="Calibri" pitchFamily="34" charset="0"/>
                <a:ea typeface="Calibri" pitchFamily="34" charset="-122"/>
                <a:cs typeface="Calibri" pitchFamily="34" charset="-120"/>
              </a:rPr>
              <a:t>Le fragment « alt » couvre le créneau libre et le créneau déjà pris</a:t>
            </a:r>
            <a:endParaRPr lang="en-US" sz="1250" dirty="0"/>
          </a:p>
          <a:p>
            <a:pPr marL="177800" indent="-177800">
              <a:lnSpc>
                <a:spcPts val="2000"/>
              </a:lnSpc>
              <a:spcAft>
                <a:spcPts val="800"/>
              </a:spcAft>
              <a:buSzPct val="100000"/>
              <a:buChar char="•"/>
            </a:pPr>
            <a:r>
              <a:rPr lang="en-US" sz="1250" dirty="0">
                <a:solidFill>
                  <a:srgbClr val="95A3B8"/>
                </a:solidFill>
                <a:latin typeface="Calibri" pitchFamily="34" charset="0"/>
                <a:ea typeface="Calibri" pitchFamily="34" charset="-122"/>
                <a:cs typeface="Calibri" pitchFamily="34" charset="-120"/>
              </a:rPr>
              <a:t>L’assistant appelle un outil, puis diffuse sa réponse par événements</a:t>
            </a:r>
            <a:endParaRPr lang="en-US" sz="1250" dirty="0"/>
          </a:p>
          <a:p>
            <a:pPr marL="177800" indent="-177800">
              <a:lnSpc>
                <a:spcPts val="2000"/>
              </a:lnSpc>
              <a:spcAft>
                <a:spcPts val="800"/>
              </a:spcAft>
              <a:buSzPct val="100000"/>
              <a:buChar char="•"/>
            </a:pPr>
            <a:r>
              <a:rPr lang="en-US" sz="1250" dirty="0">
                <a:solidFill>
                  <a:srgbClr val="95A3B8"/>
                </a:solidFill>
                <a:latin typeface="Calibri" pitchFamily="34" charset="0"/>
                <a:ea typeface="Calibri" pitchFamily="34" charset="-122"/>
                <a:cs typeface="Calibri" pitchFamily="34" charset="-120"/>
              </a:rPr>
              <a:t>La bascule vers le moteur déterministe est une alternative, non un ajout</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85800" y="384048"/>
            <a:ext cx="10820095" cy="237744"/>
          </a:xfrm>
          <a:prstGeom prst="rect">
            <a:avLst/>
          </a:prstGeom>
          <a:noFill/>
          <a:ln/>
        </p:spPr>
        <p:txBody>
          <a:bodyPr wrap="square" lIns="0" tIns="0" rIns="0" bIns="0" rtlCol="0" anchor="ctr"/>
          <a:lstStyle/>
          <a:p>
            <a:pPr indent="0" marL="0">
              <a:buNone/>
            </a:pPr>
            <a:r>
              <a:rPr lang="en-US" sz="1100" b="1" spc="200" kern="0" dirty="0">
                <a:solidFill>
                  <a:srgbClr val="5B9BFF"/>
                </a:solidFill>
                <a:latin typeface="Calibri" pitchFamily="34" charset="0"/>
                <a:ea typeface="Calibri" pitchFamily="34" charset="-122"/>
                <a:cs typeface="Calibri" pitchFamily="34" charset="-120"/>
              </a:rPr>
              <a:t>7 — LE CŒUR TECHNIQUE</a:t>
            </a:r>
            <a:endParaRPr lang="en-US" sz="1100" dirty="0"/>
          </a:p>
        </p:txBody>
      </p:sp>
      <p:sp>
        <p:nvSpPr>
          <p:cNvPr id="3" name="Text 1"/>
          <p:cNvSpPr txBox="1"/>
          <p:nvPr/>
        </p:nvSpPr>
        <p:spPr>
          <a:xfrm>
            <a:off x="685800" y="658368"/>
            <a:ext cx="9997135" cy="777240"/>
          </a:xfrm>
          <a:prstGeom prst="rect">
            <a:avLst/>
          </a:prstGeom>
          <a:noFill/>
          <a:ln/>
        </p:spPr>
        <p:txBody>
          <a:bodyPr wrap="square" lIns="0" tIns="0" rIns="0" bIns="0" rtlCol="0" anchor="t"/>
          <a:lstStyle/>
          <a:p>
            <a:pPr indent="0" marL="0">
              <a:buNone/>
            </a:pPr>
            <a:r>
              <a:rPr lang="en-US" sz="3200" b="1" dirty="0">
                <a:solidFill>
                  <a:srgbClr val="E8EEF7"/>
                </a:solidFill>
                <a:latin typeface="Calibri" pitchFamily="34" charset="0"/>
                <a:ea typeface="Calibri" pitchFamily="34" charset="-122"/>
                <a:cs typeface="Calibri" pitchFamily="34" charset="-120"/>
              </a:rPr>
              <a:t>Le chevauchement n’est pas improbable : il est impossible</a:t>
            </a:r>
            <a:endParaRPr lang="en-US" sz="3200" dirty="0"/>
          </a:p>
        </p:txBody>
      </p:sp>
      <p:sp>
        <p:nvSpPr>
          <p:cNvPr id="4" name="Shape 2"/>
          <p:cNvSpPr/>
          <p:nvPr/>
        </p:nvSpPr>
        <p:spPr>
          <a:xfrm>
            <a:off x="11292840" y="6144768"/>
            <a:ext cx="365760" cy="365760"/>
          </a:xfrm>
          <a:prstGeom prst="ellipse">
            <a:avLst/>
          </a:prstGeom>
          <a:solidFill>
            <a:srgbClr val="232E42"/>
          </a:solidFill>
          <a:ln w="12700">
            <a:solidFill>
              <a:srgbClr val="232E42"/>
            </a:solidFill>
            <a:prstDash val="solid"/>
          </a:ln>
        </p:spPr>
      </p:sp>
      <p:sp>
        <p:nvSpPr>
          <p:cNvPr id="5" name="Text 3"/>
          <p:cNvSpPr txBox="1"/>
          <p:nvPr/>
        </p:nvSpPr>
        <p:spPr>
          <a:xfrm>
            <a:off x="11292840" y="6144768"/>
            <a:ext cx="365760" cy="365760"/>
          </a:xfrm>
          <a:prstGeom prst="rect">
            <a:avLst/>
          </a:prstGeom>
          <a:noFill/>
          <a:ln/>
        </p:spPr>
        <p:txBody>
          <a:bodyPr wrap="square" lIns="0" tIns="0" rIns="0" bIns="0" rtlCol="0" anchor="ctr"/>
          <a:lstStyle/>
          <a:p>
            <a:pPr algn="ctr" indent="0" marL="0">
              <a:buNone/>
            </a:pPr>
            <a:r>
              <a:rPr lang="en-US" sz="1100" b="1" dirty="0">
                <a:solidFill>
                  <a:srgbClr val="95A3B8"/>
                </a:solidFill>
                <a:latin typeface="Calibri" pitchFamily="34" charset="0"/>
                <a:ea typeface="Calibri" pitchFamily="34" charset="-122"/>
                <a:cs typeface="Calibri" pitchFamily="34" charset="-120"/>
              </a:rPr>
              <a:t>10</a:t>
            </a:r>
            <a:endParaRPr lang="en-US" sz="1100" dirty="0"/>
          </a:p>
        </p:txBody>
      </p:sp>
      <p:sp>
        <p:nvSpPr>
          <p:cNvPr id="7" name="Shape 4"/>
          <p:cNvSpPr/>
          <p:nvPr/>
        </p:nvSpPr>
        <p:spPr>
          <a:xfrm>
            <a:off x="685800" y="1554480"/>
            <a:ext cx="6583680" cy="1600200"/>
          </a:xfrm>
          <a:prstGeom prst="roundRect">
            <a:avLst>
              <a:gd name="adj" fmla="val 4571"/>
            </a:avLst>
          </a:prstGeom>
          <a:solidFill>
            <a:srgbClr val="232E42"/>
          </a:solidFill>
          <a:ln w="12700">
            <a:solidFill>
              <a:srgbClr val="232E42"/>
            </a:solidFill>
            <a:prstDash val="solid"/>
          </a:ln>
        </p:spPr>
      </p:sp>
      <p:sp>
        <p:nvSpPr>
          <p:cNvPr id="8" name="Text 5"/>
          <p:cNvSpPr txBox="1"/>
          <p:nvPr/>
        </p:nvSpPr>
        <p:spPr>
          <a:xfrm>
            <a:off x="960120" y="1737360"/>
            <a:ext cx="6035040" cy="1280160"/>
          </a:xfrm>
          <a:prstGeom prst="rect">
            <a:avLst/>
          </a:prstGeom>
          <a:noFill/>
          <a:ln/>
        </p:spPr>
        <p:txBody>
          <a:bodyPr wrap="square" lIns="0" tIns="0" rIns="0" bIns="0" rtlCol="0" anchor="ctr"/>
          <a:lstStyle/>
          <a:p>
            <a:pPr indent="0" marL="0">
              <a:lnSpc>
                <a:spcPts val="1600"/>
              </a:lnSpc>
              <a:buNone/>
            </a:pPr>
            <a:r>
              <a:rPr lang="en-US" sz="1200" dirty="0">
                <a:solidFill>
                  <a:srgbClr val="E8EEF7"/>
                </a:solidFill>
                <a:latin typeface="Courier New" pitchFamily="34" charset="0"/>
                <a:ea typeface="Courier New" pitchFamily="34" charset="-122"/>
                <a:cs typeface="Courier New" pitchFamily="34" charset="-120"/>
              </a:rPr>
              <a:t>ALTER TABLE bookings ADD CONSTRAINT ex_bookings_no_overlap</a:t>
            </a:r>
            <a:endParaRPr lang="en-US" sz="1200" dirty="0"/>
          </a:p>
          <a:p>
            <a:pPr indent="0" marL="0">
              <a:lnSpc>
                <a:spcPts val="1600"/>
              </a:lnSpc>
              <a:buNone/>
            </a:pPr>
            <a:r>
              <a:rPr lang="en-US" sz="1200" dirty="0">
                <a:solidFill>
                  <a:srgbClr val="E8EEF7"/>
                </a:solidFill>
                <a:latin typeface="Courier New" pitchFamily="34" charset="0"/>
                <a:ea typeface="Courier New" pitchFamily="34" charset="-122"/>
                <a:cs typeface="Courier New" pitchFamily="34" charset="-120"/>
              </a:rPr>
              <a:t>EXCLUDE USING gist (</a:t>
            </a:r>
            <a:endParaRPr lang="en-US" sz="1200" dirty="0"/>
          </a:p>
          <a:p>
            <a:pPr indent="0" marL="0">
              <a:lnSpc>
                <a:spcPts val="1600"/>
              </a:lnSpc>
              <a:buNone/>
            </a:pPr>
            <a:r>
              <a:rPr lang="en-US" sz="1200" dirty="0">
                <a:solidFill>
                  <a:srgbClr val="E8EEF7"/>
                </a:solidFill>
                <a:latin typeface="Courier New" pitchFamily="34" charset="0"/>
                <a:ea typeface="Courier New" pitchFamily="34" charset="-122"/>
                <a:cs typeface="Courier New" pitchFamily="34" charset="-120"/>
              </a:rPr>
              <a:t>    room_id WITH =,</a:t>
            </a:r>
            <a:endParaRPr lang="en-US" sz="1200" dirty="0"/>
          </a:p>
          <a:p>
            <a:pPr indent="0" marL="0">
              <a:lnSpc>
                <a:spcPts val="1600"/>
              </a:lnSpc>
              <a:buNone/>
            </a:pPr>
            <a:r>
              <a:rPr lang="en-US" sz="1200" dirty="0">
                <a:solidFill>
                  <a:srgbClr val="E8EEF7"/>
                </a:solidFill>
                <a:latin typeface="Courier New" pitchFamily="34" charset="0"/>
                <a:ea typeface="Courier New" pitchFamily="34" charset="-122"/>
                <a:cs typeface="Courier New" pitchFamily="34" charset="-120"/>
              </a:rPr>
              <a:t>    tstzrange(start_at, end_at, '[)') WITH &amp;&amp;</a:t>
            </a:r>
            <a:endParaRPr lang="en-US" sz="1200" dirty="0"/>
          </a:p>
          <a:p>
            <a:pPr indent="0" marL="0">
              <a:lnSpc>
                <a:spcPts val="1600"/>
              </a:lnSpc>
              <a:buNone/>
            </a:pPr>
            <a:r>
              <a:rPr lang="en-US" sz="1200" dirty="0">
                <a:solidFill>
                  <a:srgbClr val="E8EEF7"/>
                </a:solidFill>
                <a:latin typeface="Courier New" pitchFamily="34" charset="0"/>
                <a:ea typeface="Courier New" pitchFamily="34" charset="-122"/>
                <a:cs typeface="Courier New" pitchFamily="34" charset="-120"/>
              </a:rPr>
              <a:t>) WHERE (status &lt;&gt; 'annulee');</a:t>
            </a:r>
            <a:endParaRPr lang="en-US" sz="1200" dirty="0"/>
          </a:p>
        </p:txBody>
      </p:sp>
      <p:sp>
        <p:nvSpPr>
          <p:cNvPr id="9" name="Shape 6"/>
          <p:cNvSpPr/>
          <p:nvPr/>
        </p:nvSpPr>
        <p:spPr>
          <a:xfrm>
            <a:off x="7635240" y="1554480"/>
            <a:ext cx="3867912" cy="1600200"/>
          </a:xfrm>
          <a:prstGeom prst="roundRect">
            <a:avLst>
              <a:gd name="adj" fmla="val 4571"/>
            </a:avLst>
          </a:prstGeom>
          <a:solidFill>
            <a:srgbClr val="1A2231"/>
          </a:solidFill>
          <a:ln w="12700">
            <a:solidFill>
              <a:srgbClr val="232E42"/>
            </a:solidFill>
            <a:prstDash val="solid"/>
          </a:ln>
        </p:spPr>
      </p:sp>
      <p:sp>
        <p:nvSpPr>
          <p:cNvPr id="10" name="Text 7"/>
          <p:cNvSpPr txBox="1"/>
          <p:nvPr/>
        </p:nvSpPr>
        <p:spPr>
          <a:xfrm>
            <a:off x="7909560" y="1737360"/>
            <a:ext cx="3319272" cy="274320"/>
          </a:xfrm>
          <a:prstGeom prst="rect">
            <a:avLst/>
          </a:prstGeom>
          <a:noFill/>
          <a:ln/>
        </p:spPr>
        <p:txBody>
          <a:bodyPr wrap="square" lIns="0" tIns="0" rIns="0" bIns="0" rtlCol="0" anchor="ctr"/>
          <a:lstStyle/>
          <a:p>
            <a:pPr indent="0" marL="0">
              <a:buNone/>
            </a:pPr>
            <a:r>
              <a:rPr lang="en-US" sz="1400" b="1" dirty="0">
                <a:solidFill>
                  <a:srgbClr val="E8EEF7"/>
                </a:solidFill>
                <a:latin typeface="Calibri" pitchFamily="34" charset="0"/>
                <a:ea typeface="Calibri" pitchFamily="34" charset="-122"/>
                <a:cs typeface="Calibri" pitchFamily="34" charset="-120"/>
              </a:rPr>
              <a:t>Deux détails qui comptent</a:t>
            </a:r>
            <a:endParaRPr lang="en-US" sz="1400" dirty="0"/>
          </a:p>
        </p:txBody>
      </p:sp>
      <p:sp>
        <p:nvSpPr>
          <p:cNvPr id="11" name="Text 8"/>
          <p:cNvSpPr txBox="1"/>
          <p:nvPr/>
        </p:nvSpPr>
        <p:spPr>
          <a:xfrm>
            <a:off x="7909560" y="2084832"/>
            <a:ext cx="3319272" cy="960120"/>
          </a:xfrm>
          <a:prstGeom prst="rect">
            <a:avLst/>
          </a:prstGeom>
          <a:noFill/>
          <a:ln/>
        </p:spPr>
        <p:txBody>
          <a:bodyPr wrap="square" lIns="0" tIns="0" rIns="0" bIns="0" rtlCol="0" anchor="ctr"/>
          <a:lstStyle/>
          <a:p>
            <a:pPr indent="0" marL="0">
              <a:lnSpc>
                <a:spcPts val="1700"/>
              </a:lnSpc>
              <a:buNone/>
            </a:pPr>
            <a:r>
              <a:rPr lang="en-US" sz="1200" dirty="0">
                <a:solidFill>
                  <a:srgbClr val="95A3B8"/>
                </a:solidFill>
                <a:latin typeface="Calibri" pitchFamily="34" charset="0"/>
                <a:ea typeface="Calibri" pitchFamily="34" charset="-122"/>
                <a:cs typeface="Calibri" pitchFamily="34" charset="-120"/>
              </a:rPr>
              <a:t>[) — 9 h–10 h et 10 h–11 h coexistent, ce qu’attend l’intuition.</a:t>
            </a:r>
            <a:endParaRPr lang="en-US" sz="1200" dirty="0"/>
          </a:p>
          <a:p>
            <a:pPr indent="0" marL="0">
              <a:lnSpc>
                <a:spcPts val="1700"/>
              </a:lnSpc>
              <a:buNone/>
            </a:pPr>
            <a:endParaRPr lang="en-US" sz="1200" dirty="0"/>
          </a:p>
          <a:p>
            <a:pPr indent="0" marL="0">
              <a:lnSpc>
                <a:spcPts val="1700"/>
              </a:lnSpc>
              <a:buNone/>
            </a:pPr>
            <a:r>
              <a:rPr lang="en-US" sz="1200" dirty="0">
                <a:solidFill>
                  <a:srgbClr val="95A3B8"/>
                </a:solidFill>
                <a:latin typeface="Calibri" pitchFamily="34" charset="0"/>
                <a:ea typeface="Calibri" pitchFamily="34" charset="-122"/>
                <a:cs typeface="Calibri" pitchFamily="34" charset="-120"/>
              </a:rPr>
              <a:t>WHERE — une annulation libère le créneau sans effacer la trace.</a:t>
            </a:r>
            <a:endParaRPr lang="en-US" sz="1200" dirty="0"/>
          </a:p>
        </p:txBody>
      </p:sp>
      <p:sp>
        <p:nvSpPr>
          <p:cNvPr id="12" name="Text 9"/>
          <p:cNvSpPr txBox="1"/>
          <p:nvPr/>
        </p:nvSpPr>
        <p:spPr>
          <a:xfrm>
            <a:off x="685800" y="3429000"/>
            <a:ext cx="10820095" cy="320040"/>
          </a:xfrm>
          <a:prstGeom prst="rect">
            <a:avLst/>
          </a:prstGeom>
          <a:noFill/>
          <a:ln/>
        </p:spPr>
        <p:txBody>
          <a:bodyPr wrap="square" lIns="0" tIns="0" rIns="0" bIns="0" rtlCol="0" anchor="ctr"/>
          <a:lstStyle/>
          <a:p>
            <a:pPr indent="0" marL="0">
              <a:buNone/>
            </a:pPr>
            <a:r>
              <a:rPr lang="en-US" sz="1600" b="1" dirty="0">
                <a:solidFill>
                  <a:srgbClr val="E8EEF7"/>
                </a:solidFill>
                <a:latin typeface="Calibri" pitchFamily="34" charset="0"/>
                <a:ea typeface="Calibri" pitchFamily="34" charset="-122"/>
                <a:cs typeface="Calibri" pitchFamily="34" charset="-120"/>
              </a:rPr>
              <a:t>La contrainte garantit l’intégrité — elle ne suffit pas à produire une bonne erreur</a:t>
            </a:r>
            <a:endParaRPr lang="en-US" sz="1600" dirty="0"/>
          </a:p>
        </p:txBody>
      </p:sp>
      <p:sp>
        <p:nvSpPr>
          <p:cNvPr id="13" name="Text 10"/>
          <p:cNvSpPr txBox="1"/>
          <p:nvPr/>
        </p:nvSpPr>
        <p:spPr>
          <a:xfrm>
            <a:off x="685800" y="3794760"/>
            <a:ext cx="6583680" cy="1005840"/>
          </a:xfrm>
          <a:prstGeom prst="rect">
            <a:avLst/>
          </a:prstGeom>
          <a:noFill/>
          <a:ln/>
        </p:spPr>
        <p:txBody>
          <a:bodyPr wrap="square" lIns="0" tIns="0" rIns="0" bIns="0" rtlCol="0" anchor="ctr"/>
          <a:lstStyle/>
          <a:p>
            <a:pPr indent="0" marL="0">
              <a:lnSpc>
                <a:spcPts val="1900"/>
              </a:lnSpc>
              <a:buNone/>
            </a:pPr>
            <a:r>
              <a:rPr lang="en-US" sz="1300" dirty="0">
                <a:solidFill>
                  <a:srgbClr val="95A3B8"/>
                </a:solidFill>
                <a:latin typeface="Calibri" pitchFamily="34" charset="0"/>
                <a:ea typeface="Calibri" pitchFamily="34" charset="-122"/>
                <a:cs typeface="Calibri" pitchFamily="34" charset="-120"/>
              </a:rPr>
              <a:t>Dix demandes simultanées concluent toutes que la salle est libre, puis s’affrontent. PostgreSQL détecte un cycle d’attente et sacrifie une transaction : l’utilisateur recevait une erreur technique là où il devait lire que le créneau venait d’être pris.</a:t>
            </a:r>
            <a:endParaRPr lang="en-US" sz="1300" dirty="0"/>
          </a:p>
        </p:txBody>
      </p:sp>
      <p:sp>
        <p:nvSpPr>
          <p:cNvPr id="14" name="Shape 11"/>
          <p:cNvSpPr/>
          <p:nvPr/>
        </p:nvSpPr>
        <p:spPr>
          <a:xfrm>
            <a:off x="685800" y="4892040"/>
            <a:ext cx="6583680" cy="685800"/>
          </a:xfrm>
          <a:prstGeom prst="roundRect">
            <a:avLst>
              <a:gd name="adj" fmla="val 10667"/>
            </a:avLst>
          </a:prstGeom>
          <a:solidFill>
            <a:srgbClr val="232E42"/>
          </a:solidFill>
          <a:ln w="12700">
            <a:solidFill>
              <a:srgbClr val="232E42"/>
            </a:solidFill>
            <a:prstDash val="solid"/>
          </a:ln>
        </p:spPr>
      </p:sp>
      <p:sp>
        <p:nvSpPr>
          <p:cNvPr id="15" name="Text 12"/>
          <p:cNvSpPr txBox="1"/>
          <p:nvPr/>
        </p:nvSpPr>
        <p:spPr>
          <a:xfrm>
            <a:off x="960120" y="5029200"/>
            <a:ext cx="6035040" cy="274320"/>
          </a:xfrm>
          <a:prstGeom prst="rect">
            <a:avLst/>
          </a:prstGeom>
          <a:noFill/>
          <a:ln/>
        </p:spPr>
        <p:txBody>
          <a:bodyPr wrap="square" lIns="0" tIns="0" rIns="0" bIns="0" rtlCol="0" anchor="ctr"/>
          <a:lstStyle/>
          <a:p>
            <a:pPr indent="0" marL="0">
              <a:buNone/>
            </a:pPr>
            <a:r>
              <a:rPr lang="en-US" sz="1150" dirty="0">
                <a:solidFill>
                  <a:srgbClr val="3DD68C"/>
                </a:solidFill>
                <a:latin typeface="Courier New" pitchFamily="34" charset="0"/>
                <a:ea typeface="Courier New" pitchFamily="34" charset="-122"/>
                <a:cs typeface="Courier New" pitchFamily="34" charset="-120"/>
              </a:rPr>
              <a:t>SELECT pg_advisory_xact_lock(hashtext('salle:' || :room_id));</a:t>
            </a:r>
            <a:endParaRPr lang="en-US" sz="1150" dirty="0"/>
          </a:p>
        </p:txBody>
      </p:sp>
      <p:sp>
        <p:nvSpPr>
          <p:cNvPr id="16" name="Text 13"/>
          <p:cNvSpPr txBox="1"/>
          <p:nvPr/>
        </p:nvSpPr>
        <p:spPr>
          <a:xfrm>
            <a:off x="960120" y="5285232"/>
            <a:ext cx="6035040" cy="256032"/>
          </a:xfrm>
          <a:prstGeom prst="rect">
            <a:avLst/>
          </a:prstGeom>
          <a:noFill/>
          <a:ln/>
        </p:spPr>
        <p:txBody>
          <a:bodyPr wrap="square" lIns="0" tIns="0" rIns="0" bIns="0" rtlCol="0" anchor="ctr"/>
          <a:lstStyle/>
          <a:p>
            <a:pPr indent="0" marL="0">
              <a:buNone/>
            </a:pPr>
            <a:r>
              <a:rPr lang="en-US" sz="1100" dirty="0">
                <a:solidFill>
                  <a:srgbClr val="95A3B8"/>
                </a:solidFill>
                <a:latin typeface="Calibri" pitchFamily="34" charset="0"/>
                <a:ea typeface="Calibri" pitchFamily="34" charset="-122"/>
                <a:cs typeface="Calibri" pitchFamily="34" charset="-120"/>
              </a:rPr>
              <a:t>Pris AVANT la vérification : c’est la séquence lire-puis-écrire qui doit être indivisible.</a:t>
            </a:r>
            <a:endParaRPr lang="en-US" sz="1100" dirty="0"/>
          </a:p>
        </p:txBody>
      </p:sp>
      <p:sp>
        <p:nvSpPr>
          <p:cNvPr id="17" name="Shape 14"/>
          <p:cNvSpPr/>
          <p:nvPr/>
        </p:nvSpPr>
        <p:spPr>
          <a:xfrm>
            <a:off x="7635240" y="3337560"/>
            <a:ext cx="3867912" cy="2240280"/>
          </a:xfrm>
          <a:prstGeom prst="roundRect">
            <a:avLst>
              <a:gd name="adj" fmla="val 3265"/>
            </a:avLst>
          </a:prstGeom>
          <a:solidFill>
            <a:srgbClr val="1A2231"/>
          </a:solidFill>
          <a:ln w="12700">
            <a:solidFill>
              <a:srgbClr val="232E42"/>
            </a:solidFill>
            <a:prstDash val="solid"/>
          </a:ln>
        </p:spPr>
      </p:sp>
      <p:sp>
        <p:nvSpPr>
          <p:cNvPr id="18" name="Text 15"/>
          <p:cNvSpPr txBox="1"/>
          <p:nvPr/>
        </p:nvSpPr>
        <p:spPr>
          <a:xfrm>
            <a:off x="7909560" y="3566160"/>
            <a:ext cx="3319272" cy="274320"/>
          </a:xfrm>
          <a:prstGeom prst="rect">
            <a:avLst/>
          </a:prstGeom>
          <a:noFill/>
          <a:ln/>
        </p:spPr>
        <p:txBody>
          <a:bodyPr wrap="square" lIns="0" tIns="0" rIns="0" bIns="0" rtlCol="0" anchor="ctr"/>
          <a:lstStyle/>
          <a:p>
            <a:pPr indent="0" marL="0">
              <a:buNone/>
            </a:pPr>
            <a:r>
              <a:rPr lang="en-US" sz="1400" b="1" dirty="0">
                <a:solidFill>
                  <a:srgbClr val="E8EEF7"/>
                </a:solidFill>
                <a:latin typeface="Calibri" pitchFamily="34" charset="0"/>
                <a:ea typeface="Calibri" pitchFamily="34" charset="-122"/>
                <a:cs typeface="Calibri" pitchFamily="34" charset="-120"/>
              </a:rPr>
              <a:t>Résultat mesuré</a:t>
            </a:r>
            <a:endParaRPr lang="en-US" sz="1400" dirty="0"/>
          </a:p>
        </p:txBody>
      </p:sp>
      <p:sp>
        <p:nvSpPr>
          <p:cNvPr id="19" name="Text 16"/>
          <p:cNvSpPr txBox="1"/>
          <p:nvPr/>
        </p:nvSpPr>
        <p:spPr>
          <a:xfrm>
            <a:off x="7909560" y="3977640"/>
            <a:ext cx="3319272" cy="566928"/>
          </a:xfrm>
          <a:prstGeom prst="rect">
            <a:avLst/>
          </a:prstGeom>
          <a:noFill/>
          <a:ln/>
        </p:spPr>
        <p:txBody>
          <a:bodyPr wrap="square" lIns="0" tIns="0" rIns="0" bIns="0" rtlCol="0" anchor="ctr"/>
          <a:lstStyle/>
          <a:p>
            <a:pPr algn="ctr" indent="0" marL="0">
              <a:buNone/>
            </a:pPr>
            <a:r>
              <a:rPr lang="en-US" sz="3400" b="1" dirty="0">
                <a:solidFill>
                  <a:srgbClr val="3DD68C"/>
                </a:solidFill>
                <a:latin typeface="Calibri" pitchFamily="34" charset="0"/>
                <a:ea typeface="Calibri" pitchFamily="34" charset="-122"/>
                <a:cs typeface="Calibri" pitchFamily="34" charset="-120"/>
              </a:rPr>
              <a:t>1 sur 10</a:t>
            </a:r>
            <a:endParaRPr lang="en-US" sz="3400" dirty="0"/>
          </a:p>
        </p:txBody>
      </p:sp>
      <p:sp>
        <p:nvSpPr>
          <p:cNvPr id="20" name="Text 17"/>
          <p:cNvSpPr txBox="1"/>
          <p:nvPr/>
        </p:nvSpPr>
        <p:spPr>
          <a:xfrm>
            <a:off x="7909560" y="4526280"/>
            <a:ext cx="3319272" cy="457200"/>
          </a:xfrm>
          <a:prstGeom prst="rect">
            <a:avLst/>
          </a:prstGeom>
          <a:noFill/>
          <a:ln/>
        </p:spPr>
        <p:txBody>
          <a:bodyPr wrap="square" lIns="0" tIns="0" rIns="0" bIns="0" rtlCol="0" anchor="ctr"/>
          <a:lstStyle/>
          <a:p>
            <a:pPr algn="ctr" indent="0" marL="0">
              <a:buNone/>
            </a:pPr>
            <a:r>
              <a:rPr lang="en-US" sz="1100" dirty="0">
                <a:solidFill>
                  <a:srgbClr val="95A3B8"/>
                </a:solidFill>
                <a:latin typeface="Calibri" pitchFamily="34" charset="0"/>
                <a:ea typeface="Calibri" pitchFamily="34" charset="-122"/>
                <a:cs typeface="Calibri" pitchFamily="34" charset="-120"/>
              </a:rPr>
              <a:t>demandes simultanées aboutit</a:t>
            </a:r>
            <a:endParaRPr lang="en-US" sz="1100" dirty="0"/>
          </a:p>
        </p:txBody>
      </p:sp>
      <p:sp>
        <p:nvSpPr>
          <p:cNvPr id="21" name="Text 18"/>
          <p:cNvSpPr txBox="1"/>
          <p:nvPr/>
        </p:nvSpPr>
        <p:spPr>
          <a:xfrm>
            <a:off x="7909560" y="4937760"/>
            <a:ext cx="3319272" cy="548640"/>
          </a:xfrm>
          <a:prstGeom prst="rect">
            <a:avLst/>
          </a:prstGeom>
          <a:noFill/>
          <a:ln/>
        </p:spPr>
        <p:txBody>
          <a:bodyPr wrap="square" lIns="0" tIns="0" rIns="0" bIns="0" rtlCol="0" anchor="ctr"/>
          <a:lstStyle/>
          <a:p>
            <a:pPr indent="0" marL="0">
              <a:lnSpc>
                <a:spcPts val="1600"/>
              </a:lnSpc>
              <a:buNone/>
            </a:pPr>
            <a:r>
              <a:rPr lang="en-US" sz="1150" dirty="0">
                <a:solidFill>
                  <a:srgbClr val="95A3B8"/>
                </a:solidFill>
                <a:latin typeface="Calibri" pitchFamily="34" charset="0"/>
                <a:ea typeface="Calibri" pitchFamily="34" charset="-122"/>
                <a:cs typeface="Calibri" pitchFamily="34" charset="-120"/>
              </a:rPr>
              <a:t>Les neuf autres reçoivent un message métier compréhensible, jamais une erreur technique.</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85800" y="384048"/>
            <a:ext cx="10820095" cy="237744"/>
          </a:xfrm>
          <a:prstGeom prst="rect">
            <a:avLst/>
          </a:prstGeom>
          <a:noFill/>
          <a:ln/>
        </p:spPr>
        <p:txBody>
          <a:bodyPr wrap="square" lIns="0" tIns="0" rIns="0" bIns="0" rtlCol="0" anchor="ctr"/>
          <a:lstStyle/>
          <a:p>
            <a:pPr indent="0" marL="0">
              <a:buNone/>
            </a:pPr>
            <a:r>
              <a:rPr lang="en-US" sz="1100" b="1" spc="200" kern="0" dirty="0">
                <a:solidFill>
                  <a:srgbClr val="5B9BFF"/>
                </a:solidFill>
                <a:latin typeface="Calibri" pitchFamily="34" charset="0"/>
                <a:ea typeface="Calibri" pitchFamily="34" charset="-122"/>
                <a:cs typeface="Calibri" pitchFamily="34" charset="-120"/>
              </a:rPr>
              <a:t>8 — DATA &amp; IA (1/3)</a:t>
            </a:r>
            <a:endParaRPr lang="en-US" sz="1100" dirty="0"/>
          </a:p>
        </p:txBody>
      </p:sp>
      <p:sp>
        <p:nvSpPr>
          <p:cNvPr id="3" name="Text 1"/>
          <p:cNvSpPr txBox="1"/>
          <p:nvPr/>
        </p:nvSpPr>
        <p:spPr>
          <a:xfrm>
            <a:off x="685800" y="658368"/>
            <a:ext cx="9997135" cy="777240"/>
          </a:xfrm>
          <a:prstGeom prst="rect">
            <a:avLst/>
          </a:prstGeom>
          <a:noFill/>
          <a:ln/>
        </p:spPr>
        <p:txBody>
          <a:bodyPr wrap="square" lIns="0" tIns="0" rIns="0" bIns="0" rtlCol="0" anchor="t"/>
          <a:lstStyle/>
          <a:p>
            <a:pPr indent="0" marL="0">
              <a:buNone/>
            </a:pPr>
            <a:r>
              <a:rPr lang="en-US" sz="3200" b="1" dirty="0">
                <a:solidFill>
                  <a:srgbClr val="E8EEF7"/>
                </a:solidFill>
                <a:latin typeface="Calibri" pitchFamily="34" charset="0"/>
                <a:ea typeface="Calibri" pitchFamily="34" charset="-122"/>
                <a:cs typeface="Calibri" pitchFamily="34" charset="-120"/>
              </a:rPr>
              <a:t>Un moteur de recommandation explicable</a:t>
            </a:r>
            <a:endParaRPr lang="en-US" sz="3200" dirty="0"/>
          </a:p>
        </p:txBody>
      </p:sp>
      <p:sp>
        <p:nvSpPr>
          <p:cNvPr id="4" name="Shape 2"/>
          <p:cNvSpPr/>
          <p:nvPr/>
        </p:nvSpPr>
        <p:spPr>
          <a:xfrm>
            <a:off x="11292840" y="6144768"/>
            <a:ext cx="365760" cy="365760"/>
          </a:xfrm>
          <a:prstGeom prst="ellipse">
            <a:avLst/>
          </a:prstGeom>
          <a:solidFill>
            <a:srgbClr val="232E42"/>
          </a:solidFill>
          <a:ln w="12700">
            <a:solidFill>
              <a:srgbClr val="232E42"/>
            </a:solidFill>
            <a:prstDash val="solid"/>
          </a:ln>
        </p:spPr>
      </p:sp>
      <p:sp>
        <p:nvSpPr>
          <p:cNvPr id="5" name="Text 3"/>
          <p:cNvSpPr txBox="1"/>
          <p:nvPr/>
        </p:nvSpPr>
        <p:spPr>
          <a:xfrm>
            <a:off x="11292840" y="6144768"/>
            <a:ext cx="365760" cy="365760"/>
          </a:xfrm>
          <a:prstGeom prst="rect">
            <a:avLst/>
          </a:prstGeom>
          <a:noFill/>
          <a:ln/>
        </p:spPr>
        <p:txBody>
          <a:bodyPr wrap="square" lIns="0" tIns="0" rIns="0" bIns="0" rtlCol="0" anchor="ctr"/>
          <a:lstStyle/>
          <a:p>
            <a:pPr algn="ctr" indent="0" marL="0">
              <a:buNone/>
            </a:pPr>
            <a:r>
              <a:rPr lang="en-US" sz="1100" b="1" dirty="0">
                <a:solidFill>
                  <a:srgbClr val="95A3B8"/>
                </a:solidFill>
                <a:latin typeface="Calibri" pitchFamily="34" charset="0"/>
                <a:ea typeface="Calibri" pitchFamily="34" charset="-122"/>
                <a:cs typeface="Calibri" pitchFamily="34" charset="-120"/>
              </a:rPr>
              <a:t>11</a:t>
            </a:r>
            <a:endParaRPr lang="en-US" sz="1100" dirty="0"/>
          </a:p>
        </p:txBody>
      </p:sp>
      <p:sp>
        <p:nvSpPr>
          <p:cNvPr id="7" name="Text 4"/>
          <p:cNvSpPr txBox="1"/>
          <p:nvPr/>
        </p:nvSpPr>
        <p:spPr>
          <a:xfrm>
            <a:off x="685800" y="1627632"/>
            <a:ext cx="2834640" cy="274320"/>
          </a:xfrm>
          <a:prstGeom prst="rect">
            <a:avLst/>
          </a:prstGeom>
          <a:noFill/>
          <a:ln/>
        </p:spPr>
        <p:txBody>
          <a:bodyPr wrap="square" lIns="0" tIns="0" rIns="0" bIns="0" rtlCol="0" anchor="ctr"/>
          <a:lstStyle/>
          <a:p>
            <a:pPr indent="0" marL="0">
              <a:buNone/>
            </a:pPr>
            <a:r>
              <a:rPr lang="en-US" sz="1400" b="1" dirty="0">
                <a:solidFill>
                  <a:srgbClr val="E8EEF7"/>
                </a:solidFill>
                <a:latin typeface="Calibri" pitchFamily="34" charset="0"/>
                <a:ea typeface="Calibri" pitchFamily="34" charset="-122"/>
                <a:cs typeface="Calibri" pitchFamily="34" charset="-120"/>
              </a:rPr>
              <a:t>Adéquation de capacité</a:t>
            </a:r>
            <a:endParaRPr lang="en-US" sz="1400" dirty="0"/>
          </a:p>
        </p:txBody>
      </p:sp>
      <p:sp>
        <p:nvSpPr>
          <p:cNvPr id="8" name="Text 5"/>
          <p:cNvSpPr txBox="1"/>
          <p:nvPr/>
        </p:nvSpPr>
        <p:spPr>
          <a:xfrm>
            <a:off x="3657600" y="1636776"/>
            <a:ext cx="3794760" cy="566928"/>
          </a:xfrm>
          <a:prstGeom prst="rect">
            <a:avLst/>
          </a:prstGeom>
          <a:noFill/>
          <a:ln/>
        </p:spPr>
        <p:txBody>
          <a:bodyPr wrap="square" lIns="0" tIns="0" rIns="0" bIns="0" rtlCol="0" anchor="ctr"/>
          <a:lstStyle/>
          <a:p>
            <a:pPr indent="0" marL="0">
              <a:lnSpc>
                <a:spcPts val="1600"/>
              </a:lnSpc>
              <a:buNone/>
            </a:pPr>
            <a:r>
              <a:rPr lang="en-US" sz="1200" dirty="0">
                <a:solidFill>
                  <a:srgbClr val="95A3B8"/>
                </a:solidFill>
                <a:latin typeface="Calibri" pitchFamily="34" charset="0"/>
                <a:ea typeface="Calibri" pitchFamily="34" charset="-122"/>
                <a:cs typeface="Calibri" pitchFamily="34" charset="-120"/>
              </a:rPr>
              <a:t>une salle de 90 places pour 4 personnes est un gâchis : l’écart est pénalisé dans les deux sens</a:t>
            </a:r>
            <a:endParaRPr lang="en-US" sz="1200" dirty="0"/>
          </a:p>
        </p:txBody>
      </p:sp>
      <p:sp>
        <p:nvSpPr>
          <p:cNvPr id="9" name="Text 6"/>
          <p:cNvSpPr txBox="1"/>
          <p:nvPr/>
        </p:nvSpPr>
        <p:spPr>
          <a:xfrm>
            <a:off x="685800" y="2286000"/>
            <a:ext cx="2834640" cy="274320"/>
          </a:xfrm>
          <a:prstGeom prst="rect">
            <a:avLst/>
          </a:prstGeom>
          <a:noFill/>
          <a:ln/>
        </p:spPr>
        <p:txBody>
          <a:bodyPr wrap="square" lIns="0" tIns="0" rIns="0" bIns="0" rtlCol="0" anchor="ctr"/>
          <a:lstStyle/>
          <a:p>
            <a:pPr indent="0" marL="0">
              <a:buNone/>
            </a:pPr>
            <a:r>
              <a:rPr lang="en-US" sz="1400" b="1" dirty="0">
                <a:solidFill>
                  <a:srgbClr val="E8EEF7"/>
                </a:solidFill>
                <a:latin typeface="Calibri" pitchFamily="34" charset="0"/>
                <a:ea typeface="Calibri" pitchFamily="34" charset="-122"/>
                <a:cs typeface="Calibri" pitchFamily="34" charset="-120"/>
              </a:rPr>
              <a:t>Équipements</a:t>
            </a:r>
            <a:endParaRPr lang="en-US" sz="1400" dirty="0"/>
          </a:p>
        </p:txBody>
      </p:sp>
      <p:sp>
        <p:nvSpPr>
          <p:cNvPr id="10" name="Text 7"/>
          <p:cNvSpPr txBox="1"/>
          <p:nvPr/>
        </p:nvSpPr>
        <p:spPr>
          <a:xfrm>
            <a:off x="3657600" y="2295144"/>
            <a:ext cx="3794760" cy="566928"/>
          </a:xfrm>
          <a:prstGeom prst="rect">
            <a:avLst/>
          </a:prstGeom>
          <a:noFill/>
          <a:ln/>
        </p:spPr>
        <p:txBody>
          <a:bodyPr wrap="square" lIns="0" tIns="0" rIns="0" bIns="0" rtlCol="0" anchor="ctr"/>
          <a:lstStyle/>
          <a:p>
            <a:pPr indent="0" marL="0">
              <a:lnSpc>
                <a:spcPts val="1600"/>
              </a:lnSpc>
              <a:buNone/>
            </a:pPr>
            <a:r>
              <a:rPr lang="en-US" sz="1200" dirty="0">
                <a:solidFill>
                  <a:srgbClr val="95A3B8"/>
                </a:solidFill>
                <a:latin typeface="Calibri" pitchFamily="34" charset="0"/>
                <a:ea typeface="Calibri" pitchFamily="34" charset="-122"/>
                <a:cs typeface="Calibri" pitchFamily="34" charset="-120"/>
              </a:rPr>
              <a:t>présence de ce qui a été explicitement demandé</a:t>
            </a:r>
            <a:endParaRPr lang="en-US" sz="1200" dirty="0"/>
          </a:p>
        </p:txBody>
      </p:sp>
      <p:sp>
        <p:nvSpPr>
          <p:cNvPr id="11" name="Text 8"/>
          <p:cNvSpPr txBox="1"/>
          <p:nvPr/>
        </p:nvSpPr>
        <p:spPr>
          <a:xfrm>
            <a:off x="685800" y="2944368"/>
            <a:ext cx="2834640" cy="274320"/>
          </a:xfrm>
          <a:prstGeom prst="rect">
            <a:avLst/>
          </a:prstGeom>
          <a:noFill/>
          <a:ln/>
        </p:spPr>
        <p:txBody>
          <a:bodyPr wrap="square" lIns="0" tIns="0" rIns="0" bIns="0" rtlCol="0" anchor="ctr"/>
          <a:lstStyle/>
          <a:p>
            <a:pPr indent="0" marL="0">
              <a:buNone/>
            </a:pPr>
            <a:r>
              <a:rPr lang="en-US" sz="1400" b="1" dirty="0">
                <a:solidFill>
                  <a:srgbClr val="E8EEF7"/>
                </a:solidFill>
                <a:latin typeface="Calibri" pitchFamily="34" charset="0"/>
                <a:ea typeface="Calibri" pitchFamily="34" charset="-122"/>
                <a:cs typeface="Calibri" pitchFamily="34" charset="-120"/>
              </a:rPr>
              <a:t>Proximité</a:t>
            </a:r>
            <a:endParaRPr lang="en-US" sz="1400" dirty="0"/>
          </a:p>
        </p:txBody>
      </p:sp>
      <p:sp>
        <p:nvSpPr>
          <p:cNvPr id="12" name="Text 9"/>
          <p:cNvSpPr txBox="1"/>
          <p:nvPr/>
        </p:nvSpPr>
        <p:spPr>
          <a:xfrm>
            <a:off x="3657600" y="2953512"/>
            <a:ext cx="3794760" cy="566928"/>
          </a:xfrm>
          <a:prstGeom prst="rect">
            <a:avLst/>
          </a:prstGeom>
          <a:noFill/>
          <a:ln/>
        </p:spPr>
        <p:txBody>
          <a:bodyPr wrap="square" lIns="0" tIns="0" rIns="0" bIns="0" rtlCol="0" anchor="ctr"/>
          <a:lstStyle/>
          <a:p>
            <a:pPr indent="0" marL="0">
              <a:lnSpc>
                <a:spcPts val="1600"/>
              </a:lnSpc>
              <a:buNone/>
            </a:pPr>
            <a:r>
              <a:rPr lang="en-US" sz="1200" dirty="0">
                <a:solidFill>
                  <a:srgbClr val="95A3B8"/>
                </a:solidFill>
                <a:latin typeface="Calibri" pitchFamily="34" charset="0"/>
                <a:ea typeface="Calibri" pitchFamily="34" charset="-122"/>
                <a:cs typeface="Calibri" pitchFamily="34" charset="-120"/>
              </a:rPr>
              <a:t>bâtiment habituel, renseigné à l’inscription</a:t>
            </a:r>
            <a:endParaRPr lang="en-US" sz="1200" dirty="0"/>
          </a:p>
        </p:txBody>
      </p:sp>
      <p:sp>
        <p:nvSpPr>
          <p:cNvPr id="13" name="Text 10"/>
          <p:cNvSpPr txBox="1"/>
          <p:nvPr/>
        </p:nvSpPr>
        <p:spPr>
          <a:xfrm>
            <a:off x="685800" y="3602736"/>
            <a:ext cx="2834640" cy="274320"/>
          </a:xfrm>
          <a:prstGeom prst="rect">
            <a:avLst/>
          </a:prstGeom>
          <a:noFill/>
          <a:ln/>
        </p:spPr>
        <p:txBody>
          <a:bodyPr wrap="square" lIns="0" tIns="0" rIns="0" bIns="0" rtlCol="0" anchor="ctr"/>
          <a:lstStyle/>
          <a:p>
            <a:pPr indent="0" marL="0">
              <a:buNone/>
            </a:pPr>
            <a:r>
              <a:rPr lang="en-US" sz="1400" b="1" dirty="0">
                <a:solidFill>
                  <a:srgbClr val="E8EEF7"/>
                </a:solidFill>
                <a:latin typeface="Calibri" pitchFamily="34" charset="0"/>
                <a:ea typeface="Calibri" pitchFamily="34" charset="-122"/>
                <a:cs typeface="Calibri" pitchFamily="34" charset="-120"/>
              </a:rPr>
              <a:t>Accessibilité</a:t>
            </a:r>
            <a:endParaRPr lang="en-US" sz="1400" dirty="0"/>
          </a:p>
        </p:txBody>
      </p:sp>
      <p:sp>
        <p:nvSpPr>
          <p:cNvPr id="14" name="Text 11"/>
          <p:cNvSpPr txBox="1"/>
          <p:nvPr/>
        </p:nvSpPr>
        <p:spPr>
          <a:xfrm>
            <a:off x="3657600" y="3611880"/>
            <a:ext cx="3794760" cy="566928"/>
          </a:xfrm>
          <a:prstGeom prst="rect">
            <a:avLst/>
          </a:prstGeom>
          <a:noFill/>
          <a:ln/>
        </p:spPr>
        <p:txBody>
          <a:bodyPr wrap="square" lIns="0" tIns="0" rIns="0" bIns="0" rtlCol="0" anchor="ctr"/>
          <a:lstStyle/>
          <a:p>
            <a:pPr indent="0" marL="0">
              <a:lnSpc>
                <a:spcPts val="1600"/>
              </a:lnSpc>
              <a:buNone/>
            </a:pPr>
            <a:r>
              <a:rPr lang="en-US" sz="1200" dirty="0">
                <a:solidFill>
                  <a:srgbClr val="95A3B8"/>
                </a:solidFill>
                <a:latin typeface="Calibri" pitchFamily="34" charset="0"/>
                <a:ea typeface="Calibri" pitchFamily="34" charset="-122"/>
                <a:cs typeface="Calibri" pitchFamily="34" charset="-120"/>
              </a:rPr>
              <a:t>conformité PMR lorsqu’elle est requise</a:t>
            </a:r>
            <a:endParaRPr lang="en-US" sz="1200" dirty="0"/>
          </a:p>
        </p:txBody>
      </p:sp>
      <p:sp>
        <p:nvSpPr>
          <p:cNvPr id="15" name="Text 12"/>
          <p:cNvSpPr txBox="1"/>
          <p:nvPr/>
        </p:nvSpPr>
        <p:spPr>
          <a:xfrm>
            <a:off x="685800" y="4261104"/>
            <a:ext cx="2834640" cy="274320"/>
          </a:xfrm>
          <a:prstGeom prst="rect">
            <a:avLst/>
          </a:prstGeom>
          <a:noFill/>
          <a:ln/>
        </p:spPr>
        <p:txBody>
          <a:bodyPr wrap="square" lIns="0" tIns="0" rIns="0" bIns="0" rtlCol="0" anchor="ctr"/>
          <a:lstStyle/>
          <a:p>
            <a:pPr indent="0" marL="0">
              <a:buNone/>
            </a:pPr>
            <a:r>
              <a:rPr lang="en-US" sz="1400" b="1" dirty="0">
                <a:solidFill>
                  <a:srgbClr val="E8EEF7"/>
                </a:solidFill>
                <a:latin typeface="Calibri" pitchFamily="34" charset="0"/>
                <a:ea typeface="Calibri" pitchFamily="34" charset="-122"/>
                <a:cs typeface="Calibri" pitchFamily="34" charset="-120"/>
              </a:rPr>
              <a:t>Occupation</a:t>
            </a:r>
            <a:endParaRPr lang="en-US" sz="1400" dirty="0"/>
          </a:p>
        </p:txBody>
      </p:sp>
      <p:sp>
        <p:nvSpPr>
          <p:cNvPr id="16" name="Text 13"/>
          <p:cNvSpPr txBox="1"/>
          <p:nvPr/>
        </p:nvSpPr>
        <p:spPr>
          <a:xfrm>
            <a:off x="3657600" y="4270248"/>
            <a:ext cx="3794760" cy="566928"/>
          </a:xfrm>
          <a:prstGeom prst="rect">
            <a:avLst/>
          </a:prstGeom>
          <a:noFill/>
          <a:ln/>
        </p:spPr>
        <p:txBody>
          <a:bodyPr wrap="square" lIns="0" tIns="0" rIns="0" bIns="0" rtlCol="0" anchor="ctr"/>
          <a:lstStyle/>
          <a:p>
            <a:pPr indent="0" marL="0">
              <a:lnSpc>
                <a:spcPts val="1600"/>
              </a:lnSpc>
              <a:buNone/>
            </a:pPr>
            <a:r>
              <a:rPr lang="en-US" sz="1200" dirty="0">
                <a:solidFill>
                  <a:srgbClr val="95A3B8"/>
                </a:solidFill>
                <a:latin typeface="Calibri" pitchFamily="34" charset="0"/>
                <a:ea typeface="Calibri" pitchFamily="34" charset="-122"/>
                <a:cs typeface="Calibri" pitchFamily="34" charset="-120"/>
              </a:rPr>
              <a:t>répartir l’usage plutôt que saturer toujours les mêmes salles</a:t>
            </a:r>
            <a:endParaRPr lang="en-US" sz="1200" dirty="0"/>
          </a:p>
        </p:txBody>
      </p:sp>
      <p:sp>
        <p:nvSpPr>
          <p:cNvPr id="17" name="Shape 14"/>
          <p:cNvSpPr/>
          <p:nvPr/>
        </p:nvSpPr>
        <p:spPr>
          <a:xfrm>
            <a:off x="7818120" y="1600200"/>
            <a:ext cx="3685032" cy="3291840"/>
          </a:xfrm>
          <a:prstGeom prst="roundRect">
            <a:avLst>
              <a:gd name="adj" fmla="val 2222"/>
            </a:avLst>
          </a:prstGeom>
          <a:solidFill>
            <a:srgbClr val="1A2231"/>
          </a:solidFill>
          <a:ln w="12700">
            <a:solidFill>
              <a:srgbClr val="232E42"/>
            </a:solidFill>
            <a:prstDash val="solid"/>
          </a:ln>
        </p:spPr>
      </p:sp>
      <p:sp>
        <p:nvSpPr>
          <p:cNvPr id="18" name="Text 15"/>
          <p:cNvSpPr txBox="1"/>
          <p:nvPr/>
        </p:nvSpPr>
        <p:spPr>
          <a:xfrm>
            <a:off x="8092440" y="1828800"/>
            <a:ext cx="3136392" cy="292608"/>
          </a:xfrm>
          <a:prstGeom prst="rect">
            <a:avLst/>
          </a:prstGeom>
          <a:noFill/>
          <a:ln/>
        </p:spPr>
        <p:txBody>
          <a:bodyPr wrap="square" lIns="0" tIns="0" rIns="0" bIns="0" rtlCol="0" anchor="ctr"/>
          <a:lstStyle/>
          <a:p>
            <a:pPr indent="0" marL="0">
              <a:buNone/>
            </a:pPr>
            <a:r>
              <a:rPr lang="en-US" sz="1500" b="1" dirty="0">
                <a:solidFill>
                  <a:srgbClr val="5B9BFF"/>
                </a:solidFill>
                <a:latin typeface="Calibri" pitchFamily="34" charset="0"/>
                <a:ea typeface="Calibri" pitchFamily="34" charset="-122"/>
                <a:cs typeface="Calibri" pitchFamily="34" charset="-120"/>
              </a:rPr>
              <a:t>Pourquoi l’explicabilité</a:t>
            </a:r>
            <a:endParaRPr lang="en-US" sz="1500" dirty="0"/>
          </a:p>
        </p:txBody>
      </p:sp>
      <p:sp>
        <p:nvSpPr>
          <p:cNvPr id="19" name="Text 16"/>
          <p:cNvSpPr txBox="1"/>
          <p:nvPr/>
        </p:nvSpPr>
        <p:spPr>
          <a:xfrm>
            <a:off x="8092440" y="2240280"/>
            <a:ext cx="3136392" cy="1828800"/>
          </a:xfrm>
          <a:prstGeom prst="rect">
            <a:avLst/>
          </a:prstGeom>
          <a:noFill/>
          <a:ln/>
        </p:spPr>
        <p:txBody>
          <a:bodyPr wrap="square" lIns="0" tIns="0" rIns="0" bIns="0" rtlCol="0" anchor="ctr"/>
          <a:lstStyle/>
          <a:p>
            <a:pPr indent="0" marL="0">
              <a:lnSpc>
                <a:spcPts val="1900"/>
              </a:lnSpc>
              <a:buNone/>
            </a:pPr>
            <a:r>
              <a:rPr lang="en-US" sz="1250" dirty="0">
                <a:solidFill>
                  <a:srgbClr val="95A3B8"/>
                </a:solidFill>
                <a:latin typeface="Calibri" pitchFamily="34" charset="0"/>
                <a:ea typeface="Calibri" pitchFamily="34" charset="-122"/>
                <a:cs typeface="Calibri" pitchFamily="34" charset="-120"/>
              </a:rPr>
              <a:t>Chaque composante est calculée séparément et exposée : l’interface peut dire pourquoi une salle arrive en tête.</a:t>
            </a:r>
            <a:endParaRPr lang="en-US" sz="1250" dirty="0"/>
          </a:p>
          <a:p>
            <a:pPr indent="0" marL="0">
              <a:lnSpc>
                <a:spcPts val="1900"/>
              </a:lnSpc>
              <a:buNone/>
            </a:pPr>
            <a:endParaRPr lang="en-US" sz="1250" dirty="0"/>
          </a:p>
          <a:p>
            <a:pPr indent="0" marL="0">
              <a:lnSpc>
                <a:spcPts val="1900"/>
              </a:lnSpc>
              <a:buNone/>
            </a:pPr>
            <a:r>
              <a:rPr lang="en-US" sz="1250" dirty="0">
                <a:solidFill>
                  <a:srgbClr val="95A3B8"/>
                </a:solidFill>
                <a:latin typeface="Calibri" pitchFamily="34" charset="0"/>
                <a:ea typeface="Calibri" pitchFamily="34" charset="-122"/>
                <a:cs typeface="Calibri" pitchFamily="34" charset="-120"/>
              </a:rPr>
              <a:t>Sans justification, l’utilisateur reprend la salle qu’il connaît — et le moteur ne sert à rien.</a:t>
            </a:r>
            <a:endParaRPr lang="en-US" sz="1250" dirty="0"/>
          </a:p>
        </p:txBody>
      </p:sp>
      <p:sp>
        <p:nvSpPr>
          <p:cNvPr id="20" name="Text 17"/>
          <p:cNvSpPr txBox="1"/>
          <p:nvPr/>
        </p:nvSpPr>
        <p:spPr>
          <a:xfrm>
            <a:off x="8092440" y="4206240"/>
            <a:ext cx="3136392" cy="548640"/>
          </a:xfrm>
          <a:prstGeom prst="rect">
            <a:avLst/>
          </a:prstGeom>
          <a:noFill/>
          <a:ln/>
        </p:spPr>
        <p:txBody>
          <a:bodyPr wrap="square" lIns="0" tIns="0" rIns="0" bIns="0" rtlCol="0" anchor="ctr"/>
          <a:lstStyle/>
          <a:p>
            <a:pPr indent="0" marL="0">
              <a:lnSpc>
                <a:spcPts val="1700"/>
              </a:lnSpc>
              <a:buNone/>
            </a:pPr>
            <a:r>
              <a:rPr lang="en-US" sz="1200" i="1" dirty="0">
                <a:solidFill>
                  <a:srgbClr val="6B7789"/>
                </a:solidFill>
                <a:latin typeface="Calibri" pitchFamily="34" charset="0"/>
                <a:ea typeface="Calibri" pitchFamily="34" charset="-122"/>
                <a:cs typeface="Calibri" pitchFamily="34" charset="-120"/>
              </a:rPr>
              <a:t>Couvert à 100 % de ses branches, sans aucune dépendance externe.</a:t>
            </a:r>
            <a:endParaRPr lang="en-US" sz="1200" dirty="0"/>
          </a:p>
        </p:txBody>
      </p:sp>
      <p:sp>
        <p:nvSpPr>
          <p:cNvPr id="21" name="Text 18"/>
          <p:cNvSpPr txBox="1"/>
          <p:nvPr/>
        </p:nvSpPr>
        <p:spPr>
          <a:xfrm>
            <a:off x="685800" y="5166360"/>
            <a:ext cx="10820095" cy="365760"/>
          </a:xfrm>
          <a:prstGeom prst="rect">
            <a:avLst/>
          </a:prstGeom>
          <a:noFill/>
          <a:ln/>
        </p:spPr>
        <p:txBody>
          <a:bodyPr wrap="square" lIns="0" tIns="0" rIns="0" bIns="0" rtlCol="0" anchor="ctr"/>
          <a:lstStyle/>
          <a:p>
            <a:pPr indent="0" marL="0">
              <a:buNone/>
            </a:pPr>
            <a:r>
              <a:rPr lang="en-US" sz="1300" dirty="0">
                <a:solidFill>
                  <a:srgbClr val="6B7789"/>
                </a:solidFill>
                <a:latin typeface="Calibri" pitchFamily="34" charset="0"/>
                <a:ea typeface="Calibri" pitchFamily="34" charset="-122"/>
                <a:cs typeface="Calibri" pitchFamily="34" charset="-120"/>
              </a:rPr>
              <a:t>Le calcul vit dans app/domain/recommendation.py — couche pure, testable en millisecondes.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85800" y="384048"/>
            <a:ext cx="10820095" cy="237744"/>
          </a:xfrm>
          <a:prstGeom prst="rect">
            <a:avLst/>
          </a:prstGeom>
          <a:noFill/>
          <a:ln/>
        </p:spPr>
        <p:txBody>
          <a:bodyPr wrap="square" lIns="0" tIns="0" rIns="0" bIns="0" rtlCol="0" anchor="ctr"/>
          <a:lstStyle/>
          <a:p>
            <a:pPr indent="0" marL="0">
              <a:buNone/>
            </a:pPr>
            <a:r>
              <a:rPr lang="en-US" sz="1100" b="1" spc="200" kern="0" dirty="0">
                <a:solidFill>
                  <a:srgbClr val="5B9BFF"/>
                </a:solidFill>
                <a:latin typeface="Calibri" pitchFamily="34" charset="0"/>
                <a:ea typeface="Calibri" pitchFamily="34" charset="-122"/>
                <a:cs typeface="Calibri" pitchFamily="34" charset="-120"/>
              </a:rPr>
              <a:t>9 — DATA &amp; IA (2/3)</a:t>
            </a:r>
            <a:endParaRPr lang="en-US" sz="1100" dirty="0"/>
          </a:p>
        </p:txBody>
      </p:sp>
      <p:sp>
        <p:nvSpPr>
          <p:cNvPr id="3" name="Text 1"/>
          <p:cNvSpPr txBox="1"/>
          <p:nvPr/>
        </p:nvSpPr>
        <p:spPr>
          <a:xfrm>
            <a:off x="685800" y="658368"/>
            <a:ext cx="9997135" cy="777240"/>
          </a:xfrm>
          <a:prstGeom prst="rect">
            <a:avLst/>
          </a:prstGeom>
          <a:noFill/>
          <a:ln/>
        </p:spPr>
        <p:txBody>
          <a:bodyPr wrap="square" lIns="0" tIns="0" rIns="0" bIns="0" rtlCol="0" anchor="t"/>
          <a:lstStyle/>
          <a:p>
            <a:pPr indent="0" marL="0">
              <a:buNone/>
            </a:pPr>
            <a:r>
              <a:rPr lang="en-US" sz="3200" b="1" dirty="0">
                <a:solidFill>
                  <a:srgbClr val="E8EEF7"/>
                </a:solidFill>
                <a:latin typeface="Calibri" pitchFamily="34" charset="0"/>
                <a:ea typeface="Calibri" pitchFamily="34" charset="-122"/>
                <a:cs typeface="Calibri" pitchFamily="34" charset="-120"/>
              </a:rPr>
              <a:t>Un assistant outillé, sur trois étages</a:t>
            </a:r>
            <a:endParaRPr lang="en-US" sz="3200" dirty="0"/>
          </a:p>
        </p:txBody>
      </p:sp>
      <p:sp>
        <p:nvSpPr>
          <p:cNvPr id="4" name="Shape 2"/>
          <p:cNvSpPr/>
          <p:nvPr/>
        </p:nvSpPr>
        <p:spPr>
          <a:xfrm>
            <a:off x="11292840" y="6144768"/>
            <a:ext cx="365760" cy="365760"/>
          </a:xfrm>
          <a:prstGeom prst="ellipse">
            <a:avLst/>
          </a:prstGeom>
          <a:solidFill>
            <a:srgbClr val="232E42"/>
          </a:solidFill>
          <a:ln w="12700">
            <a:solidFill>
              <a:srgbClr val="232E42"/>
            </a:solidFill>
            <a:prstDash val="solid"/>
          </a:ln>
        </p:spPr>
      </p:sp>
      <p:sp>
        <p:nvSpPr>
          <p:cNvPr id="5" name="Text 3"/>
          <p:cNvSpPr txBox="1"/>
          <p:nvPr/>
        </p:nvSpPr>
        <p:spPr>
          <a:xfrm>
            <a:off x="11292840" y="6144768"/>
            <a:ext cx="365760" cy="365760"/>
          </a:xfrm>
          <a:prstGeom prst="rect">
            <a:avLst/>
          </a:prstGeom>
          <a:noFill/>
          <a:ln/>
        </p:spPr>
        <p:txBody>
          <a:bodyPr wrap="square" lIns="0" tIns="0" rIns="0" bIns="0" rtlCol="0" anchor="ctr"/>
          <a:lstStyle/>
          <a:p>
            <a:pPr algn="ctr" indent="0" marL="0">
              <a:buNone/>
            </a:pPr>
            <a:r>
              <a:rPr lang="en-US" sz="1100" b="1" dirty="0">
                <a:solidFill>
                  <a:srgbClr val="95A3B8"/>
                </a:solidFill>
                <a:latin typeface="Calibri" pitchFamily="34" charset="0"/>
                <a:ea typeface="Calibri" pitchFamily="34" charset="-122"/>
                <a:cs typeface="Calibri" pitchFamily="34" charset="-120"/>
              </a:rPr>
              <a:t>12</a:t>
            </a:r>
            <a:endParaRPr lang="en-US" sz="1100" dirty="0"/>
          </a:p>
        </p:txBody>
      </p:sp>
      <p:sp>
        <p:nvSpPr>
          <p:cNvPr id="7" name="Shape 4"/>
          <p:cNvSpPr/>
          <p:nvPr/>
        </p:nvSpPr>
        <p:spPr>
          <a:xfrm>
            <a:off x="685800" y="1600200"/>
            <a:ext cx="3401568" cy="2148840"/>
          </a:xfrm>
          <a:prstGeom prst="roundRect">
            <a:avLst>
              <a:gd name="adj" fmla="val 3404"/>
            </a:avLst>
          </a:prstGeom>
          <a:solidFill>
            <a:srgbClr val="1A2231"/>
          </a:solidFill>
          <a:ln w="12700">
            <a:solidFill>
              <a:srgbClr val="232E42"/>
            </a:solidFill>
            <a:prstDash val="solid"/>
          </a:ln>
        </p:spPr>
      </p:sp>
      <p:sp>
        <p:nvSpPr>
          <p:cNvPr id="8" name="Shape 5"/>
          <p:cNvSpPr/>
          <p:nvPr/>
        </p:nvSpPr>
        <p:spPr>
          <a:xfrm>
            <a:off x="960120" y="1828800"/>
            <a:ext cx="420624" cy="420624"/>
          </a:xfrm>
          <a:prstGeom prst="roundRect">
            <a:avLst>
              <a:gd name="adj" fmla="val 21739"/>
            </a:avLst>
          </a:prstGeom>
          <a:solidFill>
            <a:srgbClr val="232E42"/>
          </a:solidFill>
          <a:ln w="12700">
            <a:solidFill>
              <a:srgbClr val="5B9BFF"/>
            </a:solidFill>
            <a:prstDash val="solid"/>
          </a:ln>
        </p:spPr>
      </p:sp>
      <p:sp>
        <p:nvSpPr>
          <p:cNvPr id="9" name="Text 6"/>
          <p:cNvSpPr txBox="1"/>
          <p:nvPr/>
        </p:nvSpPr>
        <p:spPr>
          <a:xfrm>
            <a:off x="960120" y="1828800"/>
            <a:ext cx="420624" cy="420624"/>
          </a:xfrm>
          <a:prstGeom prst="rect">
            <a:avLst/>
          </a:prstGeom>
          <a:noFill/>
          <a:ln/>
        </p:spPr>
        <p:txBody>
          <a:bodyPr wrap="square" lIns="0" tIns="0" rIns="0" bIns="0" rtlCol="0" anchor="ctr"/>
          <a:lstStyle/>
          <a:p>
            <a:pPr algn="ctr" indent="0" marL="0">
              <a:buNone/>
            </a:pPr>
            <a:r>
              <a:rPr lang="en-US" sz="1400" b="1" dirty="0">
                <a:solidFill>
                  <a:srgbClr val="5B9BFF"/>
                </a:solidFill>
                <a:latin typeface="Calibri" pitchFamily="34" charset="0"/>
                <a:ea typeface="Calibri" pitchFamily="34" charset="-122"/>
                <a:cs typeface="Calibri" pitchFamily="34" charset="-120"/>
              </a:rPr>
              <a:t>A</a:t>
            </a:r>
            <a:endParaRPr lang="en-US" sz="1400" dirty="0"/>
          </a:p>
        </p:txBody>
      </p:sp>
      <p:sp>
        <p:nvSpPr>
          <p:cNvPr id="10" name="Text 7"/>
          <p:cNvSpPr txBox="1"/>
          <p:nvPr/>
        </p:nvSpPr>
        <p:spPr>
          <a:xfrm>
            <a:off x="1490472" y="1847088"/>
            <a:ext cx="2377440" cy="274320"/>
          </a:xfrm>
          <a:prstGeom prst="rect">
            <a:avLst/>
          </a:prstGeom>
          <a:noFill/>
          <a:ln/>
        </p:spPr>
        <p:txBody>
          <a:bodyPr wrap="square" lIns="0" tIns="0" rIns="0" bIns="0" rtlCol="0" anchor="ctr"/>
          <a:lstStyle/>
          <a:p>
            <a:pPr indent="0" marL="0">
              <a:buNone/>
            </a:pPr>
            <a:r>
              <a:rPr lang="en-US" sz="1500" b="1" dirty="0">
                <a:solidFill>
                  <a:srgbClr val="E8EEF7"/>
                </a:solidFill>
                <a:latin typeface="Calibri" pitchFamily="34" charset="0"/>
                <a:ea typeface="Calibri" pitchFamily="34" charset="-122"/>
                <a:cs typeface="Calibri" pitchFamily="34" charset="-120"/>
              </a:rPr>
              <a:t>Ollama</a:t>
            </a:r>
            <a:endParaRPr lang="en-US" sz="1500" dirty="0"/>
          </a:p>
        </p:txBody>
      </p:sp>
      <p:sp>
        <p:nvSpPr>
          <p:cNvPr id="11" name="Text 8"/>
          <p:cNvSpPr txBox="1"/>
          <p:nvPr/>
        </p:nvSpPr>
        <p:spPr>
          <a:xfrm>
            <a:off x="1490472" y="2103120"/>
            <a:ext cx="2377440" cy="237744"/>
          </a:xfrm>
          <a:prstGeom prst="rect">
            <a:avLst/>
          </a:prstGeom>
          <a:noFill/>
          <a:ln/>
        </p:spPr>
        <p:txBody>
          <a:bodyPr wrap="square" lIns="0" tIns="0" rIns="0" bIns="0" rtlCol="0" anchor="ctr"/>
          <a:lstStyle/>
          <a:p>
            <a:pPr indent="0" marL="0">
              <a:buNone/>
            </a:pPr>
            <a:r>
              <a:rPr lang="en-US" sz="1150" dirty="0">
                <a:solidFill>
                  <a:srgbClr val="6B7789"/>
                </a:solidFill>
                <a:latin typeface="Calibri" pitchFamily="34" charset="0"/>
                <a:ea typeface="Calibri" pitchFamily="34" charset="-122"/>
                <a:cs typeface="Calibri" pitchFamily="34" charset="-120"/>
              </a:rPr>
              <a:t>Poste de développement</a:t>
            </a:r>
            <a:endParaRPr lang="en-US" sz="1150" dirty="0"/>
          </a:p>
        </p:txBody>
      </p:sp>
      <p:sp>
        <p:nvSpPr>
          <p:cNvPr id="12" name="Text 9"/>
          <p:cNvSpPr txBox="1"/>
          <p:nvPr/>
        </p:nvSpPr>
        <p:spPr>
          <a:xfrm>
            <a:off x="960120" y="2514600"/>
            <a:ext cx="2852928" cy="960120"/>
          </a:xfrm>
          <a:prstGeom prst="rect">
            <a:avLst/>
          </a:prstGeom>
          <a:noFill/>
          <a:ln/>
        </p:spPr>
        <p:txBody>
          <a:bodyPr wrap="square" lIns="0" tIns="0" rIns="0" bIns="0" rtlCol="0" anchor="ctr"/>
          <a:lstStyle/>
          <a:p>
            <a:pPr indent="0" marL="0">
              <a:lnSpc>
                <a:spcPts val="1700"/>
              </a:lnSpc>
              <a:buNone/>
            </a:pPr>
            <a:r>
              <a:rPr lang="en-US" sz="1200" dirty="0">
                <a:solidFill>
                  <a:srgbClr val="95A3B8"/>
                </a:solidFill>
                <a:latin typeface="Calibri" pitchFamily="34" charset="0"/>
                <a:ea typeface="Calibri" pitchFamily="34" charset="-122"/>
                <a:cs typeface="Calibri" pitchFamily="34" charset="-120"/>
              </a:rPr>
              <a:t>Gratuit, hors ligne, aucune donnée ne sort du poste</a:t>
            </a:r>
            <a:endParaRPr lang="en-US" sz="1200" dirty="0"/>
          </a:p>
        </p:txBody>
      </p:sp>
      <p:sp>
        <p:nvSpPr>
          <p:cNvPr id="13" name="Shape 10"/>
          <p:cNvSpPr/>
          <p:nvPr/>
        </p:nvSpPr>
        <p:spPr>
          <a:xfrm>
            <a:off x="4361688" y="1600200"/>
            <a:ext cx="3401568" cy="2148840"/>
          </a:xfrm>
          <a:prstGeom prst="roundRect">
            <a:avLst>
              <a:gd name="adj" fmla="val 3404"/>
            </a:avLst>
          </a:prstGeom>
          <a:solidFill>
            <a:srgbClr val="1A2231"/>
          </a:solidFill>
          <a:ln w="12700">
            <a:solidFill>
              <a:srgbClr val="232E42"/>
            </a:solidFill>
            <a:prstDash val="solid"/>
          </a:ln>
        </p:spPr>
      </p:sp>
      <p:sp>
        <p:nvSpPr>
          <p:cNvPr id="14" name="Shape 11"/>
          <p:cNvSpPr/>
          <p:nvPr/>
        </p:nvSpPr>
        <p:spPr>
          <a:xfrm>
            <a:off x="4636008" y="1828800"/>
            <a:ext cx="420624" cy="420624"/>
          </a:xfrm>
          <a:prstGeom prst="roundRect">
            <a:avLst>
              <a:gd name="adj" fmla="val 21739"/>
            </a:avLst>
          </a:prstGeom>
          <a:solidFill>
            <a:srgbClr val="232E42"/>
          </a:solidFill>
          <a:ln w="12700">
            <a:solidFill>
              <a:srgbClr val="F0B429"/>
            </a:solidFill>
            <a:prstDash val="solid"/>
          </a:ln>
        </p:spPr>
      </p:sp>
      <p:sp>
        <p:nvSpPr>
          <p:cNvPr id="15" name="Text 12"/>
          <p:cNvSpPr txBox="1"/>
          <p:nvPr/>
        </p:nvSpPr>
        <p:spPr>
          <a:xfrm>
            <a:off x="4636008" y="1828800"/>
            <a:ext cx="420624" cy="420624"/>
          </a:xfrm>
          <a:prstGeom prst="rect">
            <a:avLst/>
          </a:prstGeom>
          <a:noFill/>
          <a:ln/>
        </p:spPr>
        <p:txBody>
          <a:bodyPr wrap="square" lIns="0" tIns="0" rIns="0" bIns="0" rtlCol="0" anchor="ctr"/>
          <a:lstStyle/>
          <a:p>
            <a:pPr algn="ctr" indent="0" marL="0">
              <a:buNone/>
            </a:pPr>
            <a:r>
              <a:rPr lang="en-US" sz="1400" b="1" dirty="0">
                <a:solidFill>
                  <a:srgbClr val="F0B429"/>
                </a:solidFill>
                <a:latin typeface="Calibri" pitchFamily="34" charset="0"/>
                <a:ea typeface="Calibri" pitchFamily="34" charset="-122"/>
                <a:cs typeface="Calibri" pitchFamily="34" charset="-120"/>
              </a:rPr>
              <a:t>B</a:t>
            </a:r>
            <a:endParaRPr lang="en-US" sz="1400" dirty="0"/>
          </a:p>
        </p:txBody>
      </p:sp>
      <p:sp>
        <p:nvSpPr>
          <p:cNvPr id="16" name="Text 13"/>
          <p:cNvSpPr txBox="1"/>
          <p:nvPr/>
        </p:nvSpPr>
        <p:spPr>
          <a:xfrm>
            <a:off x="5166360" y="1847088"/>
            <a:ext cx="2377440" cy="274320"/>
          </a:xfrm>
          <a:prstGeom prst="rect">
            <a:avLst/>
          </a:prstGeom>
          <a:noFill/>
          <a:ln/>
        </p:spPr>
        <p:txBody>
          <a:bodyPr wrap="square" lIns="0" tIns="0" rIns="0" bIns="0" rtlCol="0" anchor="ctr"/>
          <a:lstStyle/>
          <a:p>
            <a:pPr indent="0" marL="0">
              <a:buNone/>
            </a:pPr>
            <a:r>
              <a:rPr lang="en-US" sz="1500" b="1" dirty="0">
                <a:solidFill>
                  <a:srgbClr val="E8EEF7"/>
                </a:solidFill>
                <a:latin typeface="Calibri" pitchFamily="34" charset="0"/>
                <a:ea typeface="Calibri" pitchFamily="34" charset="-122"/>
                <a:cs typeface="Calibri" pitchFamily="34" charset="-120"/>
              </a:rPr>
              <a:t>API distante</a:t>
            </a:r>
            <a:endParaRPr lang="en-US" sz="1500" dirty="0"/>
          </a:p>
        </p:txBody>
      </p:sp>
      <p:sp>
        <p:nvSpPr>
          <p:cNvPr id="17" name="Text 14"/>
          <p:cNvSpPr txBox="1"/>
          <p:nvPr/>
        </p:nvSpPr>
        <p:spPr>
          <a:xfrm>
            <a:off x="5166360" y="2103120"/>
            <a:ext cx="2377440" cy="237744"/>
          </a:xfrm>
          <a:prstGeom prst="rect">
            <a:avLst/>
          </a:prstGeom>
          <a:noFill/>
          <a:ln/>
        </p:spPr>
        <p:txBody>
          <a:bodyPr wrap="square" lIns="0" tIns="0" rIns="0" bIns="0" rtlCol="0" anchor="ctr"/>
          <a:lstStyle/>
          <a:p>
            <a:pPr indent="0" marL="0">
              <a:buNone/>
            </a:pPr>
            <a:r>
              <a:rPr lang="en-US" sz="1150" dirty="0">
                <a:solidFill>
                  <a:srgbClr val="6B7789"/>
                </a:solidFill>
                <a:latin typeface="Calibri" pitchFamily="34" charset="0"/>
                <a:ea typeface="Calibri" pitchFamily="34" charset="-122"/>
                <a:cs typeface="Calibri" pitchFamily="34" charset="-120"/>
              </a:rPr>
              <a:t>Production</a:t>
            </a:r>
            <a:endParaRPr lang="en-US" sz="1150" dirty="0"/>
          </a:p>
        </p:txBody>
      </p:sp>
      <p:sp>
        <p:nvSpPr>
          <p:cNvPr id="18" name="Text 15"/>
          <p:cNvSpPr txBox="1"/>
          <p:nvPr/>
        </p:nvSpPr>
        <p:spPr>
          <a:xfrm>
            <a:off x="4636008" y="2514600"/>
            <a:ext cx="2852928" cy="960120"/>
          </a:xfrm>
          <a:prstGeom prst="rect">
            <a:avLst/>
          </a:prstGeom>
          <a:noFill/>
          <a:ln/>
        </p:spPr>
        <p:txBody>
          <a:bodyPr wrap="square" lIns="0" tIns="0" rIns="0" bIns="0" rtlCol="0" anchor="ctr"/>
          <a:lstStyle/>
          <a:p>
            <a:pPr indent="0" marL="0">
              <a:lnSpc>
                <a:spcPts val="1700"/>
              </a:lnSpc>
              <a:buNone/>
            </a:pPr>
            <a:r>
              <a:rPr lang="en-US" sz="1200" dirty="0">
                <a:solidFill>
                  <a:srgbClr val="95A3B8"/>
                </a:solidFill>
                <a:latin typeface="Calibri" pitchFamily="34" charset="0"/>
                <a:ea typeface="Calibri" pitchFamily="34" charset="-122"/>
                <a:cs typeface="Calibri" pitchFamily="34" charset="-120"/>
              </a:rPr>
              <a:t>Aucun hébergement gratuit ne fait tourner 7 milliards de paramètres</a:t>
            </a:r>
            <a:endParaRPr lang="en-US" sz="1200" dirty="0"/>
          </a:p>
        </p:txBody>
      </p:sp>
      <p:sp>
        <p:nvSpPr>
          <p:cNvPr id="19" name="Shape 16"/>
          <p:cNvSpPr/>
          <p:nvPr/>
        </p:nvSpPr>
        <p:spPr>
          <a:xfrm>
            <a:off x="8037576" y="1600200"/>
            <a:ext cx="3401568" cy="2148840"/>
          </a:xfrm>
          <a:prstGeom prst="roundRect">
            <a:avLst>
              <a:gd name="adj" fmla="val 3404"/>
            </a:avLst>
          </a:prstGeom>
          <a:solidFill>
            <a:srgbClr val="1A2231"/>
          </a:solidFill>
          <a:ln w="12700">
            <a:solidFill>
              <a:srgbClr val="232E42"/>
            </a:solidFill>
            <a:prstDash val="solid"/>
          </a:ln>
        </p:spPr>
      </p:sp>
      <p:sp>
        <p:nvSpPr>
          <p:cNvPr id="20" name="Shape 17"/>
          <p:cNvSpPr/>
          <p:nvPr/>
        </p:nvSpPr>
        <p:spPr>
          <a:xfrm>
            <a:off x="8311896" y="1828800"/>
            <a:ext cx="420624" cy="420624"/>
          </a:xfrm>
          <a:prstGeom prst="roundRect">
            <a:avLst>
              <a:gd name="adj" fmla="val 21739"/>
            </a:avLst>
          </a:prstGeom>
          <a:solidFill>
            <a:srgbClr val="232E42"/>
          </a:solidFill>
          <a:ln w="12700">
            <a:solidFill>
              <a:srgbClr val="3DD68C"/>
            </a:solidFill>
            <a:prstDash val="solid"/>
          </a:ln>
        </p:spPr>
      </p:sp>
      <p:sp>
        <p:nvSpPr>
          <p:cNvPr id="21" name="Text 18"/>
          <p:cNvSpPr txBox="1"/>
          <p:nvPr/>
        </p:nvSpPr>
        <p:spPr>
          <a:xfrm>
            <a:off x="8311896" y="1828800"/>
            <a:ext cx="420624" cy="420624"/>
          </a:xfrm>
          <a:prstGeom prst="rect">
            <a:avLst/>
          </a:prstGeom>
          <a:noFill/>
          <a:ln/>
        </p:spPr>
        <p:txBody>
          <a:bodyPr wrap="square" lIns="0" tIns="0" rIns="0" bIns="0" rtlCol="0" anchor="ctr"/>
          <a:lstStyle/>
          <a:p>
            <a:pPr algn="ctr" indent="0" marL="0">
              <a:buNone/>
            </a:pPr>
            <a:r>
              <a:rPr lang="en-US" sz="1400" b="1" dirty="0">
                <a:solidFill>
                  <a:srgbClr val="3DD68C"/>
                </a:solidFill>
                <a:latin typeface="Calibri" pitchFamily="34" charset="0"/>
                <a:ea typeface="Calibri" pitchFamily="34" charset="-122"/>
                <a:cs typeface="Calibri" pitchFamily="34" charset="-120"/>
              </a:rPr>
              <a:t>C</a:t>
            </a:r>
            <a:endParaRPr lang="en-US" sz="1400" dirty="0"/>
          </a:p>
        </p:txBody>
      </p:sp>
      <p:sp>
        <p:nvSpPr>
          <p:cNvPr id="22" name="Text 19"/>
          <p:cNvSpPr txBox="1"/>
          <p:nvPr/>
        </p:nvSpPr>
        <p:spPr>
          <a:xfrm>
            <a:off x="8842248" y="1847088"/>
            <a:ext cx="2377440" cy="274320"/>
          </a:xfrm>
          <a:prstGeom prst="rect">
            <a:avLst/>
          </a:prstGeom>
          <a:noFill/>
          <a:ln/>
        </p:spPr>
        <p:txBody>
          <a:bodyPr wrap="square" lIns="0" tIns="0" rIns="0" bIns="0" rtlCol="0" anchor="ctr"/>
          <a:lstStyle/>
          <a:p>
            <a:pPr indent="0" marL="0">
              <a:buNone/>
            </a:pPr>
            <a:r>
              <a:rPr lang="en-US" sz="1500" b="1" dirty="0">
                <a:solidFill>
                  <a:srgbClr val="E8EEF7"/>
                </a:solidFill>
                <a:latin typeface="Calibri" pitchFamily="34" charset="0"/>
                <a:ea typeface="Calibri" pitchFamily="34" charset="-122"/>
                <a:cs typeface="Calibri" pitchFamily="34" charset="-120"/>
              </a:rPr>
              <a:t>Moteur déterministe</a:t>
            </a:r>
            <a:endParaRPr lang="en-US" sz="1500" dirty="0"/>
          </a:p>
        </p:txBody>
      </p:sp>
      <p:sp>
        <p:nvSpPr>
          <p:cNvPr id="23" name="Text 20"/>
          <p:cNvSpPr txBox="1"/>
          <p:nvPr/>
        </p:nvSpPr>
        <p:spPr>
          <a:xfrm>
            <a:off x="8842248" y="2103120"/>
            <a:ext cx="2377440" cy="237744"/>
          </a:xfrm>
          <a:prstGeom prst="rect">
            <a:avLst/>
          </a:prstGeom>
          <a:noFill/>
          <a:ln/>
        </p:spPr>
        <p:txBody>
          <a:bodyPr wrap="square" lIns="0" tIns="0" rIns="0" bIns="0" rtlCol="0" anchor="ctr"/>
          <a:lstStyle/>
          <a:p>
            <a:pPr indent="0" marL="0">
              <a:buNone/>
            </a:pPr>
            <a:r>
              <a:rPr lang="en-US" sz="1150" dirty="0">
                <a:solidFill>
                  <a:srgbClr val="6B7789"/>
                </a:solidFill>
                <a:latin typeface="Calibri" pitchFamily="34" charset="0"/>
                <a:ea typeface="Calibri" pitchFamily="34" charset="-122"/>
                <a:cs typeface="Calibri" pitchFamily="34" charset="-120"/>
              </a:rPr>
              <a:t>Toujours disponible</a:t>
            </a:r>
            <a:endParaRPr lang="en-US" sz="1150" dirty="0"/>
          </a:p>
        </p:txBody>
      </p:sp>
      <p:sp>
        <p:nvSpPr>
          <p:cNvPr id="24" name="Text 21"/>
          <p:cNvSpPr txBox="1"/>
          <p:nvPr/>
        </p:nvSpPr>
        <p:spPr>
          <a:xfrm>
            <a:off x="8311896" y="2514600"/>
            <a:ext cx="2852928" cy="960120"/>
          </a:xfrm>
          <a:prstGeom prst="rect">
            <a:avLst/>
          </a:prstGeom>
          <a:noFill/>
          <a:ln/>
        </p:spPr>
        <p:txBody>
          <a:bodyPr wrap="square" lIns="0" tIns="0" rIns="0" bIns="0" rtlCol="0" anchor="ctr"/>
          <a:lstStyle/>
          <a:p>
            <a:pPr indent="0" marL="0">
              <a:lnSpc>
                <a:spcPts val="1700"/>
              </a:lnSpc>
              <a:buNone/>
            </a:pPr>
            <a:r>
              <a:rPr lang="en-US" sz="1200" dirty="0">
                <a:solidFill>
                  <a:srgbClr val="95A3B8"/>
                </a:solidFill>
                <a:latin typeface="Calibri" pitchFamily="34" charset="0"/>
                <a:ea typeface="Calibri" pitchFamily="34" charset="-122"/>
                <a:cs typeface="Calibri" pitchFamily="34" charset="-120"/>
              </a:rPr>
              <a:t>Ce n’est pas une panne : mêmes outils, sans aucun modèle</a:t>
            </a:r>
            <a:endParaRPr lang="en-US" sz="1200" dirty="0"/>
          </a:p>
        </p:txBody>
      </p:sp>
      <p:sp>
        <p:nvSpPr>
          <p:cNvPr id="25" name="Text 22"/>
          <p:cNvSpPr txBox="1"/>
          <p:nvPr/>
        </p:nvSpPr>
        <p:spPr>
          <a:xfrm>
            <a:off x="685800" y="3977640"/>
            <a:ext cx="10820095" cy="320040"/>
          </a:xfrm>
          <a:prstGeom prst="rect">
            <a:avLst/>
          </a:prstGeom>
          <a:noFill/>
          <a:ln/>
        </p:spPr>
        <p:txBody>
          <a:bodyPr wrap="square" lIns="0" tIns="0" rIns="0" bIns="0" rtlCol="0" anchor="ctr"/>
          <a:lstStyle/>
          <a:p>
            <a:pPr indent="0" marL="0">
              <a:buNone/>
            </a:pPr>
            <a:r>
              <a:rPr lang="en-US" sz="1600" b="1" dirty="0">
                <a:solidFill>
                  <a:srgbClr val="E8EEF7"/>
                </a:solidFill>
                <a:latin typeface="Calibri" pitchFamily="34" charset="0"/>
                <a:ea typeface="Calibri" pitchFamily="34" charset="-122"/>
                <a:cs typeface="Calibri" pitchFamily="34" charset="-120"/>
              </a:rPr>
              <a:t>Une mesure qui a modifié notre conception</a:t>
            </a:r>
            <a:endParaRPr lang="en-US" sz="1600" dirty="0"/>
          </a:p>
        </p:txBody>
      </p:sp>
      <p:sp>
        <p:nvSpPr>
          <p:cNvPr id="26" name="Text 23"/>
          <p:cNvSpPr txBox="1"/>
          <p:nvPr/>
        </p:nvSpPr>
        <p:spPr>
          <a:xfrm>
            <a:off x="685800" y="4315968"/>
            <a:ext cx="6858000" cy="274320"/>
          </a:xfrm>
          <a:prstGeom prst="rect">
            <a:avLst/>
          </a:prstGeom>
          <a:noFill/>
          <a:ln/>
        </p:spPr>
        <p:txBody>
          <a:bodyPr wrap="square" lIns="0" tIns="0" rIns="0" bIns="0" rtlCol="0" anchor="ctr"/>
          <a:lstStyle/>
          <a:p>
            <a:pPr indent="0" marL="0">
              <a:buNone/>
            </a:pPr>
            <a:r>
              <a:rPr lang="en-US" sz="1250" dirty="0">
                <a:solidFill>
                  <a:srgbClr val="95A3B8"/>
                </a:solidFill>
                <a:latin typeface="Calibri" pitchFamily="34" charset="0"/>
                <a:ea typeface="Calibri" pitchFamily="34" charset="-122"/>
                <a:cs typeface="Calibri" pitchFamily="34" charset="-120"/>
              </a:rPr>
              <a:t>Cinq essais de « donne-moi mes prochaines réservations », pour un compte qui en possède cinq :</a:t>
            </a:r>
            <a:endParaRPr lang="en-US" sz="1250" dirty="0"/>
          </a:p>
        </p:txBody>
      </p:sp>
      <p:sp>
        <p:nvSpPr>
          <p:cNvPr id="27" name="Text 24"/>
          <p:cNvSpPr txBox="1"/>
          <p:nvPr/>
        </p:nvSpPr>
        <p:spPr>
          <a:xfrm>
            <a:off x="685800" y="4709160"/>
            <a:ext cx="2377440" cy="274320"/>
          </a:xfrm>
          <a:prstGeom prst="rect">
            <a:avLst/>
          </a:prstGeom>
          <a:noFill/>
          <a:ln/>
        </p:spPr>
        <p:txBody>
          <a:bodyPr wrap="square" lIns="0" tIns="0" rIns="0" bIns="0" rtlCol="0" anchor="ctr"/>
          <a:lstStyle/>
          <a:p>
            <a:pPr indent="0" marL="0">
              <a:buNone/>
            </a:pPr>
            <a:r>
              <a:rPr lang="en-US" sz="1250" dirty="0">
                <a:solidFill>
                  <a:srgbClr val="E8EEF7"/>
                </a:solidFill>
                <a:latin typeface="Calibri" pitchFamily="34" charset="0"/>
                <a:ea typeface="Calibri" pitchFamily="34" charset="-122"/>
                <a:cs typeface="Calibri" pitchFamily="34" charset="-120"/>
              </a:rPr>
              <a:t>qwen2.5:7b</a:t>
            </a:r>
            <a:endParaRPr lang="en-US" sz="1250" dirty="0"/>
          </a:p>
        </p:txBody>
      </p:sp>
      <p:sp>
        <p:nvSpPr>
          <p:cNvPr id="28" name="Text 25"/>
          <p:cNvSpPr txBox="1"/>
          <p:nvPr/>
        </p:nvSpPr>
        <p:spPr>
          <a:xfrm>
            <a:off x="3154680" y="4709160"/>
            <a:ext cx="1463040" cy="274320"/>
          </a:xfrm>
          <a:prstGeom prst="rect">
            <a:avLst/>
          </a:prstGeom>
          <a:noFill/>
          <a:ln/>
        </p:spPr>
        <p:txBody>
          <a:bodyPr wrap="square" lIns="0" tIns="0" rIns="0" bIns="0" rtlCol="0" anchor="ctr"/>
          <a:lstStyle/>
          <a:p>
            <a:pPr indent="0" marL="0">
              <a:buNone/>
            </a:pPr>
            <a:r>
              <a:rPr lang="en-US" sz="1250" dirty="0">
                <a:solidFill>
                  <a:srgbClr val="95A3B8"/>
                </a:solidFill>
                <a:latin typeface="Courier New" pitchFamily="34" charset="0"/>
                <a:ea typeface="Courier New" pitchFamily="34" charset="-122"/>
                <a:cs typeface="Courier New" pitchFamily="34" charset="-120"/>
              </a:rPr>
              <a:t>3 fois sur 5</a:t>
            </a:r>
            <a:endParaRPr lang="en-US" sz="1250" dirty="0"/>
          </a:p>
        </p:txBody>
      </p:sp>
      <p:sp>
        <p:nvSpPr>
          <p:cNvPr id="29" name="Text 26"/>
          <p:cNvSpPr txBox="1"/>
          <p:nvPr/>
        </p:nvSpPr>
        <p:spPr>
          <a:xfrm>
            <a:off x="4709160" y="4709160"/>
            <a:ext cx="2743200" cy="274320"/>
          </a:xfrm>
          <a:prstGeom prst="rect">
            <a:avLst/>
          </a:prstGeom>
          <a:noFill/>
          <a:ln/>
        </p:spPr>
        <p:txBody>
          <a:bodyPr wrap="square" lIns="0" tIns="0" rIns="0" bIns="0" rtlCol="0" anchor="ctr"/>
          <a:lstStyle/>
          <a:p>
            <a:pPr indent="0" marL="0">
              <a:buNone/>
            </a:pPr>
            <a:r>
              <a:rPr lang="en-US" sz="1250" b="1" dirty="0">
                <a:solidFill>
                  <a:srgbClr val="F0B429"/>
                </a:solidFill>
                <a:latin typeface="Calibri" pitchFamily="34" charset="0"/>
                <a:ea typeface="Calibri" pitchFamily="34" charset="-122"/>
                <a:cs typeface="Calibri" pitchFamily="34" charset="-120"/>
              </a:rPr>
              <a:t>réponse variable</a:t>
            </a:r>
            <a:endParaRPr lang="en-US" sz="1250" dirty="0"/>
          </a:p>
        </p:txBody>
      </p:sp>
      <p:sp>
        <p:nvSpPr>
          <p:cNvPr id="30" name="Text 27"/>
          <p:cNvSpPr txBox="1"/>
          <p:nvPr/>
        </p:nvSpPr>
        <p:spPr>
          <a:xfrm>
            <a:off x="685800" y="5093208"/>
            <a:ext cx="2377440" cy="274320"/>
          </a:xfrm>
          <a:prstGeom prst="rect">
            <a:avLst/>
          </a:prstGeom>
          <a:noFill/>
          <a:ln/>
        </p:spPr>
        <p:txBody>
          <a:bodyPr wrap="square" lIns="0" tIns="0" rIns="0" bIns="0" rtlCol="0" anchor="ctr"/>
          <a:lstStyle/>
          <a:p>
            <a:pPr indent="0" marL="0">
              <a:buNone/>
            </a:pPr>
            <a:r>
              <a:rPr lang="en-US" sz="1250" dirty="0">
                <a:solidFill>
                  <a:srgbClr val="E8EEF7"/>
                </a:solidFill>
                <a:latin typeface="Calibri" pitchFamily="34" charset="0"/>
                <a:ea typeface="Calibri" pitchFamily="34" charset="-122"/>
                <a:cs typeface="Calibri" pitchFamily="34" charset="-120"/>
              </a:rPr>
              <a:t>qwen2.5:14b</a:t>
            </a:r>
            <a:endParaRPr lang="en-US" sz="1250" dirty="0"/>
          </a:p>
        </p:txBody>
      </p:sp>
      <p:sp>
        <p:nvSpPr>
          <p:cNvPr id="31" name="Text 28"/>
          <p:cNvSpPr txBox="1"/>
          <p:nvPr/>
        </p:nvSpPr>
        <p:spPr>
          <a:xfrm>
            <a:off x="3154680" y="5093208"/>
            <a:ext cx="1463040" cy="274320"/>
          </a:xfrm>
          <a:prstGeom prst="rect">
            <a:avLst/>
          </a:prstGeom>
          <a:noFill/>
          <a:ln/>
        </p:spPr>
        <p:txBody>
          <a:bodyPr wrap="square" lIns="0" tIns="0" rIns="0" bIns="0" rtlCol="0" anchor="ctr"/>
          <a:lstStyle/>
          <a:p>
            <a:pPr indent="0" marL="0">
              <a:buNone/>
            </a:pPr>
            <a:r>
              <a:rPr lang="en-US" sz="1250" dirty="0">
                <a:solidFill>
                  <a:srgbClr val="95A3B8"/>
                </a:solidFill>
                <a:latin typeface="Courier New" pitchFamily="34" charset="0"/>
                <a:ea typeface="Courier New" pitchFamily="34" charset="-122"/>
                <a:cs typeface="Courier New" pitchFamily="34" charset="-120"/>
              </a:rPr>
              <a:t>0 fois sur 3</a:t>
            </a:r>
            <a:endParaRPr lang="en-US" sz="1250" dirty="0"/>
          </a:p>
        </p:txBody>
      </p:sp>
      <p:sp>
        <p:nvSpPr>
          <p:cNvPr id="32" name="Text 29"/>
          <p:cNvSpPr txBox="1"/>
          <p:nvPr/>
        </p:nvSpPr>
        <p:spPr>
          <a:xfrm>
            <a:off x="4709160" y="5093208"/>
            <a:ext cx="2743200" cy="274320"/>
          </a:xfrm>
          <a:prstGeom prst="rect">
            <a:avLst/>
          </a:prstGeom>
          <a:noFill/>
          <a:ln/>
        </p:spPr>
        <p:txBody>
          <a:bodyPr wrap="square" lIns="0" tIns="0" rIns="0" bIns="0" rtlCol="0" anchor="ctr"/>
          <a:lstStyle/>
          <a:p>
            <a:pPr indent="0" marL="0">
              <a:buNone/>
            </a:pPr>
            <a:r>
              <a:rPr lang="en-US" sz="1250" b="1" dirty="0">
                <a:solidFill>
                  <a:srgbClr val="FF7A7A"/>
                </a:solidFill>
                <a:latin typeface="Calibri" pitchFamily="34" charset="0"/>
                <a:ea typeface="Calibri" pitchFamily="34" charset="-122"/>
                <a:cs typeface="Calibri" pitchFamily="34" charset="-120"/>
              </a:rPr>
              <a:t>réponse fausse</a:t>
            </a:r>
            <a:endParaRPr lang="en-US" sz="1250" dirty="0"/>
          </a:p>
        </p:txBody>
      </p:sp>
      <p:sp>
        <p:nvSpPr>
          <p:cNvPr id="33" name="Text 30"/>
          <p:cNvSpPr txBox="1"/>
          <p:nvPr/>
        </p:nvSpPr>
        <p:spPr>
          <a:xfrm>
            <a:off x="685800" y="5477256"/>
            <a:ext cx="2377440" cy="274320"/>
          </a:xfrm>
          <a:prstGeom prst="rect">
            <a:avLst/>
          </a:prstGeom>
          <a:noFill/>
          <a:ln/>
        </p:spPr>
        <p:txBody>
          <a:bodyPr wrap="square" lIns="0" tIns="0" rIns="0" bIns="0" rtlCol="0" anchor="ctr"/>
          <a:lstStyle/>
          <a:p>
            <a:pPr indent="0" marL="0">
              <a:buNone/>
            </a:pPr>
            <a:r>
              <a:rPr lang="en-US" sz="1250" dirty="0">
                <a:solidFill>
                  <a:srgbClr val="E8EEF7"/>
                </a:solidFill>
                <a:latin typeface="Calibri" pitchFamily="34" charset="0"/>
                <a:ea typeface="Calibri" pitchFamily="34" charset="-122"/>
                <a:cs typeface="Calibri" pitchFamily="34" charset="-120"/>
              </a:rPr>
              <a:t>Moteur déterministe</a:t>
            </a:r>
            <a:endParaRPr lang="en-US" sz="1250" dirty="0"/>
          </a:p>
        </p:txBody>
      </p:sp>
      <p:sp>
        <p:nvSpPr>
          <p:cNvPr id="34" name="Text 31"/>
          <p:cNvSpPr txBox="1"/>
          <p:nvPr/>
        </p:nvSpPr>
        <p:spPr>
          <a:xfrm>
            <a:off x="3154680" y="5477256"/>
            <a:ext cx="1463040" cy="274320"/>
          </a:xfrm>
          <a:prstGeom prst="rect">
            <a:avLst/>
          </a:prstGeom>
          <a:noFill/>
          <a:ln/>
        </p:spPr>
        <p:txBody>
          <a:bodyPr wrap="square" lIns="0" tIns="0" rIns="0" bIns="0" rtlCol="0" anchor="ctr"/>
          <a:lstStyle/>
          <a:p>
            <a:pPr indent="0" marL="0">
              <a:buNone/>
            </a:pPr>
            <a:r>
              <a:rPr lang="en-US" sz="1250" dirty="0">
                <a:solidFill>
                  <a:srgbClr val="95A3B8"/>
                </a:solidFill>
                <a:latin typeface="Courier New" pitchFamily="34" charset="0"/>
                <a:ea typeface="Courier New" pitchFamily="34" charset="-122"/>
                <a:cs typeface="Courier New" pitchFamily="34" charset="-120"/>
              </a:rPr>
              <a:t>2 fois sur 2</a:t>
            </a:r>
            <a:endParaRPr lang="en-US" sz="1250" dirty="0"/>
          </a:p>
        </p:txBody>
      </p:sp>
      <p:sp>
        <p:nvSpPr>
          <p:cNvPr id="35" name="Text 32"/>
          <p:cNvSpPr txBox="1"/>
          <p:nvPr/>
        </p:nvSpPr>
        <p:spPr>
          <a:xfrm>
            <a:off x="4709160" y="5477256"/>
            <a:ext cx="2743200" cy="274320"/>
          </a:xfrm>
          <a:prstGeom prst="rect">
            <a:avLst/>
          </a:prstGeom>
          <a:noFill/>
          <a:ln/>
        </p:spPr>
        <p:txBody>
          <a:bodyPr wrap="square" lIns="0" tIns="0" rIns="0" bIns="0" rtlCol="0" anchor="ctr"/>
          <a:lstStyle/>
          <a:p>
            <a:pPr indent="0" marL="0">
              <a:buNone/>
            </a:pPr>
            <a:r>
              <a:rPr lang="en-US" sz="1250" b="1" dirty="0">
                <a:solidFill>
                  <a:srgbClr val="3DD68C"/>
                </a:solidFill>
                <a:latin typeface="Calibri" pitchFamily="34" charset="0"/>
                <a:ea typeface="Calibri" pitchFamily="34" charset="-122"/>
                <a:cs typeface="Calibri" pitchFamily="34" charset="-120"/>
              </a:rPr>
              <a:t>réponse juste</a:t>
            </a:r>
            <a:endParaRPr lang="en-US" sz="1250" dirty="0"/>
          </a:p>
        </p:txBody>
      </p:sp>
      <p:sp>
        <p:nvSpPr>
          <p:cNvPr id="36" name="Shape 33"/>
          <p:cNvSpPr/>
          <p:nvPr/>
        </p:nvSpPr>
        <p:spPr>
          <a:xfrm>
            <a:off x="7818120" y="3931920"/>
            <a:ext cx="3685032" cy="1783080"/>
          </a:xfrm>
          <a:prstGeom prst="roundRect">
            <a:avLst>
              <a:gd name="adj" fmla="val 4103"/>
            </a:avLst>
          </a:prstGeom>
          <a:solidFill>
            <a:srgbClr val="1B3358"/>
          </a:solidFill>
          <a:ln w="12700">
            <a:solidFill>
              <a:srgbClr val="232E42"/>
            </a:solidFill>
            <a:prstDash val="solid"/>
          </a:ln>
        </p:spPr>
      </p:sp>
      <p:sp>
        <p:nvSpPr>
          <p:cNvPr id="37" name="Text 34"/>
          <p:cNvSpPr txBox="1"/>
          <p:nvPr/>
        </p:nvSpPr>
        <p:spPr>
          <a:xfrm>
            <a:off x="8092440" y="4114800"/>
            <a:ext cx="3136392" cy="274320"/>
          </a:xfrm>
          <a:prstGeom prst="rect">
            <a:avLst/>
          </a:prstGeom>
          <a:noFill/>
          <a:ln/>
        </p:spPr>
        <p:txBody>
          <a:bodyPr wrap="square" lIns="0" tIns="0" rIns="0" bIns="0" rtlCol="0" anchor="ctr"/>
          <a:lstStyle/>
          <a:p>
            <a:pPr indent="0" marL="0">
              <a:buNone/>
            </a:pPr>
            <a:r>
              <a:rPr lang="en-US" sz="1350" b="1" dirty="0">
                <a:solidFill>
                  <a:srgbClr val="5B9BFF"/>
                </a:solidFill>
                <a:latin typeface="Calibri" pitchFamily="34" charset="0"/>
                <a:ea typeface="Calibri" pitchFamily="34" charset="-122"/>
                <a:cs typeface="Calibri" pitchFamily="34" charset="-120"/>
              </a:rPr>
              <a:t>Ce que nous en avons conclu</a:t>
            </a:r>
            <a:endParaRPr lang="en-US" sz="1350" dirty="0"/>
          </a:p>
        </p:txBody>
      </p:sp>
      <p:sp>
        <p:nvSpPr>
          <p:cNvPr id="38" name="Text 35"/>
          <p:cNvSpPr txBox="1"/>
          <p:nvPr/>
        </p:nvSpPr>
        <p:spPr>
          <a:xfrm>
            <a:off x="8092440" y="4462272"/>
            <a:ext cx="3136392" cy="1097280"/>
          </a:xfrm>
          <a:prstGeom prst="rect">
            <a:avLst/>
          </a:prstGeom>
          <a:noFill/>
          <a:ln/>
        </p:spPr>
        <p:txBody>
          <a:bodyPr wrap="square" lIns="0" tIns="0" rIns="0" bIns="0" rtlCol="0" anchor="ctr"/>
          <a:lstStyle/>
          <a:p>
            <a:pPr indent="0" marL="0">
              <a:lnSpc>
                <a:spcPts val="1700"/>
              </a:lnSpc>
              <a:buNone/>
            </a:pPr>
            <a:r>
              <a:rPr lang="en-US" sz="1200" dirty="0">
                <a:solidFill>
                  <a:srgbClr val="E8EEF7"/>
                </a:solidFill>
                <a:latin typeface="Calibri" pitchFamily="34" charset="0"/>
                <a:ea typeface="Calibri" pitchFamily="34" charset="-122"/>
                <a:cs typeface="Calibri" pitchFamily="34" charset="-120"/>
              </a:rPr>
              <a:t>Quand le modèle n’appelle rien, il écrit une phrase plausible devant un agenda plein — et l’utilisateur ne peut pas la distinguer d’une vraie réponse.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85800" y="384048"/>
            <a:ext cx="10820095" cy="237744"/>
          </a:xfrm>
          <a:prstGeom prst="rect">
            <a:avLst/>
          </a:prstGeom>
          <a:noFill/>
          <a:ln/>
        </p:spPr>
        <p:txBody>
          <a:bodyPr wrap="square" lIns="0" tIns="0" rIns="0" bIns="0" rtlCol="0" anchor="ctr"/>
          <a:lstStyle/>
          <a:p>
            <a:pPr indent="0" marL="0">
              <a:buNone/>
            </a:pPr>
            <a:r>
              <a:rPr lang="en-US" sz="1100" b="1" spc="200" kern="0" dirty="0">
                <a:solidFill>
                  <a:srgbClr val="5B9BFF"/>
                </a:solidFill>
                <a:latin typeface="Calibri" pitchFamily="34" charset="0"/>
                <a:ea typeface="Calibri" pitchFamily="34" charset="-122"/>
                <a:cs typeface="Calibri" pitchFamily="34" charset="-120"/>
              </a:rPr>
              <a:t>10 — DATA &amp; IA (3/3)</a:t>
            </a:r>
            <a:endParaRPr lang="en-US" sz="1100" dirty="0"/>
          </a:p>
        </p:txBody>
      </p:sp>
      <p:sp>
        <p:nvSpPr>
          <p:cNvPr id="3" name="Text 1"/>
          <p:cNvSpPr txBox="1"/>
          <p:nvPr/>
        </p:nvSpPr>
        <p:spPr>
          <a:xfrm>
            <a:off x="685800" y="658368"/>
            <a:ext cx="9997135" cy="777240"/>
          </a:xfrm>
          <a:prstGeom prst="rect">
            <a:avLst/>
          </a:prstGeom>
          <a:noFill/>
          <a:ln/>
        </p:spPr>
        <p:txBody>
          <a:bodyPr wrap="square" lIns="0" tIns="0" rIns="0" bIns="0" rtlCol="0" anchor="t"/>
          <a:lstStyle/>
          <a:p>
            <a:pPr indent="0" marL="0">
              <a:buNone/>
            </a:pPr>
            <a:r>
              <a:rPr lang="en-US" sz="3200" b="1" dirty="0">
                <a:solidFill>
                  <a:srgbClr val="E8EEF7"/>
                </a:solidFill>
                <a:latin typeface="Calibri" pitchFamily="34" charset="0"/>
                <a:ea typeface="Calibri" pitchFamily="34" charset="-122"/>
                <a:cs typeface="Calibri" pitchFamily="34" charset="-120"/>
              </a:rPr>
              <a:t>Recherche hybride : deux volets, deux échecs</a:t>
            </a:r>
            <a:endParaRPr lang="en-US" sz="3200" dirty="0"/>
          </a:p>
        </p:txBody>
      </p:sp>
      <p:sp>
        <p:nvSpPr>
          <p:cNvPr id="4" name="Shape 2"/>
          <p:cNvSpPr/>
          <p:nvPr/>
        </p:nvSpPr>
        <p:spPr>
          <a:xfrm>
            <a:off x="11292840" y="6144768"/>
            <a:ext cx="365760" cy="365760"/>
          </a:xfrm>
          <a:prstGeom prst="ellipse">
            <a:avLst/>
          </a:prstGeom>
          <a:solidFill>
            <a:srgbClr val="232E42"/>
          </a:solidFill>
          <a:ln w="12700">
            <a:solidFill>
              <a:srgbClr val="232E42"/>
            </a:solidFill>
            <a:prstDash val="solid"/>
          </a:ln>
        </p:spPr>
      </p:sp>
      <p:sp>
        <p:nvSpPr>
          <p:cNvPr id="5" name="Text 3"/>
          <p:cNvSpPr txBox="1"/>
          <p:nvPr/>
        </p:nvSpPr>
        <p:spPr>
          <a:xfrm>
            <a:off x="11292840" y="6144768"/>
            <a:ext cx="365760" cy="365760"/>
          </a:xfrm>
          <a:prstGeom prst="rect">
            <a:avLst/>
          </a:prstGeom>
          <a:noFill/>
          <a:ln/>
        </p:spPr>
        <p:txBody>
          <a:bodyPr wrap="square" lIns="0" tIns="0" rIns="0" bIns="0" rtlCol="0" anchor="ctr"/>
          <a:lstStyle/>
          <a:p>
            <a:pPr algn="ctr" indent="0" marL="0">
              <a:buNone/>
            </a:pPr>
            <a:r>
              <a:rPr lang="en-US" sz="1100" b="1" dirty="0">
                <a:solidFill>
                  <a:srgbClr val="95A3B8"/>
                </a:solidFill>
                <a:latin typeface="Calibri" pitchFamily="34" charset="0"/>
                <a:ea typeface="Calibri" pitchFamily="34" charset="-122"/>
                <a:cs typeface="Calibri" pitchFamily="34" charset="-120"/>
              </a:rPr>
              <a:t>13</a:t>
            </a:r>
            <a:endParaRPr lang="en-US" sz="1100" dirty="0"/>
          </a:p>
        </p:txBody>
      </p:sp>
      <p:sp>
        <p:nvSpPr>
          <p:cNvPr id="7" name="Shape 4"/>
          <p:cNvSpPr/>
          <p:nvPr/>
        </p:nvSpPr>
        <p:spPr>
          <a:xfrm>
            <a:off x="685800" y="1600200"/>
            <a:ext cx="5120640" cy="1463040"/>
          </a:xfrm>
          <a:prstGeom prst="roundRect">
            <a:avLst>
              <a:gd name="adj" fmla="val 5000"/>
            </a:avLst>
          </a:prstGeom>
          <a:solidFill>
            <a:srgbClr val="1A2231"/>
          </a:solidFill>
          <a:ln w="12700">
            <a:solidFill>
              <a:srgbClr val="232E42"/>
            </a:solidFill>
            <a:prstDash val="solid"/>
          </a:ln>
        </p:spPr>
      </p:sp>
      <p:sp>
        <p:nvSpPr>
          <p:cNvPr id="8" name="Text 5"/>
          <p:cNvSpPr txBox="1"/>
          <p:nvPr/>
        </p:nvSpPr>
        <p:spPr>
          <a:xfrm>
            <a:off x="960120" y="1810512"/>
            <a:ext cx="4572000" cy="274320"/>
          </a:xfrm>
          <a:prstGeom prst="rect">
            <a:avLst/>
          </a:prstGeom>
          <a:noFill/>
          <a:ln/>
        </p:spPr>
        <p:txBody>
          <a:bodyPr wrap="square" lIns="0" tIns="0" rIns="0" bIns="0" rtlCol="0" anchor="ctr"/>
          <a:lstStyle/>
          <a:p>
            <a:pPr indent="0" marL="0">
              <a:buNone/>
            </a:pPr>
            <a:r>
              <a:rPr lang="en-US" sz="1450" b="1" dirty="0">
                <a:solidFill>
                  <a:srgbClr val="5B9BFF"/>
                </a:solidFill>
                <a:latin typeface="Calibri" pitchFamily="34" charset="0"/>
                <a:ea typeface="Calibri" pitchFamily="34" charset="-122"/>
                <a:cs typeface="Calibri" pitchFamily="34" charset="-120"/>
              </a:rPr>
              <a:t>Volet vectoriel</a:t>
            </a:r>
            <a:endParaRPr lang="en-US" sz="1450" dirty="0"/>
          </a:p>
        </p:txBody>
      </p:sp>
      <p:sp>
        <p:nvSpPr>
          <p:cNvPr id="9" name="Text 6"/>
          <p:cNvSpPr txBox="1"/>
          <p:nvPr/>
        </p:nvSpPr>
        <p:spPr>
          <a:xfrm>
            <a:off x="960120" y="2148840"/>
            <a:ext cx="4572000" cy="777240"/>
          </a:xfrm>
          <a:prstGeom prst="rect">
            <a:avLst/>
          </a:prstGeom>
          <a:noFill/>
          <a:ln/>
        </p:spPr>
        <p:txBody>
          <a:bodyPr wrap="square" lIns="0" tIns="0" rIns="0" bIns="0" rtlCol="0" anchor="ctr"/>
          <a:lstStyle/>
          <a:p>
            <a:pPr indent="0" marL="0">
              <a:lnSpc>
                <a:spcPts val="1800"/>
              </a:lnSpc>
              <a:buNone/>
            </a:pPr>
            <a:r>
              <a:rPr lang="en-US" sz="1250" dirty="0">
                <a:solidFill>
                  <a:srgbClr val="95A3B8"/>
                </a:solidFill>
                <a:latin typeface="Calibri" pitchFamily="34" charset="0"/>
                <a:ea typeface="Calibri" pitchFamily="34" charset="-122"/>
                <a:cs typeface="Calibri" pitchFamily="34" charset="-120"/>
              </a:rPr>
              <a:t>Retrouve un sens sans partager un mot. Rate un identifiant ou un nom propre, que l’embedding dilue.</a:t>
            </a:r>
            <a:endParaRPr lang="en-US" sz="1250" dirty="0"/>
          </a:p>
        </p:txBody>
      </p:sp>
      <p:sp>
        <p:nvSpPr>
          <p:cNvPr id="10" name="Shape 7"/>
          <p:cNvSpPr/>
          <p:nvPr/>
        </p:nvSpPr>
        <p:spPr>
          <a:xfrm>
            <a:off x="6172200" y="1600200"/>
            <a:ext cx="5330952" cy="1463040"/>
          </a:xfrm>
          <a:prstGeom prst="roundRect">
            <a:avLst>
              <a:gd name="adj" fmla="val 5000"/>
            </a:avLst>
          </a:prstGeom>
          <a:solidFill>
            <a:srgbClr val="1A2231"/>
          </a:solidFill>
          <a:ln w="12700">
            <a:solidFill>
              <a:srgbClr val="232E42"/>
            </a:solidFill>
            <a:prstDash val="solid"/>
          </a:ln>
        </p:spPr>
      </p:sp>
      <p:sp>
        <p:nvSpPr>
          <p:cNvPr id="11" name="Text 8"/>
          <p:cNvSpPr txBox="1"/>
          <p:nvPr/>
        </p:nvSpPr>
        <p:spPr>
          <a:xfrm>
            <a:off x="6446520" y="1810512"/>
            <a:ext cx="4782312" cy="274320"/>
          </a:xfrm>
          <a:prstGeom prst="rect">
            <a:avLst/>
          </a:prstGeom>
          <a:noFill/>
          <a:ln/>
        </p:spPr>
        <p:txBody>
          <a:bodyPr wrap="square" lIns="0" tIns="0" rIns="0" bIns="0" rtlCol="0" anchor="ctr"/>
          <a:lstStyle/>
          <a:p>
            <a:pPr indent="0" marL="0">
              <a:buNone/>
            </a:pPr>
            <a:r>
              <a:rPr lang="en-US" sz="1450" b="1" dirty="0">
                <a:solidFill>
                  <a:srgbClr val="5B9BFF"/>
                </a:solidFill>
                <a:latin typeface="Calibri" pitchFamily="34" charset="0"/>
                <a:ea typeface="Calibri" pitchFamily="34" charset="-122"/>
                <a:cs typeface="Calibri" pitchFamily="34" charset="-120"/>
              </a:rPr>
              <a:t>Volet lexical</a:t>
            </a:r>
            <a:endParaRPr lang="en-US" sz="1450" dirty="0"/>
          </a:p>
        </p:txBody>
      </p:sp>
      <p:sp>
        <p:nvSpPr>
          <p:cNvPr id="12" name="Text 9"/>
          <p:cNvSpPr txBox="1"/>
          <p:nvPr/>
        </p:nvSpPr>
        <p:spPr>
          <a:xfrm>
            <a:off x="6446520" y="2148840"/>
            <a:ext cx="4782312" cy="777240"/>
          </a:xfrm>
          <a:prstGeom prst="rect">
            <a:avLst/>
          </a:prstGeom>
          <a:noFill/>
          <a:ln/>
        </p:spPr>
        <p:txBody>
          <a:bodyPr wrap="square" lIns="0" tIns="0" rIns="0" bIns="0" rtlCol="0" anchor="ctr"/>
          <a:lstStyle/>
          <a:p>
            <a:pPr indent="0" marL="0">
              <a:lnSpc>
                <a:spcPts val="1800"/>
              </a:lnSpc>
              <a:buNone/>
            </a:pPr>
            <a:r>
              <a:rPr lang="en-US" sz="1250" dirty="0">
                <a:solidFill>
                  <a:srgbClr val="95A3B8"/>
                </a:solidFill>
                <a:latin typeface="Calibri" pitchFamily="34" charset="0"/>
                <a:ea typeface="Calibri" pitchFamily="34" charset="-122"/>
                <a:cs typeface="Calibri" pitchFamily="34" charset="-120"/>
              </a:rPr>
              <a:t>Trouve le mot exact et rien d’autre. Ne sait pas qu’annuler et supprimer sont proches.</a:t>
            </a:r>
            <a:endParaRPr lang="en-US" sz="1250" dirty="0"/>
          </a:p>
        </p:txBody>
      </p:sp>
      <p:sp>
        <p:nvSpPr>
          <p:cNvPr id="13" name="Text 10"/>
          <p:cNvSpPr txBox="1"/>
          <p:nvPr/>
        </p:nvSpPr>
        <p:spPr>
          <a:xfrm>
            <a:off x="685800" y="3200400"/>
            <a:ext cx="10820095" cy="502920"/>
          </a:xfrm>
          <a:prstGeom prst="rect">
            <a:avLst/>
          </a:prstGeom>
          <a:noFill/>
          <a:ln/>
        </p:spPr>
        <p:txBody>
          <a:bodyPr wrap="square" lIns="0" tIns="0" rIns="0" bIns="0" rtlCol="0" anchor="ctr"/>
          <a:lstStyle/>
          <a:p>
            <a:pPr indent="0" marL="0">
              <a:lnSpc>
                <a:spcPts val="2000"/>
              </a:lnSpc>
              <a:buNone/>
            </a:pPr>
            <a:r>
              <a:rPr lang="en-US" sz="1350" dirty="0">
                <a:solidFill>
                  <a:srgbClr val="E8EEF7"/>
                </a:solidFill>
                <a:latin typeface="Calibri" pitchFamily="34" charset="0"/>
                <a:ea typeface="Calibri" pitchFamily="34" charset="-122"/>
                <a:cs typeface="Calibri" pitchFamily="34" charset="-120"/>
              </a:rPr>
              <a:t>Fusion par rangs réciproques — une similarité cosinus et un ts_rank ne vivent pas sur la même échelle : les additionner reviendrait à comparer des degrés et des kilomètres.</a:t>
            </a:r>
            <a:endParaRPr lang="en-US" sz="1350" dirty="0"/>
          </a:p>
        </p:txBody>
      </p:sp>
      <p:sp>
        <p:nvSpPr>
          <p:cNvPr id="14" name="Text 11"/>
          <p:cNvSpPr txBox="1"/>
          <p:nvPr/>
        </p:nvSpPr>
        <p:spPr>
          <a:xfrm>
            <a:off x="685800" y="3886200"/>
            <a:ext cx="10820095" cy="292608"/>
          </a:xfrm>
          <a:prstGeom prst="rect">
            <a:avLst/>
          </a:prstGeom>
          <a:noFill/>
          <a:ln/>
        </p:spPr>
        <p:txBody>
          <a:bodyPr wrap="square" lIns="0" tIns="0" rIns="0" bIns="0" rtlCol="0" anchor="ctr"/>
          <a:lstStyle/>
          <a:p>
            <a:pPr indent="0" marL="0">
              <a:buNone/>
            </a:pPr>
            <a:r>
              <a:rPr lang="en-US" sz="1500" b="1" dirty="0">
                <a:solidFill>
                  <a:srgbClr val="E8EEF7"/>
                </a:solidFill>
                <a:latin typeface="Calibri" pitchFamily="34" charset="0"/>
                <a:ea typeface="Calibri" pitchFamily="34" charset="-122"/>
                <a:cs typeface="Calibri" pitchFamily="34" charset="-120"/>
              </a:rPr>
              <a:t>Apport mesuré sur notre corpus réel</a:t>
            </a:r>
            <a:endParaRPr lang="en-US" sz="1500" dirty="0"/>
          </a:p>
        </p:txBody>
      </p:sp>
      <p:sp>
        <p:nvSpPr>
          <p:cNvPr id="15" name="Text 12"/>
          <p:cNvSpPr txBox="1"/>
          <p:nvPr/>
        </p:nvSpPr>
        <p:spPr>
          <a:xfrm>
            <a:off x="685800" y="4279392"/>
            <a:ext cx="4572000" cy="237744"/>
          </a:xfrm>
          <a:prstGeom prst="rect">
            <a:avLst/>
          </a:prstGeom>
          <a:noFill/>
          <a:ln/>
        </p:spPr>
        <p:txBody>
          <a:bodyPr wrap="square" lIns="0" tIns="0" rIns="0" bIns="0" rtlCol="0" anchor="ctr"/>
          <a:lstStyle/>
          <a:p>
            <a:pPr indent="0" marL="0">
              <a:buNone/>
            </a:pPr>
            <a:r>
              <a:rPr lang="en-US" sz="1100" b="1" dirty="0">
                <a:solidFill>
                  <a:srgbClr val="6B7789"/>
                </a:solidFill>
                <a:latin typeface="Calibri" pitchFamily="34" charset="0"/>
                <a:ea typeface="Calibri" pitchFamily="34" charset="-122"/>
                <a:cs typeface="Calibri" pitchFamily="34" charset="-120"/>
              </a:rPr>
              <a:t>Question posée</a:t>
            </a:r>
            <a:endParaRPr lang="en-US" sz="1100" dirty="0"/>
          </a:p>
        </p:txBody>
      </p:sp>
      <p:sp>
        <p:nvSpPr>
          <p:cNvPr id="16" name="Text 13"/>
          <p:cNvSpPr txBox="1"/>
          <p:nvPr/>
        </p:nvSpPr>
        <p:spPr>
          <a:xfrm>
            <a:off x="5440680" y="4279392"/>
            <a:ext cx="2743200" cy="237744"/>
          </a:xfrm>
          <a:prstGeom prst="rect">
            <a:avLst/>
          </a:prstGeom>
          <a:noFill/>
          <a:ln/>
        </p:spPr>
        <p:txBody>
          <a:bodyPr wrap="square" lIns="0" tIns="0" rIns="0" bIns="0" rtlCol="0" anchor="ctr"/>
          <a:lstStyle/>
          <a:p>
            <a:pPr indent="0" marL="0">
              <a:buNone/>
            </a:pPr>
            <a:r>
              <a:rPr lang="en-US" sz="1100" b="1" dirty="0">
                <a:solidFill>
                  <a:srgbClr val="6B7789"/>
                </a:solidFill>
                <a:latin typeface="Calibri" pitchFamily="34" charset="0"/>
                <a:ea typeface="Calibri" pitchFamily="34" charset="-122"/>
                <a:cs typeface="Calibri" pitchFamily="34" charset="-120"/>
              </a:rPr>
              <a:t>Lexical seul</a:t>
            </a:r>
            <a:endParaRPr lang="en-US" sz="1100" dirty="0"/>
          </a:p>
        </p:txBody>
      </p:sp>
      <p:sp>
        <p:nvSpPr>
          <p:cNvPr id="17" name="Text 14"/>
          <p:cNvSpPr txBox="1"/>
          <p:nvPr/>
        </p:nvSpPr>
        <p:spPr>
          <a:xfrm>
            <a:off x="8366760" y="4279392"/>
            <a:ext cx="3108960" cy="237744"/>
          </a:xfrm>
          <a:prstGeom prst="rect">
            <a:avLst/>
          </a:prstGeom>
          <a:noFill/>
          <a:ln/>
        </p:spPr>
        <p:txBody>
          <a:bodyPr wrap="square" lIns="0" tIns="0" rIns="0" bIns="0" rtlCol="0" anchor="ctr"/>
          <a:lstStyle/>
          <a:p>
            <a:pPr indent="0" marL="0">
              <a:buNone/>
            </a:pPr>
            <a:r>
              <a:rPr lang="en-US" sz="1100" b="1" dirty="0">
                <a:solidFill>
                  <a:srgbClr val="6B7789"/>
                </a:solidFill>
                <a:latin typeface="Calibri" pitchFamily="34" charset="0"/>
                <a:ea typeface="Calibri" pitchFamily="34" charset="-122"/>
                <a:cs typeface="Calibri" pitchFamily="34" charset="-120"/>
              </a:rPr>
              <a:t>Recherche hybride</a:t>
            </a:r>
            <a:endParaRPr lang="en-US" sz="1100" dirty="0"/>
          </a:p>
        </p:txBody>
      </p:sp>
      <p:sp>
        <p:nvSpPr>
          <p:cNvPr id="18" name="Text 15"/>
          <p:cNvSpPr txBox="1"/>
          <p:nvPr/>
        </p:nvSpPr>
        <p:spPr>
          <a:xfrm>
            <a:off x="685800" y="4590288"/>
            <a:ext cx="4572000" cy="347472"/>
          </a:xfrm>
          <a:prstGeom prst="rect">
            <a:avLst/>
          </a:prstGeom>
          <a:noFill/>
          <a:ln/>
        </p:spPr>
        <p:txBody>
          <a:bodyPr wrap="square" lIns="0" tIns="0" rIns="0" bIns="0" rtlCol="0" anchor="ctr"/>
          <a:lstStyle/>
          <a:p>
            <a:pPr indent="0" marL="0">
              <a:lnSpc>
                <a:spcPts val="1700"/>
              </a:lnSpc>
              <a:buNone/>
            </a:pPr>
            <a:r>
              <a:rPr lang="en-US" sz="1250" dirty="0">
                <a:solidFill>
                  <a:srgbClr val="E8EEF7"/>
                </a:solidFill>
                <a:latin typeface="Calibri" pitchFamily="34" charset="0"/>
                <a:ea typeface="Calibri" pitchFamily="34" charset="-122"/>
                <a:cs typeface="Calibri" pitchFamily="34" charset="-120"/>
              </a:rPr>
              <a:t>« comment je préviens que je suis arrivé »</a:t>
            </a:r>
            <a:endParaRPr lang="en-US" sz="1250" dirty="0"/>
          </a:p>
        </p:txBody>
      </p:sp>
      <p:sp>
        <p:nvSpPr>
          <p:cNvPr id="19" name="Text 16"/>
          <p:cNvSpPr txBox="1"/>
          <p:nvPr/>
        </p:nvSpPr>
        <p:spPr>
          <a:xfrm>
            <a:off x="5440680" y="4590288"/>
            <a:ext cx="2743200" cy="347472"/>
          </a:xfrm>
          <a:prstGeom prst="rect">
            <a:avLst/>
          </a:prstGeom>
          <a:noFill/>
          <a:ln/>
        </p:spPr>
        <p:txBody>
          <a:bodyPr wrap="square" lIns="0" tIns="0" rIns="0" bIns="0" rtlCol="0" anchor="ctr"/>
          <a:lstStyle/>
          <a:p>
            <a:pPr indent="0" marL="0">
              <a:buNone/>
            </a:pPr>
            <a:r>
              <a:rPr lang="en-US" sz="1250" dirty="0">
                <a:solidFill>
                  <a:srgbClr val="FF7A7A"/>
                </a:solidFill>
                <a:latin typeface="Calibri" pitchFamily="34" charset="0"/>
                <a:ea typeface="Calibri" pitchFamily="34" charset="-122"/>
                <a:cs typeface="Calibri" pitchFamily="34" charset="-120"/>
              </a:rPr>
              <a:t>aucun résultat</a:t>
            </a:r>
            <a:endParaRPr lang="en-US" sz="1250" dirty="0"/>
          </a:p>
        </p:txBody>
      </p:sp>
      <p:sp>
        <p:nvSpPr>
          <p:cNvPr id="20" name="Text 17"/>
          <p:cNvSpPr txBox="1"/>
          <p:nvPr/>
        </p:nvSpPr>
        <p:spPr>
          <a:xfrm>
            <a:off x="8366760" y="4590288"/>
            <a:ext cx="3108960" cy="347472"/>
          </a:xfrm>
          <a:prstGeom prst="rect">
            <a:avLst/>
          </a:prstGeom>
          <a:noFill/>
          <a:ln/>
        </p:spPr>
        <p:txBody>
          <a:bodyPr wrap="square" lIns="0" tIns="0" rIns="0" bIns="0" rtlCol="0" anchor="ctr"/>
          <a:lstStyle/>
          <a:p>
            <a:pPr indent="0" marL="0">
              <a:lnSpc>
                <a:spcPts val="1700"/>
              </a:lnSpc>
              <a:buNone/>
            </a:pPr>
            <a:r>
              <a:rPr lang="en-US" sz="1250" dirty="0">
                <a:solidFill>
                  <a:srgbClr val="3DD68C"/>
                </a:solidFill>
                <a:latin typeface="Calibri" pitchFamily="34" charset="0"/>
                <a:ea typeface="Calibri" pitchFamily="34" charset="-122"/>
                <a:cs typeface="Calibri" pitchFamily="34" charset="-120"/>
              </a:rPr>
              <a:t>Valider ma présence sur place</a:t>
            </a:r>
            <a:endParaRPr lang="en-US" sz="1250" dirty="0"/>
          </a:p>
        </p:txBody>
      </p:sp>
      <p:sp>
        <p:nvSpPr>
          <p:cNvPr id="21" name="Text 18"/>
          <p:cNvSpPr txBox="1"/>
          <p:nvPr/>
        </p:nvSpPr>
        <p:spPr>
          <a:xfrm>
            <a:off x="685800" y="5065776"/>
            <a:ext cx="4572000" cy="347472"/>
          </a:xfrm>
          <a:prstGeom prst="rect">
            <a:avLst/>
          </a:prstGeom>
          <a:noFill/>
          <a:ln/>
        </p:spPr>
        <p:txBody>
          <a:bodyPr wrap="square" lIns="0" tIns="0" rIns="0" bIns="0" rtlCol="0" anchor="ctr"/>
          <a:lstStyle/>
          <a:p>
            <a:pPr indent="0" marL="0">
              <a:lnSpc>
                <a:spcPts val="1700"/>
              </a:lnSpc>
              <a:buNone/>
            </a:pPr>
            <a:r>
              <a:rPr lang="en-US" sz="1250" dirty="0">
                <a:solidFill>
                  <a:srgbClr val="E8EEF7"/>
                </a:solidFill>
                <a:latin typeface="Calibri" pitchFamily="34" charset="0"/>
                <a:ea typeface="Calibri" pitchFamily="34" charset="-122"/>
                <a:cs typeface="Calibri" pitchFamily="34" charset="-120"/>
              </a:rPr>
              <a:t>« ma réunion est annulée que faire »</a:t>
            </a:r>
            <a:endParaRPr lang="en-US" sz="1250" dirty="0"/>
          </a:p>
        </p:txBody>
      </p:sp>
      <p:sp>
        <p:nvSpPr>
          <p:cNvPr id="22" name="Text 19"/>
          <p:cNvSpPr txBox="1"/>
          <p:nvPr/>
        </p:nvSpPr>
        <p:spPr>
          <a:xfrm>
            <a:off x="5440680" y="5065776"/>
            <a:ext cx="2743200" cy="347472"/>
          </a:xfrm>
          <a:prstGeom prst="rect">
            <a:avLst/>
          </a:prstGeom>
          <a:noFill/>
          <a:ln/>
        </p:spPr>
        <p:txBody>
          <a:bodyPr wrap="square" lIns="0" tIns="0" rIns="0" bIns="0" rtlCol="0" anchor="ctr"/>
          <a:lstStyle/>
          <a:p>
            <a:pPr indent="0" marL="0">
              <a:buNone/>
            </a:pPr>
            <a:r>
              <a:rPr lang="en-US" sz="1250" dirty="0">
                <a:solidFill>
                  <a:srgbClr val="FF7A7A"/>
                </a:solidFill>
                <a:latin typeface="Calibri" pitchFamily="34" charset="0"/>
                <a:ea typeface="Calibri" pitchFamily="34" charset="-122"/>
                <a:cs typeface="Calibri" pitchFamily="34" charset="-120"/>
              </a:rPr>
              <a:t>À quoi sert SmartRoom</a:t>
            </a:r>
            <a:endParaRPr lang="en-US" sz="1250" dirty="0"/>
          </a:p>
        </p:txBody>
      </p:sp>
      <p:sp>
        <p:nvSpPr>
          <p:cNvPr id="23" name="Text 20"/>
          <p:cNvSpPr txBox="1"/>
          <p:nvPr/>
        </p:nvSpPr>
        <p:spPr>
          <a:xfrm>
            <a:off x="8366760" y="5065776"/>
            <a:ext cx="3108960" cy="347472"/>
          </a:xfrm>
          <a:prstGeom prst="rect">
            <a:avLst/>
          </a:prstGeom>
          <a:noFill/>
          <a:ln/>
        </p:spPr>
        <p:txBody>
          <a:bodyPr wrap="square" lIns="0" tIns="0" rIns="0" bIns="0" rtlCol="0" anchor="ctr"/>
          <a:lstStyle/>
          <a:p>
            <a:pPr indent="0" marL="0">
              <a:lnSpc>
                <a:spcPts val="1700"/>
              </a:lnSpc>
              <a:buNone/>
            </a:pPr>
            <a:r>
              <a:rPr lang="en-US" sz="1250" dirty="0">
                <a:solidFill>
                  <a:srgbClr val="3DD68C"/>
                </a:solidFill>
                <a:latin typeface="Calibri" pitchFamily="34" charset="0"/>
                <a:ea typeface="Calibri" pitchFamily="34" charset="-122"/>
                <a:cs typeface="Calibri" pitchFamily="34" charset="-120"/>
              </a:rPr>
              <a:t>Modifier l’horaire ou la salle</a:t>
            </a:r>
            <a:endParaRPr lang="en-US" sz="1250" dirty="0"/>
          </a:p>
        </p:txBody>
      </p:sp>
      <p:sp>
        <p:nvSpPr>
          <p:cNvPr id="24" name="Text 21"/>
          <p:cNvSpPr txBox="1"/>
          <p:nvPr/>
        </p:nvSpPr>
        <p:spPr>
          <a:xfrm>
            <a:off x="685800" y="5669280"/>
            <a:ext cx="10820095" cy="320040"/>
          </a:xfrm>
          <a:prstGeom prst="rect">
            <a:avLst/>
          </a:prstGeom>
          <a:noFill/>
          <a:ln/>
        </p:spPr>
        <p:txBody>
          <a:bodyPr wrap="square" lIns="0" tIns="0" rIns="0" bIns="0" rtlCol="0" anchor="ctr"/>
          <a:lstStyle/>
          <a:p>
            <a:pPr indent="0" marL="0">
              <a:buNone/>
            </a:pPr>
            <a:r>
              <a:rPr lang="en-US" sz="1250" i="1" dirty="0">
                <a:solidFill>
                  <a:srgbClr val="6B7789"/>
                </a:solidFill>
                <a:latin typeface="Calibri" pitchFamily="34" charset="0"/>
                <a:ea typeface="Calibri" pitchFamily="34" charset="-122"/>
                <a:cs typeface="Calibri" pitchFamily="34" charset="-120"/>
              </a:rPr>
              <a:t>La première question ne partage aucun mot avec l’article qui y répond.</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685800" y="1234440"/>
            <a:ext cx="2148840" cy="384048"/>
          </a:xfrm>
          <a:prstGeom prst="roundRect">
            <a:avLst>
              <a:gd name="adj" fmla="val 47619"/>
            </a:avLst>
          </a:prstGeom>
          <a:solidFill>
            <a:srgbClr val="1B3358"/>
          </a:solidFill>
          <a:ln w="12700">
            <a:solidFill>
              <a:srgbClr val="5B9BFF"/>
            </a:solidFill>
            <a:prstDash val="solid"/>
          </a:ln>
        </p:spPr>
      </p:sp>
      <p:sp>
        <p:nvSpPr>
          <p:cNvPr id="3" name="Text 1"/>
          <p:cNvSpPr txBox="1"/>
          <p:nvPr/>
        </p:nvSpPr>
        <p:spPr>
          <a:xfrm>
            <a:off x="685800" y="1234440"/>
            <a:ext cx="2148840" cy="384048"/>
          </a:xfrm>
          <a:prstGeom prst="rect">
            <a:avLst/>
          </a:prstGeom>
          <a:noFill/>
          <a:ln/>
        </p:spPr>
        <p:txBody>
          <a:bodyPr wrap="square" lIns="0" tIns="0" rIns="0" bIns="0" rtlCol="0" anchor="ctr"/>
          <a:lstStyle/>
          <a:p>
            <a:pPr algn="ctr" indent="0" marL="0">
              <a:buNone/>
            </a:pPr>
            <a:r>
              <a:rPr lang="en-US" sz="1200" b="1" dirty="0">
                <a:solidFill>
                  <a:srgbClr val="5B9BFF"/>
                </a:solidFill>
                <a:latin typeface="Calibri" pitchFamily="34" charset="0"/>
                <a:ea typeface="Calibri" pitchFamily="34" charset="-122"/>
                <a:cs typeface="Calibri" pitchFamily="34" charset="-120"/>
              </a:rPr>
              <a:t>Démonstration</a:t>
            </a:r>
            <a:endParaRPr lang="en-US" sz="1200" dirty="0"/>
          </a:p>
        </p:txBody>
      </p:sp>
      <p:sp>
        <p:nvSpPr>
          <p:cNvPr id="4" name="Text 2"/>
          <p:cNvSpPr txBox="1"/>
          <p:nvPr/>
        </p:nvSpPr>
        <p:spPr>
          <a:xfrm>
            <a:off x="685800" y="1828800"/>
            <a:ext cx="6400800" cy="822960"/>
          </a:xfrm>
          <a:prstGeom prst="rect">
            <a:avLst/>
          </a:prstGeom>
          <a:noFill/>
          <a:ln/>
        </p:spPr>
        <p:txBody>
          <a:bodyPr wrap="square" lIns="0" tIns="0" rIns="0" bIns="0" rtlCol="0" anchor="ctr"/>
          <a:lstStyle/>
          <a:p>
            <a:pPr indent="0" marL="0">
              <a:buNone/>
            </a:pPr>
            <a:r>
              <a:rPr lang="en-US" sz="4000" b="1" dirty="0">
                <a:solidFill>
                  <a:srgbClr val="E8EEF7"/>
                </a:solidFill>
                <a:latin typeface="Calibri" pitchFamily="34" charset="0"/>
                <a:ea typeface="Calibri" pitchFamily="34" charset="-122"/>
                <a:cs typeface="Calibri" pitchFamily="34" charset="-120"/>
              </a:rPr>
              <a:t>L’application, en direct</a:t>
            </a:r>
            <a:endParaRPr lang="en-US" sz="4000" dirty="0"/>
          </a:p>
        </p:txBody>
      </p:sp>
      <p:sp>
        <p:nvSpPr>
          <p:cNvPr id="5" name="Text 3"/>
          <p:cNvSpPr txBox="1"/>
          <p:nvPr/>
        </p:nvSpPr>
        <p:spPr>
          <a:xfrm>
            <a:off x="685800" y="2697480"/>
            <a:ext cx="5943600" cy="365760"/>
          </a:xfrm>
          <a:prstGeom prst="rect">
            <a:avLst/>
          </a:prstGeom>
          <a:noFill/>
          <a:ln/>
        </p:spPr>
        <p:txBody>
          <a:bodyPr wrap="square" lIns="0" tIns="0" rIns="0" bIns="0" rtlCol="0" anchor="ctr"/>
          <a:lstStyle/>
          <a:p>
            <a:pPr indent="0" marL="0">
              <a:buNone/>
            </a:pPr>
            <a:r>
              <a:rPr lang="en-US" sz="1500" dirty="0">
                <a:solidFill>
                  <a:srgbClr val="5B9BFF"/>
                </a:solidFill>
                <a:latin typeface="Courier New" pitchFamily="34" charset="0"/>
                <a:ea typeface="Courier New" pitchFamily="34" charset="-122"/>
                <a:cs typeface="Courier New" pitchFamily="34" charset="-120"/>
              </a:rPr>
              <a:t>smartroommanager.vercel.app</a:t>
            </a:r>
            <a:endParaRPr lang="en-US" sz="1500" dirty="0"/>
          </a:p>
        </p:txBody>
      </p:sp>
      <p:sp>
        <p:nvSpPr>
          <p:cNvPr id="6" name="Shape 4"/>
          <p:cNvSpPr/>
          <p:nvPr/>
        </p:nvSpPr>
        <p:spPr>
          <a:xfrm>
            <a:off x="685800" y="3474720"/>
            <a:ext cx="237744" cy="237744"/>
          </a:xfrm>
          <a:prstGeom prst="ellipse">
            <a:avLst/>
          </a:prstGeom>
          <a:solidFill>
            <a:srgbClr val="5B9BFF"/>
          </a:solidFill>
          <a:ln w="12700">
            <a:solidFill>
              <a:srgbClr val="5B9BFF"/>
            </a:solidFill>
            <a:prstDash val="solid"/>
          </a:ln>
        </p:spPr>
      </p:sp>
      <p:sp>
        <p:nvSpPr>
          <p:cNvPr id="7" name="Text 5"/>
          <p:cNvSpPr txBox="1"/>
          <p:nvPr/>
        </p:nvSpPr>
        <p:spPr>
          <a:xfrm>
            <a:off x="1106424" y="3429000"/>
            <a:ext cx="5760720" cy="320040"/>
          </a:xfrm>
          <a:prstGeom prst="rect">
            <a:avLst/>
          </a:prstGeom>
          <a:noFill/>
          <a:ln/>
        </p:spPr>
        <p:txBody>
          <a:bodyPr wrap="square" lIns="0" tIns="0" rIns="0" bIns="0" rtlCol="0" anchor="ctr"/>
          <a:lstStyle/>
          <a:p>
            <a:pPr indent="0" marL="0">
              <a:buNone/>
            </a:pPr>
            <a:r>
              <a:rPr lang="en-US" sz="1400" dirty="0">
                <a:solidFill>
                  <a:srgbClr val="E8EEF7"/>
                </a:solidFill>
                <a:latin typeface="Calibri" pitchFamily="34" charset="0"/>
                <a:ea typeface="Calibri" pitchFamily="34" charset="-122"/>
                <a:cs typeface="Calibri" pitchFamily="34" charset="-120"/>
              </a:rPr>
              <a:t>Le tunnel de réservation, du besoin à la confirmation</a:t>
            </a:r>
            <a:endParaRPr lang="en-US" sz="1400" dirty="0"/>
          </a:p>
        </p:txBody>
      </p:sp>
      <p:sp>
        <p:nvSpPr>
          <p:cNvPr id="8" name="Shape 6"/>
          <p:cNvSpPr/>
          <p:nvPr/>
        </p:nvSpPr>
        <p:spPr>
          <a:xfrm>
            <a:off x="685800" y="4041648"/>
            <a:ext cx="237744" cy="237744"/>
          </a:xfrm>
          <a:prstGeom prst="ellipse">
            <a:avLst/>
          </a:prstGeom>
          <a:solidFill>
            <a:srgbClr val="5B9BFF"/>
          </a:solidFill>
          <a:ln w="12700">
            <a:solidFill>
              <a:srgbClr val="5B9BFF"/>
            </a:solidFill>
            <a:prstDash val="solid"/>
          </a:ln>
        </p:spPr>
      </p:sp>
      <p:sp>
        <p:nvSpPr>
          <p:cNvPr id="9" name="Text 7"/>
          <p:cNvSpPr txBox="1"/>
          <p:nvPr/>
        </p:nvSpPr>
        <p:spPr>
          <a:xfrm>
            <a:off x="1106424" y="3995928"/>
            <a:ext cx="5760720" cy="320040"/>
          </a:xfrm>
          <a:prstGeom prst="rect">
            <a:avLst/>
          </a:prstGeom>
          <a:noFill/>
          <a:ln/>
        </p:spPr>
        <p:txBody>
          <a:bodyPr wrap="square" lIns="0" tIns="0" rIns="0" bIns="0" rtlCol="0" anchor="ctr"/>
          <a:lstStyle/>
          <a:p>
            <a:pPr indent="0" marL="0">
              <a:buNone/>
            </a:pPr>
            <a:r>
              <a:rPr lang="en-US" sz="1400" dirty="0">
                <a:solidFill>
                  <a:srgbClr val="E8EEF7"/>
                </a:solidFill>
                <a:latin typeface="Calibri" pitchFamily="34" charset="0"/>
                <a:ea typeface="Calibri" pitchFamily="34" charset="-122"/>
                <a:cs typeface="Calibri" pitchFamily="34" charset="-120"/>
              </a:rPr>
              <a:t>Le classement des salles et son explication</a:t>
            </a:r>
            <a:endParaRPr lang="en-US" sz="1400" dirty="0"/>
          </a:p>
        </p:txBody>
      </p:sp>
      <p:sp>
        <p:nvSpPr>
          <p:cNvPr id="10" name="Shape 8"/>
          <p:cNvSpPr/>
          <p:nvPr/>
        </p:nvSpPr>
        <p:spPr>
          <a:xfrm>
            <a:off x="685800" y="4608576"/>
            <a:ext cx="237744" cy="237744"/>
          </a:xfrm>
          <a:prstGeom prst="ellipse">
            <a:avLst/>
          </a:prstGeom>
          <a:solidFill>
            <a:srgbClr val="5B9BFF"/>
          </a:solidFill>
          <a:ln w="12700">
            <a:solidFill>
              <a:srgbClr val="5B9BFF"/>
            </a:solidFill>
            <a:prstDash val="solid"/>
          </a:ln>
        </p:spPr>
      </p:sp>
      <p:sp>
        <p:nvSpPr>
          <p:cNvPr id="11" name="Text 9"/>
          <p:cNvSpPr txBox="1"/>
          <p:nvPr/>
        </p:nvSpPr>
        <p:spPr>
          <a:xfrm>
            <a:off x="1106424" y="4562856"/>
            <a:ext cx="5760720" cy="320040"/>
          </a:xfrm>
          <a:prstGeom prst="rect">
            <a:avLst/>
          </a:prstGeom>
          <a:noFill/>
          <a:ln/>
        </p:spPr>
        <p:txBody>
          <a:bodyPr wrap="square" lIns="0" tIns="0" rIns="0" bIns="0" rtlCol="0" anchor="ctr"/>
          <a:lstStyle/>
          <a:p>
            <a:pPr indent="0" marL="0">
              <a:buNone/>
            </a:pPr>
            <a:r>
              <a:rPr lang="en-US" sz="1400" dirty="0">
                <a:solidFill>
                  <a:srgbClr val="E8EEF7"/>
                </a:solidFill>
                <a:latin typeface="Calibri" pitchFamily="34" charset="0"/>
                <a:ea typeface="Calibri" pitchFamily="34" charset="-122"/>
                <a:cs typeface="Calibri" pitchFamily="34" charset="-120"/>
              </a:rPr>
              <a:t>L’espace d’administration et le cloisonnement des permissions</a:t>
            </a:r>
            <a:endParaRPr lang="en-US" sz="1400" dirty="0"/>
          </a:p>
        </p:txBody>
      </p:sp>
      <p:sp>
        <p:nvSpPr>
          <p:cNvPr id="12" name="Shape 10"/>
          <p:cNvSpPr/>
          <p:nvPr/>
        </p:nvSpPr>
        <p:spPr>
          <a:xfrm>
            <a:off x="685800" y="5175504"/>
            <a:ext cx="237744" cy="237744"/>
          </a:xfrm>
          <a:prstGeom prst="ellipse">
            <a:avLst/>
          </a:prstGeom>
          <a:solidFill>
            <a:srgbClr val="5B9BFF"/>
          </a:solidFill>
          <a:ln w="12700">
            <a:solidFill>
              <a:srgbClr val="5B9BFF"/>
            </a:solidFill>
            <a:prstDash val="solid"/>
          </a:ln>
        </p:spPr>
      </p:sp>
      <p:sp>
        <p:nvSpPr>
          <p:cNvPr id="13" name="Text 11"/>
          <p:cNvSpPr txBox="1"/>
          <p:nvPr/>
        </p:nvSpPr>
        <p:spPr>
          <a:xfrm>
            <a:off x="1106424" y="5129784"/>
            <a:ext cx="5760720" cy="320040"/>
          </a:xfrm>
          <a:prstGeom prst="rect">
            <a:avLst/>
          </a:prstGeom>
          <a:noFill/>
          <a:ln/>
        </p:spPr>
        <p:txBody>
          <a:bodyPr wrap="square" lIns="0" tIns="0" rIns="0" bIns="0" rtlCol="0" anchor="ctr"/>
          <a:lstStyle/>
          <a:p>
            <a:pPr indent="0" marL="0">
              <a:buNone/>
            </a:pPr>
            <a:r>
              <a:rPr lang="en-US" sz="1400" dirty="0">
                <a:solidFill>
                  <a:srgbClr val="E8EEF7"/>
                </a:solidFill>
                <a:latin typeface="Calibri" pitchFamily="34" charset="0"/>
                <a:ea typeface="Calibri" pitchFamily="34" charset="-122"/>
                <a:cs typeface="Calibri" pitchFamily="34" charset="-120"/>
              </a:rPr>
              <a:t>L’assistant : « Où se trouve la salle Hopper ? »</a:t>
            </a:r>
            <a:endParaRPr lang="en-US" sz="1400" dirty="0"/>
          </a:p>
        </p:txBody>
      </p:sp>
      <p:pic>
        <p:nvPicPr>
          <p:cNvPr id="14" name="Image 0" descr="C:\Users\menga\PycharmProjects\smartroommanager\presentation\captures\08-assistant.png">    </p:cNvPr>
          <p:cNvPicPr>
            <a:picLocks noChangeAspect="1"/>
          </p:cNvPicPr>
          <p:nvPr/>
        </p:nvPicPr>
        <p:blipFill>
          <a:blip r:embed="rId1"/>
          <a:srcRect l="0" r="0" t="0" b="0"/>
          <a:stretch/>
        </p:blipFill>
        <p:spPr>
          <a:xfrm>
            <a:off x="6949440" y="1234440"/>
            <a:ext cx="4572000" cy="2862072"/>
          </a:xfrm>
          <a:prstGeom prst="rect">
            <a:avLst/>
          </a:prstGeom>
        </p:spPr>
      </p:pic>
      <p:sp>
        <p:nvSpPr>
          <p:cNvPr id="15" name="Text 12"/>
          <p:cNvSpPr txBox="1"/>
          <p:nvPr/>
        </p:nvSpPr>
        <p:spPr>
          <a:xfrm>
            <a:off x="6949440" y="4206240"/>
            <a:ext cx="4572000" cy="548640"/>
          </a:xfrm>
          <a:prstGeom prst="rect">
            <a:avLst/>
          </a:prstGeom>
          <a:noFill/>
          <a:ln/>
        </p:spPr>
        <p:txBody>
          <a:bodyPr wrap="square" lIns="0" tIns="0" rIns="0" bIns="0" rtlCol="0" anchor="ctr"/>
          <a:lstStyle/>
          <a:p>
            <a:pPr indent="0" marL="0">
              <a:lnSpc>
                <a:spcPts val="1600"/>
              </a:lnSpc>
              <a:buNone/>
            </a:pPr>
            <a:r>
              <a:rPr lang="en-US" sz="1150" i="1" dirty="0">
                <a:solidFill>
                  <a:srgbClr val="6B7789"/>
                </a:solidFill>
                <a:latin typeface="Calibri" pitchFamily="34" charset="0"/>
                <a:ea typeface="Calibri" pitchFamily="34" charset="-122"/>
                <a:cs typeface="Calibri" pitchFamily="34" charset="-120"/>
              </a:rPr>
              <a:t>Capture de secours — l’assistant répond en production, journal du tour : repli = false.</a:t>
            </a:r>
            <a:endParaRPr lang="en-US" sz="1150" dirty="0"/>
          </a:p>
        </p:txBody>
      </p:sp>
      <p:sp>
        <p:nvSpPr>
          <p:cNvPr id="16" name="Shape 13"/>
          <p:cNvSpPr/>
          <p:nvPr/>
        </p:nvSpPr>
        <p:spPr>
          <a:xfrm>
            <a:off x="11292840" y="6144768"/>
            <a:ext cx="365760" cy="365760"/>
          </a:xfrm>
          <a:prstGeom prst="ellipse">
            <a:avLst/>
          </a:prstGeom>
          <a:solidFill>
            <a:srgbClr val="232E42"/>
          </a:solidFill>
          <a:ln w="12700">
            <a:solidFill>
              <a:srgbClr val="232E42"/>
            </a:solidFill>
            <a:prstDash val="solid"/>
          </a:ln>
        </p:spPr>
      </p:sp>
      <p:sp>
        <p:nvSpPr>
          <p:cNvPr id="17" name="Text 14"/>
          <p:cNvSpPr txBox="1"/>
          <p:nvPr/>
        </p:nvSpPr>
        <p:spPr>
          <a:xfrm>
            <a:off x="11292840" y="6144768"/>
            <a:ext cx="365760" cy="365760"/>
          </a:xfrm>
          <a:prstGeom prst="rect">
            <a:avLst/>
          </a:prstGeom>
          <a:noFill/>
          <a:ln/>
        </p:spPr>
        <p:txBody>
          <a:bodyPr wrap="square" lIns="0" tIns="0" rIns="0" bIns="0" rtlCol="0" anchor="ctr"/>
          <a:lstStyle/>
          <a:p>
            <a:pPr algn="ctr" indent="0" marL="0">
              <a:buNone/>
            </a:pPr>
            <a:r>
              <a:rPr lang="en-US" sz="1100" b="1" dirty="0">
                <a:solidFill>
                  <a:srgbClr val="95A3B8"/>
                </a:solidFill>
                <a:latin typeface="Calibri" pitchFamily="34" charset="0"/>
                <a:ea typeface="Calibri" pitchFamily="34" charset="-122"/>
                <a:cs typeface="Calibri" pitchFamily="34" charset="-120"/>
              </a:rPr>
              <a:t>14</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685800" y="384048"/>
            <a:ext cx="10820095" cy="237744"/>
          </a:xfrm>
          <a:prstGeom prst="rect">
            <a:avLst/>
          </a:prstGeom>
          <a:noFill/>
          <a:ln/>
        </p:spPr>
        <p:txBody>
          <a:bodyPr wrap="square" lIns="0" tIns="0" rIns="0" bIns="0" rtlCol="0" anchor="ctr"/>
          <a:lstStyle/>
          <a:p>
            <a:pPr indent="0" marL="0">
              <a:buNone/>
            </a:pPr>
            <a:r>
              <a:rPr lang="en-US" sz="1100" b="1" spc="200" kern="0" dirty="0">
                <a:solidFill>
                  <a:srgbClr val="5B9BFF"/>
                </a:solidFill>
                <a:latin typeface="Calibri" pitchFamily="34" charset="0"/>
                <a:ea typeface="Calibri" pitchFamily="34" charset="-122"/>
                <a:cs typeface="Calibri" pitchFamily="34" charset="-120"/>
              </a:rPr>
              <a:t>11 — QUALITÉ</a:t>
            </a:r>
            <a:endParaRPr lang="en-US" sz="1100" dirty="0"/>
          </a:p>
        </p:txBody>
      </p:sp>
      <p:sp>
        <p:nvSpPr>
          <p:cNvPr id="3" name="Text 1"/>
          <p:cNvSpPr txBox="1"/>
          <p:nvPr/>
        </p:nvSpPr>
        <p:spPr>
          <a:xfrm>
            <a:off x="685800" y="658368"/>
            <a:ext cx="9997135" cy="777240"/>
          </a:xfrm>
          <a:prstGeom prst="rect">
            <a:avLst/>
          </a:prstGeom>
          <a:noFill/>
          <a:ln/>
        </p:spPr>
        <p:txBody>
          <a:bodyPr wrap="square" lIns="0" tIns="0" rIns="0" bIns="0" rtlCol="0" anchor="t"/>
          <a:lstStyle/>
          <a:p>
            <a:pPr indent="0" marL="0">
              <a:buNone/>
            </a:pPr>
            <a:r>
              <a:rPr lang="en-US" sz="3200" b="1" dirty="0">
                <a:solidFill>
                  <a:srgbClr val="E8EEF7"/>
                </a:solidFill>
                <a:latin typeface="Calibri" pitchFamily="34" charset="0"/>
                <a:ea typeface="Calibri" pitchFamily="34" charset="-122"/>
                <a:cs typeface="Calibri" pitchFamily="34" charset="-120"/>
              </a:rPr>
              <a:t>Cinq niveaux de tests, et une discipline de preuve</a:t>
            </a:r>
            <a:endParaRPr lang="en-US" sz="3200" dirty="0"/>
          </a:p>
        </p:txBody>
      </p:sp>
      <p:sp>
        <p:nvSpPr>
          <p:cNvPr id="4" name="Shape 2"/>
          <p:cNvSpPr/>
          <p:nvPr/>
        </p:nvSpPr>
        <p:spPr>
          <a:xfrm>
            <a:off x="11292840" y="6144768"/>
            <a:ext cx="365760" cy="365760"/>
          </a:xfrm>
          <a:prstGeom prst="ellipse">
            <a:avLst/>
          </a:prstGeom>
          <a:solidFill>
            <a:srgbClr val="232E42"/>
          </a:solidFill>
          <a:ln w="12700">
            <a:solidFill>
              <a:srgbClr val="232E42"/>
            </a:solidFill>
            <a:prstDash val="solid"/>
          </a:ln>
        </p:spPr>
      </p:sp>
      <p:sp>
        <p:nvSpPr>
          <p:cNvPr id="5" name="Text 3"/>
          <p:cNvSpPr txBox="1"/>
          <p:nvPr/>
        </p:nvSpPr>
        <p:spPr>
          <a:xfrm>
            <a:off x="11292840" y="6144768"/>
            <a:ext cx="365760" cy="365760"/>
          </a:xfrm>
          <a:prstGeom prst="rect">
            <a:avLst/>
          </a:prstGeom>
          <a:noFill/>
          <a:ln/>
        </p:spPr>
        <p:txBody>
          <a:bodyPr wrap="square" lIns="0" tIns="0" rIns="0" bIns="0" rtlCol="0" anchor="ctr"/>
          <a:lstStyle/>
          <a:p>
            <a:pPr algn="ctr" indent="0" marL="0">
              <a:buNone/>
            </a:pPr>
            <a:r>
              <a:rPr lang="en-US" sz="1100" b="1" dirty="0">
                <a:solidFill>
                  <a:srgbClr val="95A3B8"/>
                </a:solidFill>
                <a:latin typeface="Calibri" pitchFamily="34" charset="0"/>
                <a:ea typeface="Calibri" pitchFamily="34" charset="-122"/>
                <a:cs typeface="Calibri" pitchFamily="34" charset="-120"/>
              </a:rPr>
              <a:t>15</a:t>
            </a:r>
            <a:endParaRPr lang="en-US" sz="1100" dirty="0"/>
          </a:p>
        </p:txBody>
      </p:sp>
      <p:sp>
        <p:nvSpPr>
          <p:cNvPr id="7" name="Text 4"/>
          <p:cNvSpPr txBox="1"/>
          <p:nvPr/>
        </p:nvSpPr>
        <p:spPr>
          <a:xfrm>
            <a:off x="685800" y="1645920"/>
            <a:ext cx="2468880" cy="566928"/>
          </a:xfrm>
          <a:prstGeom prst="rect">
            <a:avLst/>
          </a:prstGeom>
          <a:noFill/>
          <a:ln/>
        </p:spPr>
        <p:txBody>
          <a:bodyPr wrap="square" lIns="0" tIns="0" rIns="0" bIns="0" rtlCol="0" anchor="ctr"/>
          <a:lstStyle/>
          <a:p>
            <a:pPr algn="ctr" indent="0" marL="0">
              <a:buNone/>
            </a:pPr>
            <a:r>
              <a:rPr lang="en-US" sz="3400" b="1" dirty="0">
                <a:solidFill>
                  <a:srgbClr val="5B9BFF"/>
                </a:solidFill>
                <a:latin typeface="Calibri" pitchFamily="34" charset="0"/>
                <a:ea typeface="Calibri" pitchFamily="34" charset="-122"/>
                <a:cs typeface="Calibri" pitchFamily="34" charset="-120"/>
              </a:rPr>
              <a:t>1 576</a:t>
            </a:r>
            <a:endParaRPr lang="en-US" sz="3400" dirty="0"/>
          </a:p>
        </p:txBody>
      </p:sp>
      <p:sp>
        <p:nvSpPr>
          <p:cNvPr id="8" name="Text 5"/>
          <p:cNvSpPr txBox="1"/>
          <p:nvPr/>
        </p:nvSpPr>
        <p:spPr>
          <a:xfrm>
            <a:off x="685800" y="2194560"/>
            <a:ext cx="2468880" cy="457200"/>
          </a:xfrm>
          <a:prstGeom prst="rect">
            <a:avLst/>
          </a:prstGeom>
          <a:noFill/>
          <a:ln/>
        </p:spPr>
        <p:txBody>
          <a:bodyPr wrap="square" lIns="0" tIns="0" rIns="0" bIns="0" rtlCol="0" anchor="ctr"/>
          <a:lstStyle/>
          <a:p>
            <a:pPr algn="ctr" indent="0" marL="0">
              <a:buNone/>
            </a:pPr>
            <a:r>
              <a:rPr lang="en-US" sz="1100" dirty="0">
                <a:solidFill>
                  <a:srgbClr val="95A3B8"/>
                </a:solidFill>
                <a:latin typeface="Calibri" pitchFamily="34" charset="0"/>
                <a:ea typeface="Calibri" pitchFamily="34" charset="-122"/>
                <a:cs typeface="Calibri" pitchFamily="34" charset="-120"/>
              </a:rPr>
              <a:t>tests automatisés</a:t>
            </a:r>
            <a:endParaRPr lang="en-US" sz="1100" dirty="0"/>
          </a:p>
        </p:txBody>
      </p:sp>
      <p:sp>
        <p:nvSpPr>
          <p:cNvPr id="9" name="Text 6"/>
          <p:cNvSpPr txBox="1"/>
          <p:nvPr/>
        </p:nvSpPr>
        <p:spPr>
          <a:xfrm>
            <a:off x="3337560" y="1645920"/>
            <a:ext cx="2468880" cy="566928"/>
          </a:xfrm>
          <a:prstGeom prst="rect">
            <a:avLst/>
          </a:prstGeom>
          <a:noFill/>
          <a:ln/>
        </p:spPr>
        <p:txBody>
          <a:bodyPr wrap="square" lIns="0" tIns="0" rIns="0" bIns="0" rtlCol="0" anchor="ctr"/>
          <a:lstStyle/>
          <a:p>
            <a:pPr algn="ctr" indent="0" marL="0">
              <a:buNone/>
            </a:pPr>
            <a:r>
              <a:rPr lang="en-US" sz="3400" b="1" dirty="0">
                <a:solidFill>
                  <a:srgbClr val="5B9BFF"/>
                </a:solidFill>
                <a:latin typeface="Calibri" pitchFamily="34" charset="0"/>
                <a:ea typeface="Calibri" pitchFamily="34" charset="-122"/>
                <a:cs typeface="Calibri" pitchFamily="34" charset="-120"/>
              </a:rPr>
              <a:t>1 103</a:t>
            </a:r>
            <a:endParaRPr lang="en-US" sz="3400" dirty="0"/>
          </a:p>
        </p:txBody>
      </p:sp>
      <p:sp>
        <p:nvSpPr>
          <p:cNvPr id="10" name="Text 7"/>
          <p:cNvSpPr txBox="1"/>
          <p:nvPr/>
        </p:nvSpPr>
        <p:spPr>
          <a:xfrm>
            <a:off x="3337560" y="2194560"/>
            <a:ext cx="2468880" cy="457200"/>
          </a:xfrm>
          <a:prstGeom prst="rect">
            <a:avLst/>
          </a:prstGeom>
          <a:noFill/>
          <a:ln/>
        </p:spPr>
        <p:txBody>
          <a:bodyPr wrap="square" lIns="0" tIns="0" rIns="0" bIns="0" rtlCol="0" anchor="ctr"/>
          <a:lstStyle/>
          <a:p>
            <a:pPr algn="ctr" indent="0" marL="0">
              <a:buNone/>
            </a:pPr>
            <a:r>
              <a:rPr lang="en-US" sz="1100" dirty="0">
                <a:solidFill>
                  <a:srgbClr val="95A3B8"/>
                </a:solidFill>
                <a:latin typeface="Calibri" pitchFamily="34" charset="0"/>
                <a:ea typeface="Calibri" pitchFamily="34" charset="-122"/>
                <a:cs typeface="Calibri" pitchFamily="34" charset="-120"/>
              </a:rPr>
              <a:t>back-end</a:t>
            </a:r>
            <a:endParaRPr lang="en-US" sz="1100" dirty="0"/>
          </a:p>
        </p:txBody>
      </p:sp>
      <p:sp>
        <p:nvSpPr>
          <p:cNvPr id="11" name="Text 8"/>
          <p:cNvSpPr txBox="1"/>
          <p:nvPr/>
        </p:nvSpPr>
        <p:spPr>
          <a:xfrm>
            <a:off x="5989320" y="1645920"/>
            <a:ext cx="2468880" cy="566928"/>
          </a:xfrm>
          <a:prstGeom prst="rect">
            <a:avLst/>
          </a:prstGeom>
          <a:noFill/>
          <a:ln/>
        </p:spPr>
        <p:txBody>
          <a:bodyPr wrap="square" lIns="0" tIns="0" rIns="0" bIns="0" rtlCol="0" anchor="ctr"/>
          <a:lstStyle/>
          <a:p>
            <a:pPr algn="ctr" indent="0" marL="0">
              <a:buNone/>
            </a:pPr>
            <a:r>
              <a:rPr lang="en-US" sz="3400" b="1" dirty="0">
                <a:solidFill>
                  <a:srgbClr val="5B9BFF"/>
                </a:solidFill>
                <a:latin typeface="Calibri" pitchFamily="34" charset="0"/>
                <a:ea typeface="Calibri" pitchFamily="34" charset="-122"/>
                <a:cs typeface="Calibri" pitchFamily="34" charset="-120"/>
              </a:rPr>
              <a:t>474</a:t>
            </a:r>
            <a:endParaRPr lang="en-US" sz="3400" dirty="0"/>
          </a:p>
        </p:txBody>
      </p:sp>
      <p:sp>
        <p:nvSpPr>
          <p:cNvPr id="12" name="Text 9"/>
          <p:cNvSpPr txBox="1"/>
          <p:nvPr/>
        </p:nvSpPr>
        <p:spPr>
          <a:xfrm>
            <a:off x="5989320" y="2194560"/>
            <a:ext cx="2468880" cy="457200"/>
          </a:xfrm>
          <a:prstGeom prst="rect">
            <a:avLst/>
          </a:prstGeom>
          <a:noFill/>
          <a:ln/>
        </p:spPr>
        <p:txBody>
          <a:bodyPr wrap="square" lIns="0" tIns="0" rIns="0" bIns="0" rtlCol="0" anchor="ctr"/>
          <a:lstStyle/>
          <a:p>
            <a:pPr algn="ctr" indent="0" marL="0">
              <a:buNone/>
            </a:pPr>
            <a:r>
              <a:rPr lang="en-US" sz="1100" dirty="0">
                <a:solidFill>
                  <a:srgbClr val="95A3B8"/>
                </a:solidFill>
                <a:latin typeface="Calibri" pitchFamily="34" charset="0"/>
                <a:ea typeface="Calibri" pitchFamily="34" charset="-122"/>
                <a:cs typeface="Calibri" pitchFamily="34" charset="-120"/>
              </a:rPr>
              <a:t>front-end</a:t>
            </a:r>
            <a:endParaRPr lang="en-US" sz="1100" dirty="0"/>
          </a:p>
        </p:txBody>
      </p:sp>
      <p:sp>
        <p:nvSpPr>
          <p:cNvPr id="13" name="Text 10"/>
          <p:cNvSpPr txBox="1"/>
          <p:nvPr/>
        </p:nvSpPr>
        <p:spPr>
          <a:xfrm>
            <a:off x="8641080" y="1645920"/>
            <a:ext cx="2834640" cy="566928"/>
          </a:xfrm>
          <a:prstGeom prst="rect">
            <a:avLst/>
          </a:prstGeom>
          <a:noFill/>
          <a:ln/>
        </p:spPr>
        <p:txBody>
          <a:bodyPr wrap="square" lIns="0" tIns="0" rIns="0" bIns="0" rtlCol="0" anchor="ctr"/>
          <a:lstStyle/>
          <a:p>
            <a:pPr algn="ctr" indent="0" marL="0">
              <a:buNone/>
            </a:pPr>
            <a:r>
              <a:rPr lang="en-US" sz="3400" b="1" dirty="0">
                <a:solidFill>
                  <a:srgbClr val="3DD68C"/>
                </a:solidFill>
                <a:latin typeface="Calibri" pitchFamily="34" charset="0"/>
                <a:ea typeface="Calibri" pitchFamily="34" charset="-122"/>
                <a:cs typeface="Calibri" pitchFamily="34" charset="-120"/>
              </a:rPr>
              <a:t>100 %</a:t>
            </a:r>
            <a:endParaRPr lang="en-US" sz="3400" dirty="0"/>
          </a:p>
        </p:txBody>
      </p:sp>
      <p:sp>
        <p:nvSpPr>
          <p:cNvPr id="14" name="Text 11"/>
          <p:cNvSpPr txBox="1"/>
          <p:nvPr/>
        </p:nvSpPr>
        <p:spPr>
          <a:xfrm>
            <a:off x="8641080" y="2194560"/>
            <a:ext cx="2834640" cy="457200"/>
          </a:xfrm>
          <a:prstGeom prst="rect">
            <a:avLst/>
          </a:prstGeom>
          <a:noFill/>
          <a:ln/>
        </p:spPr>
        <p:txBody>
          <a:bodyPr wrap="square" lIns="0" tIns="0" rIns="0" bIns="0" rtlCol="0" anchor="ctr"/>
          <a:lstStyle/>
          <a:p>
            <a:pPr algn="ctr" indent="0" marL="0">
              <a:buNone/>
            </a:pPr>
            <a:r>
              <a:rPr lang="en-US" sz="1100" dirty="0">
                <a:solidFill>
                  <a:srgbClr val="95A3B8"/>
                </a:solidFill>
                <a:latin typeface="Calibri" pitchFamily="34" charset="0"/>
                <a:ea typeface="Calibri" pitchFamily="34" charset="-122"/>
                <a:cs typeface="Calibri" pitchFamily="34" charset="-120"/>
              </a:rPr>
              <a:t>branches du domaine</a:t>
            </a:r>
            <a:endParaRPr lang="en-US" sz="1100" dirty="0"/>
          </a:p>
        </p:txBody>
      </p:sp>
      <p:sp>
        <p:nvSpPr>
          <p:cNvPr id="15" name="Shape 12"/>
          <p:cNvSpPr/>
          <p:nvPr/>
        </p:nvSpPr>
        <p:spPr>
          <a:xfrm>
            <a:off x="685800" y="3017520"/>
            <a:ext cx="5120640" cy="2286000"/>
          </a:xfrm>
          <a:prstGeom prst="roundRect">
            <a:avLst>
              <a:gd name="adj" fmla="val 3200"/>
            </a:avLst>
          </a:prstGeom>
          <a:solidFill>
            <a:srgbClr val="1A2231"/>
          </a:solidFill>
          <a:ln w="12700">
            <a:solidFill>
              <a:srgbClr val="232E42"/>
            </a:solidFill>
            <a:prstDash val="solid"/>
          </a:ln>
        </p:spPr>
      </p:sp>
      <p:sp>
        <p:nvSpPr>
          <p:cNvPr id="16" name="Text 13"/>
          <p:cNvSpPr txBox="1"/>
          <p:nvPr/>
        </p:nvSpPr>
        <p:spPr>
          <a:xfrm>
            <a:off x="960120" y="3246120"/>
            <a:ext cx="4572000" cy="292608"/>
          </a:xfrm>
          <a:prstGeom prst="rect">
            <a:avLst/>
          </a:prstGeom>
          <a:noFill/>
          <a:ln/>
        </p:spPr>
        <p:txBody>
          <a:bodyPr wrap="square" lIns="0" tIns="0" rIns="0" bIns="0" rtlCol="0" anchor="ctr"/>
          <a:lstStyle/>
          <a:p>
            <a:pPr indent="0" marL="0">
              <a:buNone/>
            </a:pPr>
            <a:r>
              <a:rPr lang="en-US" sz="1500" b="1" dirty="0">
                <a:solidFill>
                  <a:srgbClr val="E8EEF7"/>
                </a:solidFill>
                <a:latin typeface="Calibri" pitchFamily="34" charset="0"/>
                <a:ea typeface="Calibri" pitchFamily="34" charset="-122"/>
                <a:cs typeface="Calibri" pitchFamily="34" charset="-120"/>
              </a:rPr>
              <a:t>Ce que les tests ont réellement attrapé</a:t>
            </a:r>
            <a:endParaRPr lang="en-US" sz="1500" dirty="0"/>
          </a:p>
        </p:txBody>
      </p:sp>
      <p:sp>
        <p:nvSpPr>
          <p:cNvPr id="17" name="Text 14"/>
          <p:cNvSpPr txBox="1"/>
          <p:nvPr/>
        </p:nvSpPr>
        <p:spPr>
          <a:xfrm>
            <a:off x="960120" y="3657600"/>
            <a:ext cx="4572000" cy="1508760"/>
          </a:xfrm>
          <a:prstGeom prst="rect">
            <a:avLst/>
          </a:prstGeom>
          <a:noFill/>
          <a:ln/>
        </p:spPr>
        <p:txBody>
          <a:bodyPr wrap="square" lIns="0" tIns="0" rIns="0" bIns="0" rtlCol="0" anchor="ctr"/>
          <a:lstStyle/>
          <a:p>
            <a:pPr marL="177800" indent="-177800">
              <a:lnSpc>
                <a:spcPts val="2000"/>
              </a:lnSpc>
              <a:spcAft>
                <a:spcPts val="800"/>
              </a:spcAft>
              <a:buSzPct val="100000"/>
              <a:buChar char="•"/>
            </a:pPr>
            <a:r>
              <a:rPr lang="en-US" sz="1250" dirty="0">
                <a:solidFill>
                  <a:srgbClr val="95A3B8"/>
                </a:solidFill>
                <a:latin typeface="Calibri" pitchFamily="34" charset="0"/>
                <a:ea typeface="Calibri" pitchFamily="34" charset="-122"/>
                <a:cs typeface="Calibri" pitchFamily="34" charset="-120"/>
              </a:rPr>
              <a:t>Une dépendance épinglée à la mauvaise version : la production aurait servi une API cassée</a:t>
            </a:r>
            <a:endParaRPr lang="en-US" sz="1250" dirty="0"/>
          </a:p>
          <a:p>
            <a:pPr marL="177800" indent="-177800">
              <a:lnSpc>
                <a:spcPts val="2000"/>
              </a:lnSpc>
              <a:spcAft>
                <a:spcPts val="800"/>
              </a:spcAft>
              <a:buSzPct val="100000"/>
              <a:buChar char="•"/>
            </a:pPr>
            <a:r>
              <a:rPr lang="en-US" sz="1250" dirty="0">
                <a:solidFill>
                  <a:srgbClr val="95A3B8"/>
                </a:solidFill>
                <a:latin typeface="Calibri" pitchFamily="34" charset="0"/>
                <a:ea typeface="Calibri" pitchFamily="34" charset="-122"/>
                <a:cs typeface="Calibri" pitchFamily="34" charset="-120"/>
              </a:rPr>
              <a:t>Un piège de fuseau horaire qui vidait une page sur 608 réservations</a:t>
            </a:r>
            <a:endParaRPr lang="en-US" sz="1250" dirty="0"/>
          </a:p>
          <a:p>
            <a:pPr marL="177800" indent="-177800">
              <a:lnSpc>
                <a:spcPts val="2000"/>
              </a:lnSpc>
              <a:spcAft>
                <a:spcPts val="800"/>
              </a:spcAft>
              <a:buSzPct val="100000"/>
              <a:buChar char="•"/>
            </a:pPr>
            <a:r>
              <a:rPr lang="en-US" sz="1250" dirty="0">
                <a:solidFill>
                  <a:srgbClr val="95A3B8"/>
                </a:solidFill>
                <a:latin typeface="Calibri" pitchFamily="34" charset="0"/>
                <a:ea typeface="Calibri" pitchFamily="34" charset="-122"/>
                <a:cs typeface="Calibri" pitchFamily="34" charset="-120"/>
              </a:rPr>
              <a:t>Une exclusion d’anonymisation qui ne servait à rien</a:t>
            </a:r>
            <a:endParaRPr lang="en-US" sz="1250" dirty="0"/>
          </a:p>
        </p:txBody>
      </p:sp>
      <p:sp>
        <p:nvSpPr>
          <p:cNvPr id="18" name="Shape 15"/>
          <p:cNvSpPr/>
          <p:nvPr/>
        </p:nvSpPr>
        <p:spPr>
          <a:xfrm>
            <a:off x="6172200" y="3017520"/>
            <a:ext cx="5330952" cy="2286000"/>
          </a:xfrm>
          <a:prstGeom prst="roundRect">
            <a:avLst>
              <a:gd name="adj" fmla="val 3200"/>
            </a:avLst>
          </a:prstGeom>
          <a:solidFill>
            <a:srgbClr val="1B3358"/>
          </a:solidFill>
          <a:ln w="12700">
            <a:solidFill>
              <a:srgbClr val="232E42"/>
            </a:solidFill>
            <a:prstDash val="solid"/>
          </a:ln>
        </p:spPr>
      </p:sp>
      <p:sp>
        <p:nvSpPr>
          <p:cNvPr id="19" name="Text 16"/>
          <p:cNvSpPr txBox="1"/>
          <p:nvPr/>
        </p:nvSpPr>
        <p:spPr>
          <a:xfrm>
            <a:off x="6446520" y="3246120"/>
            <a:ext cx="4782312" cy="292608"/>
          </a:xfrm>
          <a:prstGeom prst="rect">
            <a:avLst/>
          </a:prstGeom>
          <a:noFill/>
          <a:ln/>
        </p:spPr>
        <p:txBody>
          <a:bodyPr wrap="square" lIns="0" tIns="0" rIns="0" bIns="0" rtlCol="0" anchor="ctr"/>
          <a:lstStyle/>
          <a:p>
            <a:pPr indent="0" marL="0">
              <a:buNone/>
            </a:pPr>
            <a:r>
              <a:rPr lang="en-US" sz="1500" b="1" dirty="0">
                <a:solidFill>
                  <a:srgbClr val="5B9BFF"/>
                </a:solidFill>
                <a:latin typeface="Calibri" pitchFamily="34" charset="0"/>
                <a:ea typeface="Calibri" pitchFamily="34" charset="-122"/>
                <a:cs typeface="Calibri" pitchFamily="34" charset="-120"/>
              </a:rPr>
              <a:t>Un test qui ne peut pas échouer ne prouve rien</a:t>
            </a:r>
            <a:endParaRPr lang="en-US" sz="1500" dirty="0"/>
          </a:p>
        </p:txBody>
      </p:sp>
      <p:sp>
        <p:nvSpPr>
          <p:cNvPr id="20" name="Text 17"/>
          <p:cNvSpPr txBox="1"/>
          <p:nvPr/>
        </p:nvSpPr>
        <p:spPr>
          <a:xfrm>
            <a:off x="6446520" y="3657600"/>
            <a:ext cx="4782312" cy="1508760"/>
          </a:xfrm>
          <a:prstGeom prst="rect">
            <a:avLst/>
          </a:prstGeom>
          <a:noFill/>
          <a:ln/>
        </p:spPr>
        <p:txBody>
          <a:bodyPr wrap="square" lIns="0" tIns="0" rIns="0" bIns="0" rtlCol="0" anchor="ctr"/>
          <a:lstStyle/>
          <a:p>
            <a:pPr indent="0" marL="0">
              <a:lnSpc>
                <a:spcPts val="1800"/>
              </a:lnSpc>
              <a:buNone/>
            </a:pPr>
            <a:r>
              <a:rPr lang="en-US" sz="1250" dirty="0">
                <a:solidFill>
                  <a:srgbClr val="E8EEF7"/>
                </a:solidFill>
                <a:latin typeface="Calibri" pitchFamily="34" charset="0"/>
                <a:ea typeface="Calibri" pitchFamily="34" charset="-122"/>
                <a:cs typeface="Calibri" pitchFamily="34" charset="-120"/>
              </a:rPr>
              <a:t>Chaque correctif est accompagné d’une contre-épreuve : on vérifie que le test échoue bien lorsqu’on retire le correctif.</a:t>
            </a:r>
            <a:endParaRPr lang="en-US" sz="1250" dirty="0"/>
          </a:p>
          <a:p>
            <a:pPr indent="0" marL="0">
              <a:lnSpc>
                <a:spcPts val="1800"/>
              </a:lnSpc>
              <a:buNone/>
            </a:pPr>
            <a:endParaRPr lang="en-US" sz="1250" dirty="0"/>
          </a:p>
          <a:p>
            <a:pPr indent="0" marL="0">
              <a:lnSpc>
                <a:spcPts val="1800"/>
              </a:lnSpc>
              <a:buNone/>
            </a:pPr>
            <a:r>
              <a:rPr lang="en-US" sz="1250" dirty="0">
                <a:solidFill>
                  <a:srgbClr val="E8EEF7"/>
                </a:solidFill>
                <a:latin typeface="Calibri" pitchFamily="34" charset="0"/>
                <a:ea typeface="Calibri" pitchFamily="34" charset="-122"/>
                <a:cs typeface="Calibri" pitchFamily="34" charset="-120"/>
              </a:rPr>
              <a:t>Cette pratique a invalidé un correctif que nous croyions bon — le formateur avait replié l’expression, et le remplacement ne s’appliquait plus.</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685800" y="384048"/>
            <a:ext cx="10820095" cy="237744"/>
          </a:xfrm>
          <a:prstGeom prst="rect">
            <a:avLst/>
          </a:prstGeom>
          <a:noFill/>
          <a:ln/>
        </p:spPr>
        <p:txBody>
          <a:bodyPr wrap="square" lIns="0" tIns="0" rIns="0" bIns="0" rtlCol="0" anchor="ctr"/>
          <a:lstStyle/>
          <a:p>
            <a:pPr indent="0" marL="0">
              <a:buNone/>
            </a:pPr>
            <a:r>
              <a:rPr lang="en-US" sz="1100" b="1" spc="200" kern="0" dirty="0">
                <a:solidFill>
                  <a:srgbClr val="5B9BFF"/>
                </a:solidFill>
                <a:latin typeface="Calibri" pitchFamily="34" charset="0"/>
                <a:ea typeface="Calibri" pitchFamily="34" charset="-122"/>
                <a:cs typeface="Calibri" pitchFamily="34" charset="-120"/>
              </a:rPr>
              <a:t>12 — DIFFICULTÉS</a:t>
            </a:r>
            <a:endParaRPr lang="en-US" sz="1100" dirty="0"/>
          </a:p>
        </p:txBody>
      </p:sp>
      <p:sp>
        <p:nvSpPr>
          <p:cNvPr id="3" name="Text 1"/>
          <p:cNvSpPr txBox="1"/>
          <p:nvPr/>
        </p:nvSpPr>
        <p:spPr>
          <a:xfrm>
            <a:off x="685800" y="658368"/>
            <a:ext cx="9997135" cy="777240"/>
          </a:xfrm>
          <a:prstGeom prst="rect">
            <a:avLst/>
          </a:prstGeom>
          <a:noFill/>
          <a:ln/>
        </p:spPr>
        <p:txBody>
          <a:bodyPr wrap="square" lIns="0" tIns="0" rIns="0" bIns="0" rtlCol="0" anchor="t"/>
          <a:lstStyle/>
          <a:p>
            <a:pPr indent="0" marL="0">
              <a:buNone/>
            </a:pPr>
            <a:r>
              <a:rPr lang="en-US" sz="3200" b="1" dirty="0">
                <a:solidFill>
                  <a:srgbClr val="E8EEF7"/>
                </a:solidFill>
                <a:latin typeface="Calibri" pitchFamily="34" charset="0"/>
                <a:ea typeface="Calibri" pitchFamily="34" charset="-122"/>
                <a:cs typeface="Calibri" pitchFamily="34" charset="-120"/>
              </a:rPr>
              <a:t>Quand le symptôme désigne le mauvais coupable</a:t>
            </a:r>
            <a:endParaRPr lang="en-US" sz="3200" dirty="0"/>
          </a:p>
        </p:txBody>
      </p:sp>
      <p:sp>
        <p:nvSpPr>
          <p:cNvPr id="4" name="Shape 2"/>
          <p:cNvSpPr/>
          <p:nvPr/>
        </p:nvSpPr>
        <p:spPr>
          <a:xfrm>
            <a:off x="11292840" y="6144768"/>
            <a:ext cx="365760" cy="365760"/>
          </a:xfrm>
          <a:prstGeom prst="ellipse">
            <a:avLst/>
          </a:prstGeom>
          <a:solidFill>
            <a:srgbClr val="232E42"/>
          </a:solidFill>
          <a:ln w="12700">
            <a:solidFill>
              <a:srgbClr val="232E42"/>
            </a:solidFill>
            <a:prstDash val="solid"/>
          </a:ln>
        </p:spPr>
      </p:sp>
      <p:sp>
        <p:nvSpPr>
          <p:cNvPr id="5" name="Text 3"/>
          <p:cNvSpPr txBox="1"/>
          <p:nvPr/>
        </p:nvSpPr>
        <p:spPr>
          <a:xfrm>
            <a:off x="11292840" y="6144768"/>
            <a:ext cx="365760" cy="365760"/>
          </a:xfrm>
          <a:prstGeom prst="rect">
            <a:avLst/>
          </a:prstGeom>
          <a:noFill/>
          <a:ln/>
        </p:spPr>
        <p:txBody>
          <a:bodyPr wrap="square" lIns="0" tIns="0" rIns="0" bIns="0" rtlCol="0" anchor="ctr"/>
          <a:lstStyle/>
          <a:p>
            <a:pPr algn="ctr" indent="0" marL="0">
              <a:buNone/>
            </a:pPr>
            <a:r>
              <a:rPr lang="en-US" sz="1100" b="1" dirty="0">
                <a:solidFill>
                  <a:srgbClr val="95A3B8"/>
                </a:solidFill>
                <a:latin typeface="Calibri" pitchFamily="34" charset="0"/>
                <a:ea typeface="Calibri" pitchFamily="34" charset="-122"/>
                <a:cs typeface="Calibri" pitchFamily="34" charset="-120"/>
              </a:rPr>
              <a:t>16</a:t>
            </a:r>
            <a:endParaRPr lang="en-US" sz="1100" dirty="0"/>
          </a:p>
        </p:txBody>
      </p:sp>
      <p:sp>
        <p:nvSpPr>
          <p:cNvPr id="7" name="Shape 4"/>
          <p:cNvSpPr/>
          <p:nvPr/>
        </p:nvSpPr>
        <p:spPr>
          <a:xfrm>
            <a:off x="685800" y="1810512"/>
            <a:ext cx="274320" cy="274320"/>
          </a:xfrm>
          <a:prstGeom prst="ellipse">
            <a:avLst/>
          </a:prstGeom>
          <a:solidFill>
            <a:srgbClr val="FF7A7A"/>
          </a:solidFill>
          <a:ln w="12700">
            <a:solidFill>
              <a:srgbClr val="FF7A7A"/>
            </a:solidFill>
            <a:prstDash val="solid"/>
          </a:ln>
        </p:spPr>
      </p:sp>
      <p:sp>
        <p:nvSpPr>
          <p:cNvPr id="8" name="Text 5"/>
          <p:cNvSpPr txBox="1"/>
          <p:nvPr/>
        </p:nvSpPr>
        <p:spPr>
          <a:xfrm>
            <a:off x="1143000" y="1737360"/>
            <a:ext cx="3931920" cy="457200"/>
          </a:xfrm>
          <a:prstGeom prst="rect">
            <a:avLst/>
          </a:prstGeom>
          <a:noFill/>
          <a:ln/>
        </p:spPr>
        <p:txBody>
          <a:bodyPr wrap="square" lIns="0" tIns="0" rIns="0" bIns="0" rtlCol="0" anchor="ctr"/>
          <a:lstStyle/>
          <a:p>
            <a:pPr indent="0" marL="0">
              <a:lnSpc>
                <a:spcPts val="2100"/>
              </a:lnSpc>
              <a:buNone/>
            </a:pPr>
            <a:r>
              <a:rPr lang="en-US" sz="1500" b="1" dirty="0">
                <a:solidFill>
                  <a:srgbClr val="E8EEF7"/>
                </a:solidFill>
                <a:latin typeface="Calibri" pitchFamily="34" charset="0"/>
                <a:ea typeface="Calibri" pitchFamily="34" charset="-122"/>
                <a:cs typeface="Calibri" pitchFamily="34" charset="-120"/>
              </a:rPr>
              <a:t>Statistiques identiques sur deux comptes</a:t>
            </a:r>
            <a:endParaRPr lang="en-US" sz="1500" dirty="0"/>
          </a:p>
        </p:txBody>
      </p:sp>
      <p:sp>
        <p:nvSpPr>
          <p:cNvPr id="9" name="Text 6"/>
          <p:cNvSpPr txBox="1"/>
          <p:nvPr/>
        </p:nvSpPr>
        <p:spPr>
          <a:xfrm>
            <a:off x="5257800" y="1755648"/>
            <a:ext cx="6217920" cy="914400"/>
          </a:xfrm>
          <a:prstGeom prst="rect">
            <a:avLst/>
          </a:prstGeom>
          <a:noFill/>
          <a:ln/>
        </p:spPr>
        <p:txBody>
          <a:bodyPr wrap="square" lIns="0" tIns="0" rIns="0" bIns="0" rtlCol="0" anchor="ctr"/>
          <a:lstStyle/>
          <a:p>
            <a:pPr indent="0" marL="0">
              <a:lnSpc>
                <a:spcPts val="1800"/>
              </a:lnSpc>
              <a:buNone/>
            </a:pPr>
            <a:r>
              <a:rPr lang="en-US" sz="1250" dirty="0">
                <a:solidFill>
                  <a:srgbClr val="95A3B8"/>
                </a:solidFill>
                <a:latin typeface="Calibri" pitchFamily="34" charset="0"/>
                <a:ea typeface="Calibri" pitchFamily="34" charset="-122"/>
                <a:cs typeface="Calibri" pitchFamily="34" charset="-120"/>
              </a:rPr>
              <a:t>Le cache navigateur est indexé par URL, et /stats/me est la même URL pour tous. La directive « private » n’y change rien.</a:t>
            </a:r>
            <a:endParaRPr lang="en-US" sz="1250" dirty="0"/>
          </a:p>
        </p:txBody>
      </p:sp>
      <p:sp>
        <p:nvSpPr>
          <p:cNvPr id="10" name="Shape 7"/>
          <p:cNvSpPr/>
          <p:nvPr/>
        </p:nvSpPr>
        <p:spPr>
          <a:xfrm>
            <a:off x="685800" y="2907792"/>
            <a:ext cx="274320" cy="274320"/>
          </a:xfrm>
          <a:prstGeom prst="ellipse">
            <a:avLst/>
          </a:prstGeom>
          <a:solidFill>
            <a:srgbClr val="F0B429"/>
          </a:solidFill>
          <a:ln w="12700">
            <a:solidFill>
              <a:srgbClr val="F0B429"/>
            </a:solidFill>
            <a:prstDash val="solid"/>
          </a:ln>
        </p:spPr>
      </p:sp>
      <p:sp>
        <p:nvSpPr>
          <p:cNvPr id="11" name="Text 8"/>
          <p:cNvSpPr txBox="1"/>
          <p:nvPr/>
        </p:nvSpPr>
        <p:spPr>
          <a:xfrm>
            <a:off x="1143000" y="2834640"/>
            <a:ext cx="3931920" cy="457200"/>
          </a:xfrm>
          <a:prstGeom prst="rect">
            <a:avLst/>
          </a:prstGeom>
          <a:noFill/>
          <a:ln/>
        </p:spPr>
        <p:txBody>
          <a:bodyPr wrap="square" lIns="0" tIns="0" rIns="0" bIns="0" rtlCol="0" anchor="ctr"/>
          <a:lstStyle/>
          <a:p>
            <a:pPr indent="0" marL="0">
              <a:lnSpc>
                <a:spcPts val="2100"/>
              </a:lnSpc>
              <a:buNone/>
            </a:pPr>
            <a:r>
              <a:rPr lang="en-US" sz="1500" b="1" dirty="0">
                <a:solidFill>
                  <a:srgbClr val="E8EEF7"/>
                </a:solidFill>
                <a:latin typeface="Calibri" pitchFamily="34" charset="0"/>
                <a:ea typeface="Calibri" pitchFamily="34" charset="-122"/>
                <a:cs typeface="Calibri" pitchFamily="34" charset="-120"/>
              </a:rPr>
              <a:t>Connexion refusée sur « mot de passe »</a:t>
            </a:r>
            <a:endParaRPr lang="en-US" sz="1500" dirty="0"/>
          </a:p>
        </p:txBody>
      </p:sp>
      <p:sp>
        <p:nvSpPr>
          <p:cNvPr id="12" name="Text 9"/>
          <p:cNvSpPr txBox="1"/>
          <p:nvPr/>
        </p:nvSpPr>
        <p:spPr>
          <a:xfrm>
            <a:off x="5257800" y="2852928"/>
            <a:ext cx="6217920" cy="914400"/>
          </a:xfrm>
          <a:prstGeom prst="rect">
            <a:avLst/>
          </a:prstGeom>
          <a:noFill/>
          <a:ln/>
        </p:spPr>
        <p:txBody>
          <a:bodyPr wrap="square" lIns="0" tIns="0" rIns="0" bIns="0" rtlCol="0" anchor="ctr"/>
          <a:lstStyle/>
          <a:p>
            <a:pPr indent="0" marL="0">
              <a:lnSpc>
                <a:spcPts val="1800"/>
              </a:lnSpc>
              <a:buNone/>
            </a:pPr>
            <a:r>
              <a:rPr lang="en-US" sz="1250" dirty="0">
                <a:solidFill>
                  <a:srgbClr val="95A3B8"/>
                </a:solidFill>
                <a:latin typeface="Calibri" pitchFamily="34" charset="0"/>
                <a:ea typeface="Calibri" pitchFamily="34" charset="-122"/>
                <a:cs typeface="Calibri" pitchFamily="34" charset="-120"/>
              </a:rPr>
              <a:t>Le mode TLS manquait. libpq se rabat en clair, l’hébergeur refuse, et son message parle de mot de passe.</a:t>
            </a:r>
            <a:endParaRPr lang="en-US" sz="1250" dirty="0"/>
          </a:p>
        </p:txBody>
      </p:sp>
      <p:sp>
        <p:nvSpPr>
          <p:cNvPr id="13" name="Shape 10"/>
          <p:cNvSpPr/>
          <p:nvPr/>
        </p:nvSpPr>
        <p:spPr>
          <a:xfrm>
            <a:off x="685800" y="4005072"/>
            <a:ext cx="274320" cy="274320"/>
          </a:xfrm>
          <a:prstGeom prst="ellipse">
            <a:avLst/>
          </a:prstGeom>
          <a:solidFill>
            <a:srgbClr val="5B9BFF"/>
          </a:solidFill>
          <a:ln w="12700">
            <a:solidFill>
              <a:srgbClr val="5B9BFF"/>
            </a:solidFill>
            <a:prstDash val="solid"/>
          </a:ln>
        </p:spPr>
      </p:sp>
      <p:sp>
        <p:nvSpPr>
          <p:cNvPr id="14" name="Text 11"/>
          <p:cNvSpPr txBox="1"/>
          <p:nvPr/>
        </p:nvSpPr>
        <p:spPr>
          <a:xfrm>
            <a:off x="1143000" y="3931920"/>
            <a:ext cx="3931920" cy="457200"/>
          </a:xfrm>
          <a:prstGeom prst="rect">
            <a:avLst/>
          </a:prstGeom>
          <a:noFill/>
          <a:ln/>
        </p:spPr>
        <p:txBody>
          <a:bodyPr wrap="square" lIns="0" tIns="0" rIns="0" bIns="0" rtlCol="0" anchor="ctr"/>
          <a:lstStyle/>
          <a:p>
            <a:pPr indent="0" marL="0">
              <a:lnSpc>
                <a:spcPts val="2100"/>
              </a:lnSpc>
              <a:buNone/>
            </a:pPr>
            <a:r>
              <a:rPr lang="en-US" sz="1500" b="1" dirty="0">
                <a:solidFill>
                  <a:srgbClr val="E8EEF7"/>
                </a:solidFill>
                <a:latin typeface="Calibri" pitchFamily="34" charset="0"/>
                <a:ea typeface="Calibri" pitchFamily="34" charset="-122"/>
                <a:cs typeface="Calibri" pitchFamily="34" charset="-120"/>
              </a:rPr>
              <a:t>Six défauts invisibles en local</a:t>
            </a:r>
            <a:endParaRPr lang="en-US" sz="1500" dirty="0"/>
          </a:p>
        </p:txBody>
      </p:sp>
      <p:sp>
        <p:nvSpPr>
          <p:cNvPr id="15" name="Text 12"/>
          <p:cNvSpPr txBox="1"/>
          <p:nvPr/>
        </p:nvSpPr>
        <p:spPr>
          <a:xfrm>
            <a:off x="5257800" y="3950208"/>
            <a:ext cx="6217920" cy="914400"/>
          </a:xfrm>
          <a:prstGeom prst="rect">
            <a:avLst/>
          </a:prstGeom>
          <a:noFill/>
          <a:ln/>
        </p:spPr>
        <p:txBody>
          <a:bodyPr wrap="square" lIns="0" tIns="0" rIns="0" bIns="0" rtlCol="0" anchor="ctr"/>
          <a:lstStyle/>
          <a:p>
            <a:pPr indent="0" marL="0">
              <a:lnSpc>
                <a:spcPts val="1800"/>
              </a:lnSpc>
              <a:buNone/>
            </a:pPr>
            <a:r>
              <a:rPr lang="en-US" sz="1250" dirty="0">
                <a:solidFill>
                  <a:srgbClr val="95A3B8"/>
                </a:solidFill>
                <a:latin typeface="Calibri" pitchFamily="34" charset="0"/>
                <a:ea typeface="Calibri" pitchFamily="34" charset="-122"/>
                <a:cs typeface="Calibri" pitchFamily="34" charset="-120"/>
              </a:rPr>
              <a:t>Ils vivaient tous sur le chemin distant de l’assistant, qui ne s’exécute qu’en production.</a:t>
            </a:r>
            <a:endParaRPr lang="en-US" sz="1250" dirty="0"/>
          </a:p>
        </p:txBody>
      </p:sp>
      <p:sp>
        <p:nvSpPr>
          <p:cNvPr id="16" name="Shape 13"/>
          <p:cNvSpPr/>
          <p:nvPr/>
        </p:nvSpPr>
        <p:spPr>
          <a:xfrm>
            <a:off x="685800" y="5138928"/>
            <a:ext cx="10820095" cy="868680"/>
          </a:xfrm>
          <a:prstGeom prst="roundRect">
            <a:avLst>
              <a:gd name="adj" fmla="val 8421"/>
            </a:avLst>
          </a:prstGeom>
          <a:solidFill>
            <a:srgbClr val="232E42"/>
          </a:solidFill>
          <a:ln w="12700">
            <a:solidFill>
              <a:srgbClr val="232E42"/>
            </a:solidFill>
            <a:prstDash val="solid"/>
          </a:ln>
        </p:spPr>
      </p:sp>
      <p:sp>
        <p:nvSpPr>
          <p:cNvPr id="17" name="Text 14"/>
          <p:cNvSpPr txBox="1"/>
          <p:nvPr/>
        </p:nvSpPr>
        <p:spPr>
          <a:xfrm>
            <a:off x="978408" y="5321808"/>
            <a:ext cx="9997135" cy="548640"/>
          </a:xfrm>
          <a:prstGeom prst="rect">
            <a:avLst/>
          </a:prstGeom>
          <a:noFill/>
          <a:ln/>
        </p:spPr>
        <p:txBody>
          <a:bodyPr wrap="square" lIns="0" tIns="0" rIns="0" bIns="0" rtlCol="0" anchor="ctr"/>
          <a:lstStyle/>
          <a:p>
            <a:pPr indent="0" marL="0">
              <a:lnSpc>
                <a:spcPts val="1900"/>
              </a:lnSpc>
              <a:buNone/>
            </a:pPr>
            <a:r>
              <a:rPr lang="en-US" sz="1300" i="1" dirty="0">
                <a:solidFill>
                  <a:srgbClr val="E8EEF7"/>
                </a:solidFill>
                <a:latin typeface="Calibri" pitchFamily="34" charset="0"/>
                <a:ea typeface="Calibri" pitchFamily="34" charset="-122"/>
                <a:cs typeface="Calibri" pitchFamily="34" charset="-120"/>
              </a:rPr>
              <a:t>L’enseignement commun : un journal qui dit qu’il a échoué sans dire pourquoi coûte des heures. Le même défaut est apparu trois fois, à trois endroits différents.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685800" y="384048"/>
            <a:ext cx="10820095" cy="237744"/>
          </a:xfrm>
          <a:prstGeom prst="rect">
            <a:avLst/>
          </a:prstGeom>
          <a:noFill/>
          <a:ln/>
        </p:spPr>
        <p:txBody>
          <a:bodyPr wrap="square" lIns="0" tIns="0" rIns="0" bIns="0" rtlCol="0" anchor="ctr"/>
          <a:lstStyle/>
          <a:p>
            <a:pPr indent="0" marL="0">
              <a:buNone/>
            </a:pPr>
            <a:r>
              <a:rPr lang="en-US" sz="1100" b="1" spc="200" kern="0" dirty="0">
                <a:solidFill>
                  <a:srgbClr val="5B9BFF"/>
                </a:solidFill>
                <a:latin typeface="Calibri" pitchFamily="34" charset="0"/>
                <a:ea typeface="Calibri" pitchFamily="34" charset="-122"/>
                <a:cs typeface="Calibri" pitchFamily="34" charset="-120"/>
              </a:rPr>
              <a:t>13 — DÉPLOIEMENT</a:t>
            </a:r>
            <a:endParaRPr lang="en-US" sz="1100" dirty="0"/>
          </a:p>
        </p:txBody>
      </p:sp>
      <p:sp>
        <p:nvSpPr>
          <p:cNvPr id="3" name="Text 1"/>
          <p:cNvSpPr txBox="1"/>
          <p:nvPr/>
        </p:nvSpPr>
        <p:spPr>
          <a:xfrm>
            <a:off x="685800" y="658368"/>
            <a:ext cx="9997135" cy="777240"/>
          </a:xfrm>
          <a:prstGeom prst="rect">
            <a:avLst/>
          </a:prstGeom>
          <a:noFill/>
          <a:ln/>
        </p:spPr>
        <p:txBody>
          <a:bodyPr wrap="square" lIns="0" tIns="0" rIns="0" bIns="0" rtlCol="0" anchor="t"/>
          <a:lstStyle/>
          <a:p>
            <a:pPr indent="0" marL="0">
              <a:buNone/>
            </a:pPr>
            <a:r>
              <a:rPr lang="en-US" sz="3200" b="1" dirty="0">
                <a:solidFill>
                  <a:srgbClr val="E8EEF7"/>
                </a:solidFill>
                <a:latin typeface="Calibri" pitchFamily="34" charset="0"/>
                <a:ea typeface="Calibri" pitchFamily="34" charset="-122"/>
                <a:cs typeface="Calibri" pitchFamily="34" charset="-120"/>
              </a:rPr>
              <a:t>En ligne, supervisé, à coût nul</a:t>
            </a:r>
            <a:endParaRPr lang="en-US" sz="3200" dirty="0"/>
          </a:p>
        </p:txBody>
      </p:sp>
      <p:sp>
        <p:nvSpPr>
          <p:cNvPr id="4" name="Shape 2"/>
          <p:cNvSpPr/>
          <p:nvPr/>
        </p:nvSpPr>
        <p:spPr>
          <a:xfrm>
            <a:off x="11292840" y="6144768"/>
            <a:ext cx="365760" cy="365760"/>
          </a:xfrm>
          <a:prstGeom prst="ellipse">
            <a:avLst/>
          </a:prstGeom>
          <a:solidFill>
            <a:srgbClr val="232E42"/>
          </a:solidFill>
          <a:ln w="12700">
            <a:solidFill>
              <a:srgbClr val="232E42"/>
            </a:solidFill>
            <a:prstDash val="solid"/>
          </a:ln>
        </p:spPr>
      </p:sp>
      <p:sp>
        <p:nvSpPr>
          <p:cNvPr id="5" name="Text 3"/>
          <p:cNvSpPr txBox="1"/>
          <p:nvPr/>
        </p:nvSpPr>
        <p:spPr>
          <a:xfrm>
            <a:off x="11292840" y="6144768"/>
            <a:ext cx="365760" cy="365760"/>
          </a:xfrm>
          <a:prstGeom prst="rect">
            <a:avLst/>
          </a:prstGeom>
          <a:noFill/>
          <a:ln/>
        </p:spPr>
        <p:txBody>
          <a:bodyPr wrap="square" lIns="0" tIns="0" rIns="0" bIns="0" rtlCol="0" anchor="ctr"/>
          <a:lstStyle/>
          <a:p>
            <a:pPr algn="ctr" indent="0" marL="0">
              <a:buNone/>
            </a:pPr>
            <a:r>
              <a:rPr lang="en-US" sz="1100" b="1" dirty="0">
                <a:solidFill>
                  <a:srgbClr val="95A3B8"/>
                </a:solidFill>
                <a:latin typeface="Calibri" pitchFamily="34" charset="0"/>
                <a:ea typeface="Calibri" pitchFamily="34" charset="-122"/>
                <a:cs typeface="Calibri" pitchFamily="34" charset="-120"/>
              </a:rPr>
              <a:t>17</a:t>
            </a:r>
            <a:endParaRPr lang="en-US" sz="1100" dirty="0"/>
          </a:p>
        </p:txBody>
      </p:sp>
      <p:sp>
        <p:nvSpPr>
          <p:cNvPr id="7" name="Shape 4"/>
          <p:cNvSpPr/>
          <p:nvPr/>
        </p:nvSpPr>
        <p:spPr>
          <a:xfrm>
            <a:off x="685800" y="1645920"/>
            <a:ext cx="5120640" cy="585216"/>
          </a:xfrm>
          <a:prstGeom prst="roundRect">
            <a:avLst>
              <a:gd name="adj" fmla="val 12500"/>
            </a:avLst>
          </a:prstGeom>
          <a:solidFill>
            <a:srgbClr val="1A2231"/>
          </a:solidFill>
          <a:ln w="12700">
            <a:solidFill>
              <a:srgbClr val="232E42"/>
            </a:solidFill>
            <a:prstDash val="solid"/>
          </a:ln>
        </p:spPr>
      </p:sp>
      <p:sp>
        <p:nvSpPr>
          <p:cNvPr id="8" name="Text 5"/>
          <p:cNvSpPr txBox="1"/>
          <p:nvPr/>
        </p:nvSpPr>
        <p:spPr>
          <a:xfrm>
            <a:off x="941832" y="1801368"/>
            <a:ext cx="1554480" cy="274320"/>
          </a:xfrm>
          <a:prstGeom prst="rect">
            <a:avLst/>
          </a:prstGeom>
          <a:noFill/>
          <a:ln/>
        </p:spPr>
        <p:txBody>
          <a:bodyPr wrap="square" lIns="0" tIns="0" rIns="0" bIns="0" rtlCol="0" anchor="ctr"/>
          <a:lstStyle/>
          <a:p>
            <a:pPr indent="0" marL="0">
              <a:buNone/>
            </a:pPr>
            <a:r>
              <a:rPr lang="en-US" sz="1350" b="1" dirty="0">
                <a:solidFill>
                  <a:srgbClr val="5B9BFF"/>
                </a:solidFill>
                <a:latin typeface="Calibri" pitchFamily="34" charset="0"/>
                <a:ea typeface="Calibri" pitchFamily="34" charset="-122"/>
                <a:cs typeface="Calibri" pitchFamily="34" charset="-120"/>
              </a:rPr>
              <a:t>Neon</a:t>
            </a:r>
            <a:endParaRPr lang="en-US" sz="1350" dirty="0"/>
          </a:p>
        </p:txBody>
      </p:sp>
      <p:sp>
        <p:nvSpPr>
          <p:cNvPr id="9" name="Text 6"/>
          <p:cNvSpPr txBox="1"/>
          <p:nvPr/>
        </p:nvSpPr>
        <p:spPr>
          <a:xfrm>
            <a:off x="2468880" y="1801368"/>
            <a:ext cx="3200400" cy="274320"/>
          </a:xfrm>
          <a:prstGeom prst="rect">
            <a:avLst/>
          </a:prstGeom>
          <a:noFill/>
          <a:ln/>
        </p:spPr>
        <p:txBody>
          <a:bodyPr wrap="square" lIns="0" tIns="0" rIns="0" bIns="0" rtlCol="0" anchor="ctr"/>
          <a:lstStyle/>
          <a:p>
            <a:pPr indent="0" marL="0">
              <a:buNone/>
            </a:pPr>
            <a:r>
              <a:rPr lang="en-US" sz="1200" dirty="0">
                <a:solidFill>
                  <a:srgbClr val="95A3B8"/>
                </a:solidFill>
                <a:latin typeface="Calibri" pitchFamily="34" charset="0"/>
                <a:ea typeface="Calibri" pitchFamily="34" charset="-122"/>
                <a:cs typeface="Calibri" pitchFamily="34" charset="-120"/>
              </a:rPr>
              <a:t>PostgreSQL 18 managé, avec pgvector</a:t>
            </a:r>
            <a:endParaRPr lang="en-US" sz="1200" dirty="0"/>
          </a:p>
        </p:txBody>
      </p:sp>
      <p:sp>
        <p:nvSpPr>
          <p:cNvPr id="10" name="Shape 7"/>
          <p:cNvSpPr/>
          <p:nvPr/>
        </p:nvSpPr>
        <p:spPr>
          <a:xfrm>
            <a:off x="685800" y="2359152"/>
            <a:ext cx="5120640" cy="585216"/>
          </a:xfrm>
          <a:prstGeom prst="roundRect">
            <a:avLst>
              <a:gd name="adj" fmla="val 12500"/>
            </a:avLst>
          </a:prstGeom>
          <a:solidFill>
            <a:srgbClr val="1A2231"/>
          </a:solidFill>
          <a:ln w="12700">
            <a:solidFill>
              <a:srgbClr val="232E42"/>
            </a:solidFill>
            <a:prstDash val="solid"/>
          </a:ln>
        </p:spPr>
      </p:sp>
      <p:sp>
        <p:nvSpPr>
          <p:cNvPr id="11" name="Text 8"/>
          <p:cNvSpPr txBox="1"/>
          <p:nvPr/>
        </p:nvSpPr>
        <p:spPr>
          <a:xfrm>
            <a:off x="941832" y="2514600"/>
            <a:ext cx="1554480" cy="274320"/>
          </a:xfrm>
          <a:prstGeom prst="rect">
            <a:avLst/>
          </a:prstGeom>
          <a:noFill/>
          <a:ln/>
        </p:spPr>
        <p:txBody>
          <a:bodyPr wrap="square" lIns="0" tIns="0" rIns="0" bIns="0" rtlCol="0" anchor="ctr"/>
          <a:lstStyle/>
          <a:p>
            <a:pPr indent="0" marL="0">
              <a:buNone/>
            </a:pPr>
            <a:r>
              <a:rPr lang="en-US" sz="1350" b="1" dirty="0">
                <a:solidFill>
                  <a:srgbClr val="5B9BFF"/>
                </a:solidFill>
                <a:latin typeface="Calibri" pitchFamily="34" charset="0"/>
                <a:ea typeface="Calibri" pitchFamily="34" charset="-122"/>
                <a:cs typeface="Calibri" pitchFamily="34" charset="-120"/>
              </a:rPr>
              <a:t>Render</a:t>
            </a:r>
            <a:endParaRPr lang="en-US" sz="1350" dirty="0"/>
          </a:p>
        </p:txBody>
      </p:sp>
      <p:sp>
        <p:nvSpPr>
          <p:cNvPr id="12" name="Text 9"/>
          <p:cNvSpPr txBox="1"/>
          <p:nvPr/>
        </p:nvSpPr>
        <p:spPr>
          <a:xfrm>
            <a:off x="2468880" y="2514600"/>
            <a:ext cx="3200400" cy="274320"/>
          </a:xfrm>
          <a:prstGeom prst="rect">
            <a:avLst/>
          </a:prstGeom>
          <a:noFill/>
          <a:ln/>
        </p:spPr>
        <p:txBody>
          <a:bodyPr wrap="square" lIns="0" tIns="0" rIns="0" bIns="0" rtlCol="0" anchor="ctr"/>
          <a:lstStyle/>
          <a:p>
            <a:pPr indent="0" marL="0">
              <a:buNone/>
            </a:pPr>
            <a:r>
              <a:rPr lang="en-US" sz="1200" dirty="0">
                <a:solidFill>
                  <a:srgbClr val="95A3B8"/>
                </a:solidFill>
                <a:latin typeface="Calibri" pitchFamily="34" charset="0"/>
                <a:ea typeface="Calibri" pitchFamily="34" charset="-122"/>
                <a:cs typeface="Calibri" pitchFamily="34" charset="-120"/>
              </a:rPr>
              <a:t>API en image Docker, migrations au démarrage</a:t>
            </a:r>
            <a:endParaRPr lang="en-US" sz="1200" dirty="0"/>
          </a:p>
        </p:txBody>
      </p:sp>
      <p:sp>
        <p:nvSpPr>
          <p:cNvPr id="13" name="Shape 10"/>
          <p:cNvSpPr/>
          <p:nvPr/>
        </p:nvSpPr>
        <p:spPr>
          <a:xfrm>
            <a:off x="685800" y="3072384"/>
            <a:ext cx="5120640" cy="585216"/>
          </a:xfrm>
          <a:prstGeom prst="roundRect">
            <a:avLst>
              <a:gd name="adj" fmla="val 12500"/>
            </a:avLst>
          </a:prstGeom>
          <a:solidFill>
            <a:srgbClr val="1A2231"/>
          </a:solidFill>
          <a:ln w="12700">
            <a:solidFill>
              <a:srgbClr val="232E42"/>
            </a:solidFill>
            <a:prstDash val="solid"/>
          </a:ln>
        </p:spPr>
      </p:sp>
      <p:sp>
        <p:nvSpPr>
          <p:cNvPr id="14" name="Text 11"/>
          <p:cNvSpPr txBox="1"/>
          <p:nvPr/>
        </p:nvSpPr>
        <p:spPr>
          <a:xfrm>
            <a:off x="941832" y="3227832"/>
            <a:ext cx="1554480" cy="274320"/>
          </a:xfrm>
          <a:prstGeom prst="rect">
            <a:avLst/>
          </a:prstGeom>
          <a:noFill/>
          <a:ln/>
        </p:spPr>
        <p:txBody>
          <a:bodyPr wrap="square" lIns="0" tIns="0" rIns="0" bIns="0" rtlCol="0" anchor="ctr"/>
          <a:lstStyle/>
          <a:p>
            <a:pPr indent="0" marL="0">
              <a:buNone/>
            </a:pPr>
            <a:r>
              <a:rPr lang="en-US" sz="1350" b="1" dirty="0">
                <a:solidFill>
                  <a:srgbClr val="5B9BFF"/>
                </a:solidFill>
                <a:latin typeface="Calibri" pitchFamily="34" charset="0"/>
                <a:ea typeface="Calibri" pitchFamily="34" charset="-122"/>
                <a:cs typeface="Calibri" pitchFamily="34" charset="-120"/>
              </a:rPr>
              <a:t>Vercel</a:t>
            </a:r>
            <a:endParaRPr lang="en-US" sz="1350" dirty="0"/>
          </a:p>
        </p:txBody>
      </p:sp>
      <p:sp>
        <p:nvSpPr>
          <p:cNvPr id="15" name="Text 12"/>
          <p:cNvSpPr txBox="1"/>
          <p:nvPr/>
        </p:nvSpPr>
        <p:spPr>
          <a:xfrm>
            <a:off x="2468880" y="3227832"/>
            <a:ext cx="3200400" cy="274320"/>
          </a:xfrm>
          <a:prstGeom prst="rect">
            <a:avLst/>
          </a:prstGeom>
          <a:noFill/>
          <a:ln/>
        </p:spPr>
        <p:txBody>
          <a:bodyPr wrap="square" lIns="0" tIns="0" rIns="0" bIns="0" rtlCol="0" anchor="ctr"/>
          <a:lstStyle/>
          <a:p>
            <a:pPr indent="0" marL="0">
              <a:buNone/>
            </a:pPr>
            <a:r>
              <a:rPr lang="en-US" sz="1200" dirty="0">
                <a:solidFill>
                  <a:srgbClr val="95A3B8"/>
                </a:solidFill>
                <a:latin typeface="Calibri" pitchFamily="34" charset="0"/>
                <a:ea typeface="Calibri" pitchFamily="34" charset="-122"/>
                <a:cs typeface="Calibri" pitchFamily="34" charset="-120"/>
              </a:rPr>
              <a:t>Front statique et réécritures vers l’API</a:t>
            </a:r>
            <a:endParaRPr lang="en-US" sz="1200" dirty="0"/>
          </a:p>
        </p:txBody>
      </p:sp>
      <p:sp>
        <p:nvSpPr>
          <p:cNvPr id="16" name="Shape 13"/>
          <p:cNvSpPr/>
          <p:nvPr/>
        </p:nvSpPr>
        <p:spPr>
          <a:xfrm>
            <a:off x="685800" y="3785616"/>
            <a:ext cx="5120640" cy="585216"/>
          </a:xfrm>
          <a:prstGeom prst="roundRect">
            <a:avLst>
              <a:gd name="adj" fmla="val 12500"/>
            </a:avLst>
          </a:prstGeom>
          <a:solidFill>
            <a:srgbClr val="1A2231"/>
          </a:solidFill>
          <a:ln w="12700">
            <a:solidFill>
              <a:srgbClr val="232E42"/>
            </a:solidFill>
            <a:prstDash val="solid"/>
          </a:ln>
        </p:spPr>
      </p:sp>
      <p:sp>
        <p:nvSpPr>
          <p:cNvPr id="17" name="Text 14"/>
          <p:cNvSpPr txBox="1"/>
          <p:nvPr/>
        </p:nvSpPr>
        <p:spPr>
          <a:xfrm>
            <a:off x="941832" y="3941064"/>
            <a:ext cx="1554480" cy="274320"/>
          </a:xfrm>
          <a:prstGeom prst="rect">
            <a:avLst/>
          </a:prstGeom>
          <a:noFill/>
          <a:ln/>
        </p:spPr>
        <p:txBody>
          <a:bodyPr wrap="square" lIns="0" tIns="0" rIns="0" bIns="0" rtlCol="0" anchor="ctr"/>
          <a:lstStyle/>
          <a:p>
            <a:pPr indent="0" marL="0">
              <a:buNone/>
            </a:pPr>
            <a:r>
              <a:rPr lang="en-US" sz="1350" b="1" dirty="0">
                <a:solidFill>
                  <a:srgbClr val="5B9BFF"/>
                </a:solidFill>
                <a:latin typeface="Calibri" pitchFamily="34" charset="0"/>
                <a:ea typeface="Calibri" pitchFamily="34" charset="-122"/>
                <a:cs typeface="Calibri" pitchFamily="34" charset="-120"/>
              </a:rPr>
              <a:t>UptimeRobot</a:t>
            </a:r>
            <a:endParaRPr lang="en-US" sz="1350" dirty="0"/>
          </a:p>
        </p:txBody>
      </p:sp>
      <p:sp>
        <p:nvSpPr>
          <p:cNvPr id="18" name="Text 15"/>
          <p:cNvSpPr txBox="1"/>
          <p:nvPr/>
        </p:nvSpPr>
        <p:spPr>
          <a:xfrm>
            <a:off x="2468880" y="3941064"/>
            <a:ext cx="3200400" cy="274320"/>
          </a:xfrm>
          <a:prstGeom prst="rect">
            <a:avLst/>
          </a:prstGeom>
          <a:noFill/>
          <a:ln/>
        </p:spPr>
        <p:txBody>
          <a:bodyPr wrap="square" lIns="0" tIns="0" rIns="0" bIns="0" rtlCol="0" anchor="ctr"/>
          <a:lstStyle/>
          <a:p>
            <a:pPr indent="0" marL="0">
              <a:buNone/>
            </a:pPr>
            <a:r>
              <a:rPr lang="en-US" sz="1200" dirty="0">
                <a:solidFill>
                  <a:srgbClr val="95A3B8"/>
                </a:solidFill>
                <a:latin typeface="Calibri" pitchFamily="34" charset="0"/>
                <a:ea typeface="Calibri" pitchFamily="34" charset="-122"/>
                <a:cs typeface="Calibri" pitchFamily="34" charset="-120"/>
              </a:rPr>
              <a:t>Sonde toutes les cinq minutes</a:t>
            </a:r>
            <a:endParaRPr lang="en-US" sz="1200" dirty="0"/>
          </a:p>
        </p:txBody>
      </p:sp>
      <p:sp>
        <p:nvSpPr>
          <p:cNvPr id="19" name="Shape 16"/>
          <p:cNvSpPr/>
          <p:nvPr/>
        </p:nvSpPr>
        <p:spPr>
          <a:xfrm>
            <a:off x="6172200" y="1645920"/>
            <a:ext cx="5330952" cy="2834640"/>
          </a:xfrm>
          <a:prstGeom prst="roundRect">
            <a:avLst>
              <a:gd name="adj" fmla="val 2581"/>
            </a:avLst>
          </a:prstGeom>
          <a:solidFill>
            <a:srgbClr val="1A2231"/>
          </a:solidFill>
          <a:ln w="12700">
            <a:solidFill>
              <a:srgbClr val="232E42"/>
            </a:solidFill>
            <a:prstDash val="solid"/>
          </a:ln>
        </p:spPr>
      </p:sp>
      <p:sp>
        <p:nvSpPr>
          <p:cNvPr id="20" name="Text 17"/>
          <p:cNvSpPr txBox="1"/>
          <p:nvPr/>
        </p:nvSpPr>
        <p:spPr>
          <a:xfrm>
            <a:off x="6446520" y="1874520"/>
            <a:ext cx="4782312" cy="292608"/>
          </a:xfrm>
          <a:prstGeom prst="rect">
            <a:avLst/>
          </a:prstGeom>
          <a:noFill/>
          <a:ln/>
        </p:spPr>
        <p:txBody>
          <a:bodyPr wrap="square" lIns="0" tIns="0" rIns="0" bIns="0" rtlCol="0" anchor="ctr"/>
          <a:lstStyle/>
          <a:p>
            <a:pPr indent="0" marL="0">
              <a:buNone/>
            </a:pPr>
            <a:r>
              <a:rPr lang="en-US" sz="1500" b="1" dirty="0">
                <a:solidFill>
                  <a:srgbClr val="E8EEF7"/>
                </a:solidFill>
                <a:latin typeface="Calibri" pitchFamily="34" charset="0"/>
                <a:ea typeface="Calibri" pitchFamily="34" charset="-122"/>
                <a:cs typeface="Calibri" pitchFamily="34" charset="-120"/>
              </a:rPr>
              <a:t>Quatre limites assumées</a:t>
            </a:r>
            <a:endParaRPr lang="en-US" sz="1500" dirty="0"/>
          </a:p>
        </p:txBody>
      </p:sp>
      <p:sp>
        <p:nvSpPr>
          <p:cNvPr id="21" name="Text 18"/>
          <p:cNvSpPr txBox="1"/>
          <p:nvPr/>
        </p:nvSpPr>
        <p:spPr>
          <a:xfrm>
            <a:off x="6446520" y="2286000"/>
            <a:ext cx="4782312" cy="1463040"/>
          </a:xfrm>
          <a:prstGeom prst="rect">
            <a:avLst/>
          </a:prstGeom>
          <a:noFill/>
          <a:ln/>
        </p:spPr>
        <p:txBody>
          <a:bodyPr wrap="square" lIns="0" tIns="0" rIns="0" bIns="0" rtlCol="0" anchor="ctr"/>
          <a:lstStyle/>
          <a:p>
            <a:pPr marL="177800" indent="-177800">
              <a:lnSpc>
                <a:spcPts val="2000"/>
              </a:lnSpc>
              <a:spcAft>
                <a:spcPts val="800"/>
              </a:spcAft>
              <a:buSzPct val="100000"/>
              <a:buChar char="•"/>
            </a:pPr>
            <a:r>
              <a:rPr lang="en-US" sz="1250" dirty="0">
                <a:solidFill>
                  <a:srgbClr val="95A3B8"/>
                </a:solidFill>
                <a:latin typeface="Calibri" pitchFamily="34" charset="0"/>
                <a:ea typeface="Calibri" pitchFamily="34" charset="-122"/>
                <a:cs typeface="Calibri" pitchFamily="34" charset="-120"/>
              </a:rPr>
              <a:t>Réveil à froid d’environ 50 secondes</a:t>
            </a:r>
            <a:endParaRPr lang="en-US" sz="1250" dirty="0"/>
          </a:p>
          <a:p>
            <a:pPr marL="177800" indent="-177800">
              <a:lnSpc>
                <a:spcPts val="2000"/>
              </a:lnSpc>
              <a:spcAft>
                <a:spcPts val="800"/>
              </a:spcAft>
              <a:buSzPct val="100000"/>
              <a:buChar char="•"/>
            </a:pPr>
            <a:r>
              <a:rPr lang="en-US" sz="1250" dirty="0">
                <a:solidFill>
                  <a:srgbClr val="95A3B8"/>
                </a:solidFill>
                <a:latin typeface="Calibri" pitchFamily="34" charset="0"/>
                <a:ea typeface="Calibri" pitchFamily="34" charset="-122"/>
                <a:cs typeface="Calibri" pitchFamily="34" charset="-120"/>
              </a:rPr>
              <a:t>Disque éphémère — les médias sont versionnés</a:t>
            </a:r>
            <a:endParaRPr lang="en-US" sz="1250" dirty="0"/>
          </a:p>
          <a:p>
            <a:pPr marL="177800" indent="-177800">
              <a:lnSpc>
                <a:spcPts val="2000"/>
              </a:lnSpc>
              <a:spcAft>
                <a:spcPts val="800"/>
              </a:spcAft>
              <a:buSzPct val="100000"/>
              <a:buChar char="•"/>
            </a:pPr>
            <a:r>
              <a:rPr lang="en-US" sz="1250" dirty="0">
                <a:solidFill>
                  <a:srgbClr val="95A3B8"/>
                </a:solidFill>
                <a:latin typeface="Calibri" pitchFamily="34" charset="0"/>
                <a:ea typeface="Calibri" pitchFamily="34" charset="-122"/>
                <a:cs typeface="Calibri" pitchFamily="34" charset="-120"/>
              </a:rPr>
              <a:t>Limiteur de connexion à cinq par minute</a:t>
            </a:r>
            <a:endParaRPr lang="en-US" sz="1250" dirty="0"/>
          </a:p>
          <a:p>
            <a:pPr marL="177800" indent="-177800">
              <a:lnSpc>
                <a:spcPts val="2000"/>
              </a:lnSpc>
              <a:spcAft>
                <a:spcPts val="800"/>
              </a:spcAft>
              <a:buSzPct val="100000"/>
              <a:buChar char="•"/>
            </a:pPr>
            <a:r>
              <a:rPr lang="en-US" sz="1250" dirty="0">
                <a:solidFill>
                  <a:srgbClr val="95A3B8"/>
                </a:solidFill>
                <a:latin typeface="Calibri" pitchFamily="34" charset="0"/>
                <a:ea typeface="Calibri" pitchFamily="34" charset="-122"/>
                <a:cs typeface="Calibri" pitchFamily="34" charset="-120"/>
              </a:rPr>
              <a:t>Quota quotidien du modèle distant</a:t>
            </a:r>
            <a:endParaRPr lang="en-US" sz="1250" dirty="0"/>
          </a:p>
        </p:txBody>
      </p:sp>
      <p:sp>
        <p:nvSpPr>
          <p:cNvPr id="22" name="Text 19"/>
          <p:cNvSpPr txBox="1"/>
          <p:nvPr/>
        </p:nvSpPr>
        <p:spPr>
          <a:xfrm>
            <a:off x="6446520" y="3931920"/>
            <a:ext cx="4782312" cy="365760"/>
          </a:xfrm>
          <a:prstGeom prst="rect">
            <a:avLst/>
          </a:prstGeom>
          <a:noFill/>
          <a:ln/>
        </p:spPr>
        <p:txBody>
          <a:bodyPr wrap="square" lIns="0" tIns="0" rIns="0" bIns="0" rtlCol="0" anchor="ctr"/>
          <a:lstStyle/>
          <a:p>
            <a:pPr indent="0" marL="0">
              <a:buNone/>
            </a:pPr>
            <a:r>
              <a:rPr lang="en-US" sz="1200" i="1" dirty="0">
                <a:solidFill>
                  <a:srgbClr val="6B7789"/>
                </a:solidFill>
                <a:latin typeface="Calibri" pitchFamily="34" charset="0"/>
                <a:ea typeface="Calibri" pitchFamily="34" charset="-122"/>
                <a:cs typeface="Calibri" pitchFamily="34" charset="-120"/>
              </a:rPr>
              <a:t>Toutes tiennent au palier gratuit, aucune à la conception.</a:t>
            </a:r>
            <a:endParaRPr lang="en-US" sz="1200" dirty="0"/>
          </a:p>
        </p:txBody>
      </p:sp>
      <p:sp>
        <p:nvSpPr>
          <p:cNvPr id="23" name="Shape 20"/>
          <p:cNvSpPr/>
          <p:nvPr/>
        </p:nvSpPr>
        <p:spPr>
          <a:xfrm>
            <a:off x="685800" y="4709160"/>
            <a:ext cx="10820095" cy="914400"/>
          </a:xfrm>
          <a:prstGeom prst="roundRect">
            <a:avLst>
              <a:gd name="adj" fmla="val 8000"/>
            </a:avLst>
          </a:prstGeom>
          <a:solidFill>
            <a:srgbClr val="1B3358"/>
          </a:solidFill>
          <a:ln w="12700">
            <a:solidFill>
              <a:srgbClr val="232E42"/>
            </a:solidFill>
            <a:prstDash val="solid"/>
          </a:ln>
        </p:spPr>
      </p:sp>
      <p:sp>
        <p:nvSpPr>
          <p:cNvPr id="24" name="Text 21"/>
          <p:cNvSpPr txBox="1"/>
          <p:nvPr/>
        </p:nvSpPr>
        <p:spPr>
          <a:xfrm>
            <a:off x="978408" y="4864608"/>
            <a:ext cx="4572000" cy="274320"/>
          </a:xfrm>
          <a:prstGeom prst="rect">
            <a:avLst/>
          </a:prstGeom>
          <a:noFill/>
          <a:ln/>
        </p:spPr>
        <p:txBody>
          <a:bodyPr wrap="square" lIns="0" tIns="0" rIns="0" bIns="0" rtlCol="0" anchor="ctr"/>
          <a:lstStyle/>
          <a:p>
            <a:pPr indent="0" marL="0">
              <a:buNone/>
            </a:pPr>
            <a:r>
              <a:rPr lang="en-US" sz="1400" b="1" dirty="0">
                <a:solidFill>
                  <a:srgbClr val="5B9BFF"/>
                </a:solidFill>
                <a:latin typeface="Calibri" pitchFamily="34" charset="0"/>
                <a:ea typeface="Calibri" pitchFamily="34" charset="-122"/>
                <a:cs typeface="Calibri" pitchFamily="34" charset="-120"/>
              </a:rPr>
              <a:t>La dégradation reste propre</a:t>
            </a:r>
            <a:endParaRPr lang="en-US" sz="1400" dirty="0"/>
          </a:p>
        </p:txBody>
      </p:sp>
      <p:sp>
        <p:nvSpPr>
          <p:cNvPr id="25" name="Text 22"/>
          <p:cNvSpPr txBox="1"/>
          <p:nvPr/>
        </p:nvSpPr>
        <p:spPr>
          <a:xfrm>
            <a:off x="978408" y="5193792"/>
            <a:ext cx="10234879" cy="365760"/>
          </a:xfrm>
          <a:prstGeom prst="rect">
            <a:avLst/>
          </a:prstGeom>
          <a:noFill/>
          <a:ln/>
        </p:spPr>
        <p:txBody>
          <a:bodyPr wrap="square" lIns="0" tIns="0" rIns="0" bIns="0" rtlCol="0" anchor="ctr"/>
          <a:lstStyle/>
          <a:p>
            <a:pPr indent="0" marL="0">
              <a:buNone/>
            </a:pPr>
            <a:r>
              <a:rPr lang="en-US" sz="1300" dirty="0">
                <a:solidFill>
                  <a:srgbClr val="E8EEF7"/>
                </a:solidFill>
                <a:latin typeface="Calibri" pitchFamily="34" charset="0"/>
                <a:ea typeface="Calibri" pitchFamily="34" charset="-122"/>
                <a:cs typeface="Calibri" pitchFamily="34" charset="-120"/>
              </a:rPr>
              <a:t>Quota épuisé, l’assistant retombe sur son moteur déterministe et continue de répondre. L’étage distant est un confort, pas une dépendance.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685800" y="384048"/>
            <a:ext cx="10820095" cy="237744"/>
          </a:xfrm>
          <a:prstGeom prst="rect">
            <a:avLst/>
          </a:prstGeom>
          <a:noFill/>
          <a:ln/>
        </p:spPr>
        <p:txBody>
          <a:bodyPr wrap="square" lIns="0" tIns="0" rIns="0" bIns="0" rtlCol="0" anchor="ctr"/>
          <a:lstStyle/>
          <a:p>
            <a:pPr indent="0" marL="0">
              <a:buNone/>
            </a:pPr>
            <a:r>
              <a:rPr lang="en-US" sz="1100" b="1" spc="200" kern="0" dirty="0">
                <a:solidFill>
                  <a:srgbClr val="5B9BFF"/>
                </a:solidFill>
                <a:latin typeface="Calibri" pitchFamily="34" charset="0"/>
                <a:ea typeface="Calibri" pitchFamily="34" charset="-122"/>
                <a:cs typeface="Calibri" pitchFamily="34" charset="-120"/>
              </a:rPr>
              <a:t>14 — BILAN</a:t>
            </a:r>
            <a:endParaRPr lang="en-US" sz="1100" dirty="0"/>
          </a:p>
        </p:txBody>
      </p:sp>
      <p:sp>
        <p:nvSpPr>
          <p:cNvPr id="3" name="Text 1"/>
          <p:cNvSpPr txBox="1"/>
          <p:nvPr/>
        </p:nvSpPr>
        <p:spPr>
          <a:xfrm>
            <a:off x="685800" y="658368"/>
            <a:ext cx="9997135" cy="777240"/>
          </a:xfrm>
          <a:prstGeom prst="rect">
            <a:avLst/>
          </a:prstGeom>
          <a:noFill/>
          <a:ln/>
        </p:spPr>
        <p:txBody>
          <a:bodyPr wrap="square" lIns="0" tIns="0" rIns="0" bIns="0" rtlCol="0" anchor="t"/>
          <a:lstStyle/>
          <a:p>
            <a:pPr indent="0" marL="0">
              <a:buNone/>
            </a:pPr>
            <a:r>
              <a:rPr lang="en-US" sz="3200" b="1" dirty="0">
                <a:solidFill>
                  <a:srgbClr val="E8EEF7"/>
                </a:solidFill>
                <a:latin typeface="Calibri" pitchFamily="34" charset="0"/>
                <a:ea typeface="Calibri" pitchFamily="34" charset="-122"/>
                <a:cs typeface="Calibri" pitchFamily="34" charset="-120"/>
              </a:rPr>
              <a:t>Ce que le projet nous a appris</a:t>
            </a:r>
            <a:endParaRPr lang="en-US" sz="3200" dirty="0"/>
          </a:p>
        </p:txBody>
      </p:sp>
      <p:sp>
        <p:nvSpPr>
          <p:cNvPr id="4" name="Shape 2"/>
          <p:cNvSpPr/>
          <p:nvPr/>
        </p:nvSpPr>
        <p:spPr>
          <a:xfrm>
            <a:off x="11292840" y="6144768"/>
            <a:ext cx="365760" cy="365760"/>
          </a:xfrm>
          <a:prstGeom prst="ellipse">
            <a:avLst/>
          </a:prstGeom>
          <a:solidFill>
            <a:srgbClr val="232E42"/>
          </a:solidFill>
          <a:ln w="12700">
            <a:solidFill>
              <a:srgbClr val="232E42"/>
            </a:solidFill>
            <a:prstDash val="solid"/>
          </a:ln>
        </p:spPr>
      </p:sp>
      <p:sp>
        <p:nvSpPr>
          <p:cNvPr id="5" name="Text 3"/>
          <p:cNvSpPr txBox="1"/>
          <p:nvPr/>
        </p:nvSpPr>
        <p:spPr>
          <a:xfrm>
            <a:off x="11292840" y="6144768"/>
            <a:ext cx="365760" cy="365760"/>
          </a:xfrm>
          <a:prstGeom prst="rect">
            <a:avLst/>
          </a:prstGeom>
          <a:noFill/>
          <a:ln/>
        </p:spPr>
        <p:txBody>
          <a:bodyPr wrap="square" lIns="0" tIns="0" rIns="0" bIns="0" rtlCol="0" anchor="ctr"/>
          <a:lstStyle/>
          <a:p>
            <a:pPr algn="ctr" indent="0" marL="0">
              <a:buNone/>
            </a:pPr>
            <a:r>
              <a:rPr lang="en-US" sz="1100" b="1" dirty="0">
                <a:solidFill>
                  <a:srgbClr val="95A3B8"/>
                </a:solidFill>
                <a:latin typeface="Calibri" pitchFamily="34" charset="0"/>
                <a:ea typeface="Calibri" pitchFamily="34" charset="-122"/>
                <a:cs typeface="Calibri" pitchFamily="34" charset="-120"/>
              </a:rPr>
              <a:t>18</a:t>
            </a:r>
            <a:endParaRPr lang="en-US" sz="1100" dirty="0"/>
          </a:p>
        </p:txBody>
      </p:sp>
      <p:sp>
        <p:nvSpPr>
          <p:cNvPr id="7" name="Shape 4"/>
          <p:cNvSpPr/>
          <p:nvPr/>
        </p:nvSpPr>
        <p:spPr>
          <a:xfrm>
            <a:off x="685800" y="1627632"/>
            <a:ext cx="3401568" cy="2651760"/>
          </a:xfrm>
          <a:prstGeom prst="roundRect">
            <a:avLst>
              <a:gd name="adj" fmla="val 2759"/>
            </a:avLst>
          </a:prstGeom>
          <a:solidFill>
            <a:srgbClr val="1A2231"/>
          </a:solidFill>
          <a:ln w="12700">
            <a:solidFill>
              <a:srgbClr val="232E42"/>
            </a:solidFill>
            <a:prstDash val="solid"/>
          </a:ln>
        </p:spPr>
      </p:sp>
      <p:sp>
        <p:nvSpPr>
          <p:cNvPr id="8" name="Text 5"/>
          <p:cNvSpPr txBox="1"/>
          <p:nvPr/>
        </p:nvSpPr>
        <p:spPr>
          <a:xfrm>
            <a:off x="960120" y="1874520"/>
            <a:ext cx="2852928" cy="685800"/>
          </a:xfrm>
          <a:prstGeom prst="rect">
            <a:avLst/>
          </a:prstGeom>
          <a:noFill/>
          <a:ln/>
        </p:spPr>
        <p:txBody>
          <a:bodyPr wrap="square" lIns="0" tIns="0" rIns="0" bIns="0" rtlCol="0" anchor="ctr"/>
          <a:lstStyle/>
          <a:p>
            <a:pPr indent="0" marL="0">
              <a:lnSpc>
                <a:spcPts val="2100"/>
              </a:lnSpc>
              <a:buNone/>
            </a:pPr>
            <a:r>
              <a:rPr lang="en-US" sz="1550" b="1" dirty="0">
                <a:solidFill>
                  <a:srgbClr val="5B9BFF"/>
                </a:solidFill>
                <a:latin typeface="Calibri" pitchFamily="34" charset="0"/>
                <a:ea typeface="Calibri" pitchFamily="34" charset="-122"/>
                <a:cs typeface="Calibri" pitchFamily="34" charset="-120"/>
              </a:rPr>
              <a:t>Mesurer avant d’affirmer</a:t>
            </a:r>
            <a:endParaRPr lang="en-US" sz="1550" dirty="0"/>
          </a:p>
        </p:txBody>
      </p:sp>
      <p:sp>
        <p:nvSpPr>
          <p:cNvPr id="9" name="Text 6"/>
          <p:cNvSpPr txBox="1"/>
          <p:nvPr/>
        </p:nvSpPr>
        <p:spPr>
          <a:xfrm>
            <a:off x="960120" y="2651760"/>
            <a:ext cx="2852928" cy="1417320"/>
          </a:xfrm>
          <a:prstGeom prst="rect">
            <a:avLst/>
          </a:prstGeom>
          <a:noFill/>
          <a:ln/>
        </p:spPr>
        <p:txBody>
          <a:bodyPr wrap="square" lIns="0" tIns="0" rIns="0" bIns="0" rtlCol="0" anchor="ctr"/>
          <a:lstStyle/>
          <a:p>
            <a:pPr indent="0" marL="0">
              <a:lnSpc>
                <a:spcPts val="1800"/>
              </a:lnSpc>
              <a:buNone/>
            </a:pPr>
            <a:r>
              <a:rPr lang="en-US" sz="1250" dirty="0">
                <a:solidFill>
                  <a:srgbClr val="95A3B8"/>
                </a:solidFill>
                <a:latin typeface="Calibri" pitchFamily="34" charset="0"/>
                <a:ea typeface="Calibri" pitchFamily="34" charset="-122"/>
                <a:cs typeface="Calibri" pitchFamily="34" charset="-120"/>
              </a:rPr>
              <a:t>Plusieurs diagnostics initiaux se sont révélés faux. À chaque fois, c’est une mesure qui a tranché — et souvent une mesure qu’il a d’abord fallu rendre possible.</a:t>
            </a:r>
            <a:endParaRPr lang="en-US" sz="1250" dirty="0"/>
          </a:p>
        </p:txBody>
      </p:sp>
      <p:sp>
        <p:nvSpPr>
          <p:cNvPr id="10" name="Shape 7"/>
          <p:cNvSpPr/>
          <p:nvPr/>
        </p:nvSpPr>
        <p:spPr>
          <a:xfrm>
            <a:off x="4361688" y="1627632"/>
            <a:ext cx="3401568" cy="2651760"/>
          </a:xfrm>
          <a:prstGeom prst="roundRect">
            <a:avLst>
              <a:gd name="adj" fmla="val 2759"/>
            </a:avLst>
          </a:prstGeom>
          <a:solidFill>
            <a:srgbClr val="1A2231"/>
          </a:solidFill>
          <a:ln w="12700">
            <a:solidFill>
              <a:srgbClr val="232E42"/>
            </a:solidFill>
            <a:prstDash val="solid"/>
          </a:ln>
        </p:spPr>
      </p:sp>
      <p:sp>
        <p:nvSpPr>
          <p:cNvPr id="11" name="Text 8"/>
          <p:cNvSpPr txBox="1"/>
          <p:nvPr/>
        </p:nvSpPr>
        <p:spPr>
          <a:xfrm>
            <a:off x="4636008" y="1874520"/>
            <a:ext cx="2852928" cy="685800"/>
          </a:xfrm>
          <a:prstGeom prst="rect">
            <a:avLst/>
          </a:prstGeom>
          <a:noFill/>
          <a:ln/>
        </p:spPr>
        <p:txBody>
          <a:bodyPr wrap="square" lIns="0" tIns="0" rIns="0" bIns="0" rtlCol="0" anchor="ctr"/>
          <a:lstStyle/>
          <a:p>
            <a:pPr indent="0" marL="0">
              <a:lnSpc>
                <a:spcPts val="2100"/>
              </a:lnSpc>
              <a:buNone/>
            </a:pPr>
            <a:r>
              <a:rPr lang="en-US" sz="1550" b="1" dirty="0">
                <a:solidFill>
                  <a:srgbClr val="5B9BFF"/>
                </a:solidFill>
                <a:latin typeface="Calibri" pitchFamily="34" charset="0"/>
                <a:ea typeface="Calibri" pitchFamily="34" charset="-122"/>
                <a:cs typeface="Calibri" pitchFamily="34" charset="-120"/>
              </a:rPr>
              <a:t>Un journal muet coûte des heures</a:t>
            </a:r>
            <a:endParaRPr lang="en-US" sz="1550" dirty="0"/>
          </a:p>
        </p:txBody>
      </p:sp>
      <p:sp>
        <p:nvSpPr>
          <p:cNvPr id="12" name="Text 9"/>
          <p:cNvSpPr txBox="1"/>
          <p:nvPr/>
        </p:nvSpPr>
        <p:spPr>
          <a:xfrm>
            <a:off x="4636008" y="2651760"/>
            <a:ext cx="2852928" cy="1417320"/>
          </a:xfrm>
          <a:prstGeom prst="rect">
            <a:avLst/>
          </a:prstGeom>
          <a:noFill/>
          <a:ln/>
        </p:spPr>
        <p:txBody>
          <a:bodyPr wrap="square" lIns="0" tIns="0" rIns="0" bIns="0" rtlCol="0" anchor="ctr"/>
          <a:lstStyle/>
          <a:p>
            <a:pPr indent="0" marL="0">
              <a:lnSpc>
                <a:spcPts val="1800"/>
              </a:lnSpc>
              <a:buNone/>
            </a:pPr>
            <a:r>
              <a:rPr lang="en-US" sz="1250" dirty="0">
                <a:solidFill>
                  <a:srgbClr val="95A3B8"/>
                </a:solidFill>
                <a:latin typeface="Calibri" pitchFamily="34" charset="0"/>
                <a:ea typeface="Calibri" pitchFamily="34" charset="-122"/>
                <a:cs typeface="Calibri" pitchFamily="34" charset="-120"/>
              </a:rPr>
              <a:t>Le même défaut est apparu trois fois. La correction fut identique : joindre la cause, sans jamais joindre le secret.</a:t>
            </a:r>
            <a:endParaRPr lang="en-US" sz="1250" dirty="0"/>
          </a:p>
        </p:txBody>
      </p:sp>
      <p:sp>
        <p:nvSpPr>
          <p:cNvPr id="13" name="Shape 10"/>
          <p:cNvSpPr/>
          <p:nvPr/>
        </p:nvSpPr>
        <p:spPr>
          <a:xfrm>
            <a:off x="8037576" y="1627632"/>
            <a:ext cx="3401568" cy="2651760"/>
          </a:xfrm>
          <a:prstGeom prst="roundRect">
            <a:avLst>
              <a:gd name="adj" fmla="val 2759"/>
            </a:avLst>
          </a:prstGeom>
          <a:solidFill>
            <a:srgbClr val="1A2231"/>
          </a:solidFill>
          <a:ln w="12700">
            <a:solidFill>
              <a:srgbClr val="232E42"/>
            </a:solidFill>
            <a:prstDash val="solid"/>
          </a:ln>
        </p:spPr>
      </p:sp>
      <p:sp>
        <p:nvSpPr>
          <p:cNvPr id="14" name="Text 11"/>
          <p:cNvSpPr txBox="1"/>
          <p:nvPr/>
        </p:nvSpPr>
        <p:spPr>
          <a:xfrm>
            <a:off x="8311896" y="1874520"/>
            <a:ext cx="2852928" cy="685800"/>
          </a:xfrm>
          <a:prstGeom prst="rect">
            <a:avLst/>
          </a:prstGeom>
          <a:noFill/>
          <a:ln/>
        </p:spPr>
        <p:txBody>
          <a:bodyPr wrap="square" lIns="0" tIns="0" rIns="0" bIns="0" rtlCol="0" anchor="ctr"/>
          <a:lstStyle/>
          <a:p>
            <a:pPr indent="0" marL="0">
              <a:lnSpc>
                <a:spcPts val="2100"/>
              </a:lnSpc>
              <a:buNone/>
            </a:pPr>
            <a:r>
              <a:rPr lang="en-US" sz="1550" b="1" dirty="0">
                <a:solidFill>
                  <a:srgbClr val="5B9BFF"/>
                </a:solidFill>
                <a:latin typeface="Calibri" pitchFamily="34" charset="0"/>
                <a:ea typeface="Calibri" pitchFamily="34" charset="-122"/>
                <a:cs typeface="Calibri" pitchFamily="34" charset="-120"/>
              </a:rPr>
              <a:t>Ce qui ne s’exécute que d’un côté n’est pas testé</a:t>
            </a:r>
            <a:endParaRPr lang="en-US" sz="1550" dirty="0"/>
          </a:p>
        </p:txBody>
      </p:sp>
      <p:sp>
        <p:nvSpPr>
          <p:cNvPr id="15" name="Text 12"/>
          <p:cNvSpPr txBox="1"/>
          <p:nvPr/>
        </p:nvSpPr>
        <p:spPr>
          <a:xfrm>
            <a:off x="8311896" y="2651760"/>
            <a:ext cx="2852928" cy="1417320"/>
          </a:xfrm>
          <a:prstGeom prst="rect">
            <a:avLst/>
          </a:prstGeom>
          <a:noFill/>
          <a:ln/>
        </p:spPr>
        <p:txBody>
          <a:bodyPr wrap="square" lIns="0" tIns="0" rIns="0" bIns="0" rtlCol="0" anchor="ctr"/>
          <a:lstStyle/>
          <a:p>
            <a:pPr indent="0" marL="0">
              <a:lnSpc>
                <a:spcPts val="1800"/>
              </a:lnSpc>
              <a:buNone/>
            </a:pPr>
            <a:r>
              <a:rPr lang="en-US" sz="1250" dirty="0">
                <a:solidFill>
                  <a:srgbClr val="95A3B8"/>
                </a:solidFill>
                <a:latin typeface="Calibri" pitchFamily="34" charset="0"/>
                <a:ea typeface="Calibri" pitchFamily="34" charset="-122"/>
                <a:cs typeface="Calibri" pitchFamily="34" charset="-120"/>
              </a:rPr>
              <a:t>Six défauts vivaient dans le chemin distant de l’assistant. Le déploiement est un environnement d’exécution à part entière.</a:t>
            </a:r>
            <a:endParaRPr lang="en-US" sz="1250" dirty="0"/>
          </a:p>
        </p:txBody>
      </p:sp>
      <p:sp>
        <p:nvSpPr>
          <p:cNvPr id="16" name="Text 13"/>
          <p:cNvSpPr txBox="1"/>
          <p:nvPr/>
        </p:nvSpPr>
        <p:spPr>
          <a:xfrm>
            <a:off x="685800" y="4572000"/>
            <a:ext cx="10820095" cy="292608"/>
          </a:xfrm>
          <a:prstGeom prst="rect">
            <a:avLst/>
          </a:prstGeom>
          <a:noFill/>
          <a:ln/>
        </p:spPr>
        <p:txBody>
          <a:bodyPr wrap="square" lIns="0" tIns="0" rIns="0" bIns="0" rtlCol="0" anchor="ctr"/>
          <a:lstStyle/>
          <a:p>
            <a:pPr indent="0" marL="0">
              <a:buNone/>
            </a:pPr>
            <a:r>
              <a:rPr lang="en-US" sz="1500" b="1" dirty="0">
                <a:solidFill>
                  <a:srgbClr val="E8EEF7"/>
                </a:solidFill>
                <a:latin typeface="Calibri" pitchFamily="34" charset="0"/>
                <a:ea typeface="Calibri" pitchFamily="34" charset="-122"/>
                <a:cs typeface="Calibri" pitchFamily="34" charset="-120"/>
              </a:rPr>
              <a:t>Compétences mobilisées</a:t>
            </a:r>
            <a:endParaRPr lang="en-US" sz="1500" dirty="0"/>
          </a:p>
        </p:txBody>
      </p:sp>
      <p:sp>
        <p:nvSpPr>
          <p:cNvPr id="17" name="Text 14"/>
          <p:cNvSpPr txBox="1"/>
          <p:nvPr/>
        </p:nvSpPr>
        <p:spPr>
          <a:xfrm>
            <a:off x="685800" y="4956048"/>
            <a:ext cx="10820095" cy="822960"/>
          </a:xfrm>
          <a:prstGeom prst="rect">
            <a:avLst/>
          </a:prstGeom>
          <a:noFill/>
          <a:ln/>
        </p:spPr>
        <p:txBody>
          <a:bodyPr wrap="square" lIns="0" tIns="0" rIns="0" bIns="0" rtlCol="0" anchor="ctr"/>
          <a:lstStyle/>
          <a:p>
            <a:pPr indent="0" marL="0">
              <a:lnSpc>
                <a:spcPts val="2100"/>
              </a:lnSpc>
              <a:buNone/>
            </a:pPr>
            <a:r>
              <a:rPr lang="en-US" sz="1300" dirty="0">
                <a:solidFill>
                  <a:srgbClr val="95A3B8"/>
                </a:solidFill>
                <a:latin typeface="Calibri" pitchFamily="34" charset="0"/>
                <a:ea typeface="Calibri" pitchFamily="34" charset="-122"/>
                <a:cs typeface="Calibri" pitchFamily="34" charset="-120"/>
              </a:rPr>
              <a:t>Modélisation avancée et contraintes d’intégrité  ·  Concurrence et transactions  ·  Conception d’API  ·  React et accessibilité  ·  Recherche d’information et vectorisation  ·  Intégration de modèles de langage  ·  Qualité logicielle  ·  Déploiement et diagnostic à distance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685800" y="384048"/>
            <a:ext cx="10820095" cy="237744"/>
          </a:xfrm>
          <a:prstGeom prst="rect">
            <a:avLst/>
          </a:prstGeom>
          <a:noFill/>
          <a:ln/>
        </p:spPr>
        <p:txBody>
          <a:bodyPr wrap="square" lIns="0" tIns="0" rIns="0" bIns="0" rtlCol="0" anchor="ctr"/>
          <a:lstStyle/>
          <a:p>
            <a:pPr indent="0" marL="0">
              <a:buNone/>
            </a:pPr>
            <a:r>
              <a:rPr lang="en-US" sz="1100" b="1" spc="200" kern="0" dirty="0">
                <a:solidFill>
                  <a:srgbClr val="5B9BFF"/>
                </a:solidFill>
                <a:latin typeface="Calibri" pitchFamily="34" charset="0"/>
                <a:ea typeface="Calibri" pitchFamily="34" charset="-122"/>
                <a:cs typeface="Calibri" pitchFamily="34" charset="-120"/>
              </a:rPr>
              <a:t>15 — CONCLUSION</a:t>
            </a:r>
            <a:endParaRPr lang="en-US" sz="1100" dirty="0"/>
          </a:p>
        </p:txBody>
      </p:sp>
      <p:sp>
        <p:nvSpPr>
          <p:cNvPr id="3" name="Text 1"/>
          <p:cNvSpPr txBox="1"/>
          <p:nvPr/>
        </p:nvSpPr>
        <p:spPr>
          <a:xfrm>
            <a:off x="685800" y="658368"/>
            <a:ext cx="9997135" cy="777240"/>
          </a:xfrm>
          <a:prstGeom prst="rect">
            <a:avLst/>
          </a:prstGeom>
          <a:noFill/>
          <a:ln/>
        </p:spPr>
        <p:txBody>
          <a:bodyPr wrap="square" lIns="0" tIns="0" rIns="0" bIns="0" rtlCol="0" anchor="t"/>
          <a:lstStyle/>
          <a:p>
            <a:pPr indent="0" marL="0">
              <a:buNone/>
            </a:pPr>
            <a:r>
              <a:rPr lang="en-US" sz="3200" b="1" dirty="0">
                <a:solidFill>
                  <a:srgbClr val="E8EEF7"/>
                </a:solidFill>
                <a:latin typeface="Calibri" pitchFamily="34" charset="0"/>
                <a:ea typeface="Calibri" pitchFamily="34" charset="-122"/>
                <a:cs typeface="Calibri" pitchFamily="34" charset="-120"/>
              </a:rPr>
              <a:t>Six objectifs sur sept pleinement atteints</a:t>
            </a:r>
            <a:endParaRPr lang="en-US" sz="3200" dirty="0"/>
          </a:p>
        </p:txBody>
      </p:sp>
      <p:sp>
        <p:nvSpPr>
          <p:cNvPr id="4" name="Shape 2"/>
          <p:cNvSpPr/>
          <p:nvPr/>
        </p:nvSpPr>
        <p:spPr>
          <a:xfrm>
            <a:off x="11292840" y="6144768"/>
            <a:ext cx="365760" cy="365760"/>
          </a:xfrm>
          <a:prstGeom prst="ellipse">
            <a:avLst/>
          </a:prstGeom>
          <a:solidFill>
            <a:srgbClr val="232E42"/>
          </a:solidFill>
          <a:ln w="12700">
            <a:solidFill>
              <a:srgbClr val="232E42"/>
            </a:solidFill>
            <a:prstDash val="solid"/>
          </a:ln>
        </p:spPr>
      </p:sp>
      <p:sp>
        <p:nvSpPr>
          <p:cNvPr id="5" name="Text 3"/>
          <p:cNvSpPr txBox="1"/>
          <p:nvPr/>
        </p:nvSpPr>
        <p:spPr>
          <a:xfrm>
            <a:off x="11292840" y="6144768"/>
            <a:ext cx="365760" cy="365760"/>
          </a:xfrm>
          <a:prstGeom prst="rect">
            <a:avLst/>
          </a:prstGeom>
          <a:noFill/>
          <a:ln/>
        </p:spPr>
        <p:txBody>
          <a:bodyPr wrap="square" lIns="0" tIns="0" rIns="0" bIns="0" rtlCol="0" anchor="ctr"/>
          <a:lstStyle/>
          <a:p>
            <a:pPr algn="ctr" indent="0" marL="0">
              <a:buNone/>
            </a:pPr>
            <a:r>
              <a:rPr lang="en-US" sz="1100" b="1" dirty="0">
                <a:solidFill>
                  <a:srgbClr val="95A3B8"/>
                </a:solidFill>
                <a:latin typeface="Calibri" pitchFamily="34" charset="0"/>
                <a:ea typeface="Calibri" pitchFamily="34" charset="-122"/>
                <a:cs typeface="Calibri" pitchFamily="34" charset="-120"/>
              </a:rPr>
              <a:t>19</a:t>
            </a:r>
            <a:endParaRPr lang="en-US" sz="1100" dirty="0"/>
          </a:p>
        </p:txBody>
      </p:sp>
      <p:sp>
        <p:nvSpPr>
          <p:cNvPr id="7" name="Shape 4"/>
          <p:cNvSpPr/>
          <p:nvPr/>
        </p:nvSpPr>
        <p:spPr>
          <a:xfrm>
            <a:off x="685800" y="1627632"/>
            <a:ext cx="5120640" cy="2468880"/>
          </a:xfrm>
          <a:prstGeom prst="roundRect">
            <a:avLst>
              <a:gd name="adj" fmla="val 2963"/>
            </a:avLst>
          </a:prstGeom>
          <a:solidFill>
            <a:srgbClr val="1A2231"/>
          </a:solidFill>
          <a:ln w="12700">
            <a:solidFill>
              <a:srgbClr val="232E42"/>
            </a:solidFill>
            <a:prstDash val="solid"/>
          </a:ln>
        </p:spPr>
      </p:sp>
      <p:sp>
        <p:nvSpPr>
          <p:cNvPr id="8" name="Text 5"/>
          <p:cNvSpPr txBox="1"/>
          <p:nvPr/>
        </p:nvSpPr>
        <p:spPr>
          <a:xfrm>
            <a:off x="960120" y="1847088"/>
            <a:ext cx="4572000" cy="292608"/>
          </a:xfrm>
          <a:prstGeom prst="rect">
            <a:avLst/>
          </a:prstGeom>
          <a:noFill/>
          <a:ln/>
        </p:spPr>
        <p:txBody>
          <a:bodyPr wrap="square" lIns="0" tIns="0" rIns="0" bIns="0" rtlCol="0" anchor="ctr"/>
          <a:lstStyle/>
          <a:p>
            <a:pPr indent="0" marL="0">
              <a:buNone/>
            </a:pPr>
            <a:r>
              <a:rPr lang="en-US" sz="1500" b="1" dirty="0">
                <a:solidFill>
                  <a:srgbClr val="E8EEF7"/>
                </a:solidFill>
                <a:latin typeface="Calibri" pitchFamily="34" charset="0"/>
                <a:ea typeface="Calibri" pitchFamily="34" charset="-122"/>
                <a:cs typeface="Calibri" pitchFamily="34" charset="-120"/>
              </a:rPr>
              <a:t>Ce que nous livrons</a:t>
            </a:r>
            <a:endParaRPr lang="en-US" sz="1500" dirty="0"/>
          </a:p>
        </p:txBody>
      </p:sp>
      <p:sp>
        <p:nvSpPr>
          <p:cNvPr id="9" name="Text 6"/>
          <p:cNvSpPr txBox="1"/>
          <p:nvPr/>
        </p:nvSpPr>
        <p:spPr>
          <a:xfrm>
            <a:off x="960120" y="2267712"/>
            <a:ext cx="4572000" cy="1645920"/>
          </a:xfrm>
          <a:prstGeom prst="rect">
            <a:avLst/>
          </a:prstGeom>
          <a:noFill/>
          <a:ln/>
        </p:spPr>
        <p:txBody>
          <a:bodyPr wrap="square" lIns="0" tIns="0" rIns="0" bIns="0" rtlCol="0" anchor="ctr"/>
          <a:lstStyle/>
          <a:p>
            <a:pPr marL="177800" indent="-177800">
              <a:lnSpc>
                <a:spcPts val="2000"/>
              </a:lnSpc>
              <a:spcAft>
                <a:spcPts val="800"/>
              </a:spcAft>
              <a:buSzPct val="100000"/>
              <a:buChar char="•"/>
            </a:pPr>
            <a:r>
              <a:rPr lang="en-US" sz="1300" dirty="0">
                <a:solidFill>
                  <a:srgbClr val="95A3B8"/>
                </a:solidFill>
                <a:latin typeface="Calibri" pitchFamily="34" charset="0"/>
                <a:ea typeface="Calibri" pitchFamily="34" charset="-122"/>
                <a:cs typeface="Calibri" pitchFamily="34" charset="-120"/>
              </a:rPr>
              <a:t>Une garantie d’intégrité portée par la base</a:t>
            </a:r>
            <a:endParaRPr lang="en-US" sz="1300" dirty="0"/>
          </a:p>
          <a:p>
            <a:pPr marL="177800" indent="-177800">
              <a:lnSpc>
                <a:spcPts val="2000"/>
              </a:lnSpc>
              <a:spcAft>
                <a:spcPts val="800"/>
              </a:spcAft>
              <a:buSzPct val="100000"/>
              <a:buChar char="•"/>
            </a:pPr>
            <a:r>
              <a:rPr lang="en-US" sz="1300" dirty="0">
                <a:solidFill>
                  <a:srgbClr val="95A3B8"/>
                </a:solidFill>
                <a:latin typeface="Calibri" pitchFamily="34" charset="0"/>
                <a:ea typeface="Calibri" pitchFamily="34" charset="-122"/>
                <a:cs typeface="Calibri" pitchFamily="34" charset="-120"/>
              </a:rPr>
              <a:t>Une couche métier pure, prouvée à 100 %</a:t>
            </a:r>
            <a:endParaRPr lang="en-US" sz="1300" dirty="0"/>
          </a:p>
          <a:p>
            <a:pPr marL="177800" indent="-177800">
              <a:lnSpc>
                <a:spcPts val="2000"/>
              </a:lnSpc>
              <a:spcAft>
                <a:spcPts val="800"/>
              </a:spcAft>
              <a:buSzPct val="100000"/>
              <a:buChar char="•"/>
            </a:pPr>
            <a:r>
              <a:rPr lang="en-US" sz="1300" dirty="0">
                <a:solidFill>
                  <a:srgbClr val="95A3B8"/>
                </a:solidFill>
                <a:latin typeface="Calibri" pitchFamily="34" charset="0"/>
                <a:ea typeface="Calibri" pitchFamily="34" charset="-122"/>
                <a:cs typeface="Calibri" pitchFamily="34" charset="-120"/>
              </a:rPr>
              <a:t>Deux briques Data &amp; IA réellement fonctionnelles</a:t>
            </a:r>
            <a:endParaRPr lang="en-US" sz="1300" dirty="0"/>
          </a:p>
          <a:p>
            <a:pPr marL="177800" indent="-177800">
              <a:lnSpc>
                <a:spcPts val="2000"/>
              </a:lnSpc>
              <a:spcAft>
                <a:spcPts val="800"/>
              </a:spcAft>
              <a:buSzPct val="100000"/>
              <a:buChar char="•"/>
            </a:pPr>
            <a:r>
              <a:rPr lang="en-US" sz="1300" dirty="0">
                <a:solidFill>
                  <a:srgbClr val="95A3B8"/>
                </a:solidFill>
                <a:latin typeface="Calibri" pitchFamily="34" charset="0"/>
                <a:ea typeface="Calibri" pitchFamily="34" charset="-122"/>
                <a:cs typeface="Calibri" pitchFamily="34" charset="-120"/>
              </a:rPr>
              <a:t>Un déploiement complet, supervisé, gratuit</a:t>
            </a:r>
            <a:endParaRPr lang="en-US" sz="1300" dirty="0"/>
          </a:p>
        </p:txBody>
      </p:sp>
      <p:sp>
        <p:nvSpPr>
          <p:cNvPr id="10" name="Shape 7"/>
          <p:cNvSpPr/>
          <p:nvPr/>
        </p:nvSpPr>
        <p:spPr>
          <a:xfrm>
            <a:off x="6172200" y="1627632"/>
            <a:ext cx="5330952" cy="2468880"/>
          </a:xfrm>
          <a:prstGeom prst="roundRect">
            <a:avLst>
              <a:gd name="adj" fmla="val 2963"/>
            </a:avLst>
          </a:prstGeom>
          <a:solidFill>
            <a:srgbClr val="1A2231"/>
          </a:solidFill>
          <a:ln w="12700">
            <a:solidFill>
              <a:srgbClr val="232E42"/>
            </a:solidFill>
            <a:prstDash val="solid"/>
          </a:ln>
        </p:spPr>
      </p:sp>
      <p:sp>
        <p:nvSpPr>
          <p:cNvPr id="11" name="Text 8"/>
          <p:cNvSpPr txBox="1"/>
          <p:nvPr/>
        </p:nvSpPr>
        <p:spPr>
          <a:xfrm>
            <a:off x="6446520" y="1847088"/>
            <a:ext cx="4782312" cy="292608"/>
          </a:xfrm>
          <a:prstGeom prst="rect">
            <a:avLst/>
          </a:prstGeom>
          <a:noFill/>
          <a:ln/>
        </p:spPr>
        <p:txBody>
          <a:bodyPr wrap="square" lIns="0" tIns="0" rIns="0" bIns="0" rtlCol="0" anchor="ctr"/>
          <a:lstStyle/>
          <a:p>
            <a:pPr indent="0" marL="0">
              <a:buNone/>
            </a:pPr>
            <a:r>
              <a:rPr lang="en-US" sz="1500" b="1" dirty="0">
                <a:solidFill>
                  <a:srgbClr val="E8EEF7"/>
                </a:solidFill>
                <a:latin typeface="Calibri" pitchFamily="34" charset="0"/>
                <a:ea typeface="Calibri" pitchFamily="34" charset="-122"/>
                <a:cs typeface="Calibri" pitchFamily="34" charset="-120"/>
              </a:rPr>
              <a:t>Perspectives</a:t>
            </a:r>
            <a:endParaRPr lang="en-US" sz="1500" dirty="0"/>
          </a:p>
        </p:txBody>
      </p:sp>
      <p:sp>
        <p:nvSpPr>
          <p:cNvPr id="12" name="Text 9"/>
          <p:cNvSpPr txBox="1"/>
          <p:nvPr/>
        </p:nvSpPr>
        <p:spPr>
          <a:xfrm>
            <a:off x="6446520" y="2267712"/>
            <a:ext cx="4782312" cy="1645920"/>
          </a:xfrm>
          <a:prstGeom prst="rect">
            <a:avLst/>
          </a:prstGeom>
          <a:noFill/>
          <a:ln/>
        </p:spPr>
        <p:txBody>
          <a:bodyPr wrap="square" lIns="0" tIns="0" rIns="0" bIns="0" rtlCol="0" anchor="ctr"/>
          <a:lstStyle/>
          <a:p>
            <a:pPr marL="177800" indent="-177800">
              <a:lnSpc>
                <a:spcPts val="2000"/>
              </a:lnSpc>
              <a:spcAft>
                <a:spcPts val="800"/>
              </a:spcAft>
              <a:buSzPct val="100000"/>
              <a:buChar char="•"/>
            </a:pPr>
            <a:r>
              <a:rPr lang="en-US" sz="1300" dirty="0">
                <a:solidFill>
                  <a:srgbClr val="95A3B8"/>
                </a:solidFill>
                <a:latin typeface="Calibri" pitchFamily="34" charset="0"/>
                <a:ea typeface="Calibri" pitchFamily="34" charset="-122"/>
                <a:cs typeface="Calibri" pitchFamily="34" charset="-120"/>
              </a:rPr>
              <a:t>Stockage objet externe pour les médias</a:t>
            </a:r>
            <a:endParaRPr lang="en-US" sz="1300" dirty="0"/>
          </a:p>
          <a:p>
            <a:pPr marL="177800" indent="-177800">
              <a:lnSpc>
                <a:spcPts val="2000"/>
              </a:lnSpc>
              <a:spcAft>
                <a:spcPts val="800"/>
              </a:spcAft>
              <a:buSzPct val="100000"/>
              <a:buChar char="•"/>
            </a:pPr>
            <a:r>
              <a:rPr lang="en-US" sz="1300" dirty="0">
                <a:solidFill>
                  <a:srgbClr val="95A3B8"/>
                </a:solidFill>
                <a:latin typeface="Calibri" pitchFamily="34" charset="0"/>
                <a:ea typeface="Calibri" pitchFamily="34" charset="-122"/>
                <a:cs typeface="Calibri" pitchFamily="34" charset="-120"/>
              </a:rPr>
              <a:t>Historiser les scores pour évaluer la recommandation sur données réelles</a:t>
            </a:r>
            <a:endParaRPr lang="en-US" sz="1300" dirty="0"/>
          </a:p>
          <a:p>
            <a:pPr marL="177800" indent="-177800">
              <a:lnSpc>
                <a:spcPts val="2000"/>
              </a:lnSpc>
              <a:spcAft>
                <a:spcPts val="800"/>
              </a:spcAft>
              <a:buSzPct val="100000"/>
              <a:buChar char="•"/>
            </a:pPr>
            <a:r>
              <a:rPr lang="en-US" sz="1300" dirty="0">
                <a:solidFill>
                  <a:srgbClr val="95A3B8"/>
                </a:solidFill>
                <a:latin typeface="Calibri" pitchFamily="34" charset="0"/>
                <a:ea typeface="Calibri" pitchFamily="34" charset="-122"/>
                <a:cs typeface="Calibri" pitchFamily="34" charset="-120"/>
              </a:rPr>
              <a:t>Élargir le catalogue d’outils de l’assistant</a:t>
            </a:r>
            <a:endParaRPr lang="en-US" sz="1300" dirty="0"/>
          </a:p>
          <a:p>
            <a:pPr marL="177800" indent="-177800">
              <a:lnSpc>
                <a:spcPts val="2000"/>
              </a:lnSpc>
              <a:spcAft>
                <a:spcPts val="800"/>
              </a:spcAft>
              <a:buSzPct val="100000"/>
              <a:buChar char="•"/>
            </a:pPr>
            <a:r>
              <a:rPr lang="en-US" sz="1300" dirty="0">
                <a:solidFill>
                  <a:srgbClr val="95A3B8"/>
                </a:solidFill>
                <a:latin typeface="Calibri" pitchFamily="34" charset="0"/>
                <a:ea typeface="Calibri" pitchFamily="34" charset="-122"/>
                <a:cs typeface="Calibri" pitchFamily="34" charset="-120"/>
              </a:rPr>
              <a:t>Capteurs de présence, là où la validation est déclarative</a:t>
            </a:r>
            <a:endParaRPr lang="en-US" sz="1300" dirty="0"/>
          </a:p>
        </p:txBody>
      </p:sp>
      <p:sp>
        <p:nvSpPr>
          <p:cNvPr id="13" name="Shape 10"/>
          <p:cNvSpPr/>
          <p:nvPr/>
        </p:nvSpPr>
        <p:spPr>
          <a:xfrm>
            <a:off x="685800" y="4370832"/>
            <a:ext cx="10820095" cy="1234440"/>
          </a:xfrm>
          <a:prstGeom prst="roundRect">
            <a:avLst>
              <a:gd name="adj" fmla="val 5926"/>
            </a:avLst>
          </a:prstGeom>
          <a:solidFill>
            <a:srgbClr val="1B3358"/>
          </a:solidFill>
          <a:ln w="12700">
            <a:solidFill>
              <a:srgbClr val="232E42"/>
            </a:solidFill>
            <a:prstDash val="solid"/>
          </a:ln>
        </p:spPr>
      </p:sp>
      <p:sp>
        <p:nvSpPr>
          <p:cNvPr id="14" name="Text 11"/>
          <p:cNvSpPr txBox="1"/>
          <p:nvPr/>
        </p:nvSpPr>
        <p:spPr>
          <a:xfrm>
            <a:off x="1005840" y="4572000"/>
            <a:ext cx="5029200" cy="274320"/>
          </a:xfrm>
          <a:prstGeom prst="rect">
            <a:avLst/>
          </a:prstGeom>
          <a:noFill/>
          <a:ln/>
        </p:spPr>
        <p:txBody>
          <a:bodyPr wrap="square" lIns="0" tIns="0" rIns="0" bIns="0" rtlCol="0" anchor="ctr"/>
          <a:lstStyle/>
          <a:p>
            <a:pPr indent="0" marL="0">
              <a:buNone/>
            </a:pPr>
            <a:r>
              <a:rPr lang="en-US" sz="1350" b="1" dirty="0">
                <a:solidFill>
                  <a:srgbClr val="5B9BFF"/>
                </a:solidFill>
                <a:latin typeface="Calibri" pitchFamily="34" charset="0"/>
                <a:ea typeface="Calibri" pitchFamily="34" charset="-122"/>
                <a:cs typeface="Calibri" pitchFamily="34" charset="-120"/>
              </a:rPr>
              <a:t>Le principe qui résume notre travail</a:t>
            </a:r>
            <a:endParaRPr lang="en-US" sz="1350" dirty="0"/>
          </a:p>
        </p:txBody>
      </p:sp>
      <p:sp>
        <p:nvSpPr>
          <p:cNvPr id="15" name="Text 12"/>
          <p:cNvSpPr txBox="1"/>
          <p:nvPr/>
        </p:nvSpPr>
        <p:spPr>
          <a:xfrm>
            <a:off x="1005840" y="4919472"/>
            <a:ext cx="10180015" cy="594360"/>
          </a:xfrm>
          <a:prstGeom prst="rect">
            <a:avLst/>
          </a:prstGeom>
          <a:noFill/>
          <a:ln/>
        </p:spPr>
        <p:txBody>
          <a:bodyPr wrap="square" lIns="0" tIns="0" rIns="0" bIns="0" rtlCol="0" anchor="ctr"/>
          <a:lstStyle/>
          <a:p>
            <a:pPr indent="0" marL="0">
              <a:lnSpc>
                <a:spcPts val="1900"/>
              </a:lnSpc>
              <a:buNone/>
            </a:pPr>
            <a:r>
              <a:rPr lang="en-US" sz="1300" dirty="0">
                <a:solidFill>
                  <a:srgbClr val="E8EEF7"/>
                </a:solidFill>
                <a:latin typeface="Calibri" pitchFamily="34" charset="0"/>
                <a:ea typeface="Calibri" pitchFamily="34" charset="-122"/>
                <a:cs typeface="Calibri" pitchFamily="34" charset="-120"/>
              </a:rPr>
              <a:t>Une garde qui refuse par défaut doit être branchée par défaut. La nôtre était juste — ne rien envoyer à un tiers sans masquer — et son absence de câblage a rendu tout un étage inatteignable pendant des semaines, sans autre signe qu’une ligne de journal.</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685800" y="2286000"/>
            <a:ext cx="10058400" cy="868680"/>
          </a:xfrm>
          <a:prstGeom prst="rect">
            <a:avLst/>
          </a:prstGeom>
          <a:noFill/>
          <a:ln/>
        </p:spPr>
        <p:txBody>
          <a:bodyPr wrap="square" lIns="0" tIns="0" rIns="0" bIns="0" rtlCol="0" anchor="ctr"/>
          <a:lstStyle/>
          <a:p>
            <a:pPr indent="0" marL="0">
              <a:buNone/>
            </a:pPr>
            <a:r>
              <a:rPr lang="en-US" sz="4400" b="1" dirty="0">
                <a:solidFill>
                  <a:srgbClr val="E8EEF7"/>
                </a:solidFill>
                <a:latin typeface="Calibri" pitchFamily="34" charset="0"/>
                <a:ea typeface="Calibri" pitchFamily="34" charset="-122"/>
                <a:cs typeface="Calibri" pitchFamily="34" charset="-120"/>
              </a:rPr>
              <a:t>Merci de votre attention</a:t>
            </a:r>
            <a:endParaRPr lang="en-US" sz="4400" dirty="0"/>
          </a:p>
        </p:txBody>
      </p:sp>
      <p:sp>
        <p:nvSpPr>
          <p:cNvPr id="3" name="Text 1"/>
          <p:cNvSpPr txBox="1"/>
          <p:nvPr/>
        </p:nvSpPr>
        <p:spPr>
          <a:xfrm>
            <a:off x="685800" y="3200400"/>
            <a:ext cx="8229600" cy="411480"/>
          </a:xfrm>
          <a:prstGeom prst="rect">
            <a:avLst/>
          </a:prstGeom>
          <a:noFill/>
          <a:ln/>
        </p:spPr>
        <p:txBody>
          <a:bodyPr wrap="square" lIns="0" tIns="0" rIns="0" bIns="0" rtlCol="0" anchor="ctr"/>
          <a:lstStyle/>
          <a:p>
            <a:pPr indent="0" marL="0">
              <a:buNone/>
            </a:pPr>
            <a:r>
              <a:rPr lang="en-US" sz="1700" dirty="0">
                <a:solidFill>
                  <a:srgbClr val="95A3B8"/>
                </a:solidFill>
                <a:latin typeface="Calibri" pitchFamily="34" charset="0"/>
                <a:ea typeface="Calibri" pitchFamily="34" charset="-122"/>
                <a:cs typeface="Calibri" pitchFamily="34" charset="-120"/>
              </a:rPr>
              <a:t>Nous répondons à vos questions.</a:t>
            </a:r>
            <a:endParaRPr lang="en-US" sz="1700" dirty="0"/>
          </a:p>
        </p:txBody>
      </p:sp>
      <p:sp>
        <p:nvSpPr>
          <p:cNvPr id="4" name="Text 2"/>
          <p:cNvSpPr txBox="1"/>
          <p:nvPr/>
        </p:nvSpPr>
        <p:spPr>
          <a:xfrm>
            <a:off x="685800" y="4160520"/>
            <a:ext cx="2377440" cy="274320"/>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Application</a:t>
            </a:r>
            <a:endParaRPr lang="en-US" sz="1250" dirty="0"/>
          </a:p>
        </p:txBody>
      </p:sp>
      <p:sp>
        <p:nvSpPr>
          <p:cNvPr id="5" name="Text 3"/>
          <p:cNvSpPr txBox="1"/>
          <p:nvPr/>
        </p:nvSpPr>
        <p:spPr>
          <a:xfrm>
            <a:off x="3154680" y="4160520"/>
            <a:ext cx="6858000" cy="274320"/>
          </a:xfrm>
          <a:prstGeom prst="rect">
            <a:avLst/>
          </a:prstGeom>
          <a:noFill/>
          <a:ln/>
        </p:spPr>
        <p:txBody>
          <a:bodyPr wrap="square" lIns="0" tIns="0" rIns="0" bIns="0" rtlCol="0" anchor="ctr"/>
          <a:lstStyle/>
          <a:p>
            <a:pPr indent="0" marL="0">
              <a:buNone/>
            </a:pPr>
            <a:r>
              <a:rPr lang="en-US" sz="1250" dirty="0">
                <a:solidFill>
                  <a:srgbClr val="5B9BFF"/>
                </a:solidFill>
                <a:latin typeface="Courier New" pitchFamily="34" charset="0"/>
                <a:ea typeface="Courier New" pitchFamily="34" charset="-122"/>
                <a:cs typeface="Courier New" pitchFamily="34" charset="-120"/>
              </a:rPr>
              <a:t>smartroommanager.vercel.app</a:t>
            </a:r>
            <a:endParaRPr lang="en-US" sz="1250" dirty="0"/>
          </a:p>
        </p:txBody>
      </p:sp>
      <p:sp>
        <p:nvSpPr>
          <p:cNvPr id="6" name="Text 4"/>
          <p:cNvSpPr txBox="1"/>
          <p:nvPr/>
        </p:nvSpPr>
        <p:spPr>
          <a:xfrm>
            <a:off x="685800" y="4663440"/>
            <a:ext cx="2377440" cy="274320"/>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Dépôt</a:t>
            </a:r>
            <a:endParaRPr lang="en-US" sz="1250" dirty="0"/>
          </a:p>
        </p:txBody>
      </p:sp>
      <p:sp>
        <p:nvSpPr>
          <p:cNvPr id="7" name="Text 5"/>
          <p:cNvSpPr txBox="1"/>
          <p:nvPr/>
        </p:nvSpPr>
        <p:spPr>
          <a:xfrm>
            <a:off x="3154680" y="4663440"/>
            <a:ext cx="6858000" cy="274320"/>
          </a:xfrm>
          <a:prstGeom prst="rect">
            <a:avLst/>
          </a:prstGeom>
          <a:noFill/>
          <a:ln/>
        </p:spPr>
        <p:txBody>
          <a:bodyPr wrap="square" lIns="0" tIns="0" rIns="0" bIns="0" rtlCol="0" anchor="ctr"/>
          <a:lstStyle/>
          <a:p>
            <a:pPr indent="0" marL="0">
              <a:buNone/>
            </a:pPr>
            <a:r>
              <a:rPr lang="en-US" sz="1250" dirty="0">
                <a:solidFill>
                  <a:srgbClr val="5B9BFF"/>
                </a:solidFill>
                <a:latin typeface="Courier New" pitchFamily="34" charset="0"/>
                <a:ea typeface="Courier New" pitchFamily="34" charset="-122"/>
                <a:cs typeface="Courier New" pitchFamily="34" charset="-120"/>
              </a:rPr>
              <a:t>github.com/DD542/SmartRoomManager</a:t>
            </a:r>
            <a:endParaRPr lang="en-US" sz="1250" dirty="0"/>
          </a:p>
        </p:txBody>
      </p:sp>
      <p:sp>
        <p:nvSpPr>
          <p:cNvPr id="8" name="Text 6"/>
          <p:cNvSpPr txBox="1"/>
          <p:nvPr/>
        </p:nvSpPr>
        <p:spPr>
          <a:xfrm>
            <a:off x="685800" y="5166360"/>
            <a:ext cx="2377440" cy="274320"/>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Documentation de l’API</a:t>
            </a:r>
            <a:endParaRPr lang="en-US" sz="1250" dirty="0"/>
          </a:p>
        </p:txBody>
      </p:sp>
      <p:sp>
        <p:nvSpPr>
          <p:cNvPr id="9" name="Text 7"/>
          <p:cNvSpPr txBox="1"/>
          <p:nvPr/>
        </p:nvSpPr>
        <p:spPr>
          <a:xfrm>
            <a:off x="3154680" y="5166360"/>
            <a:ext cx="6858000" cy="274320"/>
          </a:xfrm>
          <a:prstGeom prst="rect">
            <a:avLst/>
          </a:prstGeom>
          <a:noFill/>
          <a:ln/>
        </p:spPr>
        <p:txBody>
          <a:bodyPr wrap="square" lIns="0" tIns="0" rIns="0" bIns="0" rtlCol="0" anchor="ctr"/>
          <a:lstStyle/>
          <a:p>
            <a:pPr indent="0" marL="0">
              <a:buNone/>
            </a:pPr>
            <a:r>
              <a:rPr lang="en-US" sz="1250" dirty="0">
                <a:solidFill>
                  <a:srgbClr val="5B9BFF"/>
                </a:solidFill>
                <a:latin typeface="Courier New" pitchFamily="34" charset="0"/>
                <a:ea typeface="Courier New" pitchFamily="34" charset="-122"/>
                <a:cs typeface="Courier New" pitchFamily="34" charset="-120"/>
              </a:rPr>
              <a:t>smartroom-api-ryya.onrender.com/docs</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2026-09-08T21:59:30Z</dcterms:created>
  <dcterms:modified xsi:type="dcterms:W3CDTF">2026-09-08T21:59:30Z</dcterms:modified>
</cp:coreProperties>
</file>